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Energy high rakho. Hook: 'Agar aap roz wahi kaam baar baar karte ho — yeh video aapki zindagi badal sakti hai.' Course ka promise batao: 42 lessons, bilkul zero 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 point per 1 line bolo, detail nahi — expectations set karo. 'End tak aapko pata hoga automation kya hai aur kyun n8n.'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Foodpanda analogy Roman Urdu mein sunao — sab relate karenge. Phir business examples do: order confirmations, invoices, follow-up emails.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Yahan personal story ya local business example do — e.g., ek dukaandar jo raat ko manually orders likhta hai.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 left se right walk-through karo. Bolo: 'Aage har cheez isi pattern per banegi — sirf trigger aur steps badalte hain.'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Stats per zor do — yeh koi chota tool nahi hai. NVIDIA/Sequoia backing mention kar sakte ho. 'Yeh skill 2026 mein seekhne layak hai' ka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 raho — Zapier ko bura mat bolo, warna credibility jati hai. Sirf yeh dikhado ke hamare use-case (AI + freelancing + zero budget) ke liye n8n best hai.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Pakistan/local context do: dollar rates ka matlab yahan kya hai. Realistic raho — 'pehle skill, phir income. Shortcuts nahi.'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Excitement build karo — 'yeh sab hum is course mein banayenge, scratch se.' Har card ek real lesson/project se linked hai.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jaldi cover karo — 30 seconds. Message: 'structured hai, random videos nahi.' Yehi hamara differentiator hai.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Barriers todo — 'coding nahi aati? Perfect, yeh course aapke liye hi hai.' Yeh moment beginners ko rok leta hai ya bhaga deta hai.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Yeh engagement hack bhi hai — comments = algorithm boost. Seriously promise karo ke best ideas live automate karoge.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 takeaway ek line mein repeat karo. Retention ke liye yeh slide zaroori hai — skip mat karna.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Clear CTA - ek hi baar bolo. Socials screen per hain, verbally sirf GitHub + subscribe bolo.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solidFill>
            <a:srgbClr val="EA4B71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4937760" cy="4937760"/>
          </a:xfrm>
          <a:prstGeom prst="ellipse">
            <a:avLst/>
          </a:prstGeom>
          <a:solidFill>
            <a:srgbClr val="8B7FD7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83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COMPLETE COURSE · ZERO TO AI AUTOMATION EXPERT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Automation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Why n8n?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 · Module 1 — Foundations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89204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2E274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8920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Friendly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63240" y="489204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2E2745"/>
          </a:solidFill>
          <a:ln/>
        </p:spPr>
      </p:sp>
      <p:sp>
        <p:nvSpPr>
          <p:cNvPr id="10" name="Text 8"/>
          <p:cNvSpPr/>
          <p:nvPr/>
        </p:nvSpPr>
        <p:spPr>
          <a:xfrm>
            <a:off x="3063240" y="48920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Hands-on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94960" y="489204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2E2745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48920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Notes on GitHub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SolutionsWithShahzain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01 · 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Learn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85232" cy="1920240"/>
          </a:xfrm>
          <a:prstGeom prst="roundRect">
            <a:avLst>
              <a:gd name="adj" fmla="val 4762"/>
            </a:avLst>
          </a:prstGeom>
          <a:solidFill>
            <a:srgbClr val="26203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67128"/>
            <a:ext cx="786384" cy="786384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420" y="2371588"/>
            <a:ext cx="377464" cy="377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9842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automation really is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146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plain-language definition with a real-life analogy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1600200"/>
            <a:ext cx="5285232" cy="1920240"/>
          </a:xfrm>
          <a:prstGeom prst="roundRect">
            <a:avLst>
              <a:gd name="adj" fmla="val 4762"/>
            </a:avLst>
          </a:prstGeom>
          <a:solidFill>
            <a:srgbClr val="262038"/>
          </a:solidFill>
          <a:ln/>
        </p:spPr>
      </p:sp>
      <p:sp>
        <p:nvSpPr>
          <p:cNvPr id="10" name="Shape 7"/>
          <p:cNvSpPr/>
          <p:nvPr/>
        </p:nvSpPr>
        <p:spPr>
          <a:xfrm>
            <a:off x="6629400" y="2167128"/>
            <a:ext cx="786384" cy="786384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3860" y="2371588"/>
            <a:ext cx="377464" cy="377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19842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Workflows, triggers &amp; actions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635240" y="25146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building blocks behind every automation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285232" cy="1920240"/>
          </a:xfrm>
          <a:prstGeom prst="roundRect">
            <a:avLst>
              <a:gd name="adj" fmla="val 4762"/>
            </a:avLst>
          </a:prstGeom>
          <a:solidFill>
            <a:srgbClr val="262038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361688"/>
            <a:ext cx="786384" cy="786384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420" y="4566148"/>
            <a:ext cx="377464" cy="377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17880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vs Zapier vs Make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47091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comparison — and why we chose n8n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355080" y="3794760"/>
            <a:ext cx="5285232" cy="1920240"/>
          </a:xfrm>
          <a:prstGeom prst="roundRect">
            <a:avLst>
              <a:gd name="adj" fmla="val 4762"/>
            </a:avLst>
          </a:prstGeom>
          <a:solidFill>
            <a:srgbClr val="262038"/>
          </a:solidFill>
          <a:ln/>
        </p:spPr>
      </p:sp>
      <p:sp>
        <p:nvSpPr>
          <p:cNvPr id="20" name="Shape 15"/>
          <p:cNvSpPr/>
          <p:nvPr/>
        </p:nvSpPr>
        <p:spPr>
          <a:xfrm>
            <a:off x="6629400" y="4361688"/>
            <a:ext cx="786384" cy="786384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3860" y="4566148"/>
            <a:ext cx="377464" cy="377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5240" y="417880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roadmap &amp; career path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635240" y="47091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modules from zero to AI automation expert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SolutionsWithShahzain · n8n Complete Course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Automation?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577840" cy="4480560"/>
          </a:xfrm>
          <a:prstGeom prst="roundRect">
            <a:avLst>
              <a:gd name="adj" fmla="val 2041"/>
            </a:avLst>
          </a:prstGeom>
          <a:solidFill>
            <a:srgbClr val="26203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“Software doing your repetitive tasks — automatically, on a trigger, without you.”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342900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define the steps once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every single time — 24/7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only step in for exceptions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time goes to work that actually needs you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46520" y="1600200"/>
            <a:ext cx="5193792" cy="4480560"/>
          </a:xfrm>
          <a:prstGeom prst="roundRect">
            <a:avLst>
              <a:gd name="adj" fmla="val 2041"/>
            </a:avLst>
          </a:prstGeom>
          <a:solidFill>
            <a:srgbClr val="2E2745"/>
          </a:solidFill>
          <a:ln/>
        </p:spPr>
      </p:sp>
      <p:sp>
        <p:nvSpPr>
          <p:cNvPr id="8" name="Shape 6"/>
          <p:cNvSpPr/>
          <p:nvPr/>
        </p:nvSpPr>
        <p:spPr>
          <a:xfrm>
            <a:off x="6720840" y="1874520"/>
            <a:ext cx="731520" cy="731520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1035" y="2064715"/>
            <a:ext cx="351130" cy="3511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589520" y="19659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Analogy: A Foodpanda Order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720840" y="288036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tap Place Order → the TRIGGER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Cooking, pickup, delivery updates → the STEPS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food at your door → the RESULT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720840" y="480060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call the restaurant, the rider, or the kitchen.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runs itself. That's automation.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SolutionsWithShahzain · n8n Complete Course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Work vs Automated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577840" cy="4114800"/>
          </a:xfrm>
          <a:prstGeom prst="roundRect">
            <a:avLst>
              <a:gd name="adj" fmla="val 2222"/>
            </a:avLst>
          </a:prstGeom>
          <a:solidFill>
            <a:srgbClr val="26203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731520" cy="731520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" y="206471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659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83464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lost every single week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errors creep in when tired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scale beyond your own hands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Boring work drains your energy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46520" y="1600200"/>
            <a:ext cx="5193792" cy="4114800"/>
          </a:xfrm>
          <a:prstGeom prst="roundRect">
            <a:avLst>
              <a:gd name="adj" fmla="val 2222"/>
            </a:avLst>
          </a:prstGeom>
          <a:solidFill>
            <a:srgbClr val="262038"/>
          </a:solidFill>
          <a:ln/>
        </p:spPr>
      </p:sp>
      <p:sp>
        <p:nvSpPr>
          <p:cNvPr id="10" name="Shape 7"/>
          <p:cNvSpPr/>
          <p:nvPr/>
        </p:nvSpPr>
        <p:spPr>
          <a:xfrm>
            <a:off x="6720840" y="1874520"/>
            <a:ext cx="731520" cy="731520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035" y="206471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89520" y="19659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with n8n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766560" y="283464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24/7 — nights, weekends, Eid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steps, zero mistakes, every time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10 items or 10,000 the same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focus on growth, not grunt work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pay real money for exactly this difference.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48640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SolutionsWithShahzain · n8n Complete Course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 Workflow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2331720" cy="1417320"/>
          </a:xfrm>
          <a:prstGeom prst="roundRect">
            <a:avLst>
              <a:gd name="adj" fmla="val 7742"/>
            </a:avLst>
          </a:prstGeom>
          <a:solidFill>
            <a:srgbClr val="262038"/>
          </a:solidFill>
          <a:ln w="19050">
            <a:solidFill>
              <a:srgbClr val="EA4B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69748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order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17520" y="3200400"/>
            <a:ext cx="548640" cy="411480"/>
          </a:xfrm>
          <a:prstGeom prst="rightArrow">
            <a:avLst/>
          </a:prstGeom>
          <a:solidFill>
            <a:srgbClr val="2E2745"/>
          </a:solidFill>
          <a:ln/>
        </p:spPr>
      </p:sp>
      <p:sp>
        <p:nvSpPr>
          <p:cNvPr id="8" name="Text 6"/>
          <p:cNvSpPr/>
          <p:nvPr/>
        </p:nvSpPr>
        <p:spPr>
          <a:xfrm>
            <a:off x="3611880" y="2331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B7F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11880" y="2697480"/>
            <a:ext cx="2331720" cy="1417320"/>
          </a:xfrm>
          <a:prstGeom prst="roundRect">
            <a:avLst>
              <a:gd name="adj" fmla="val 7742"/>
            </a:avLst>
          </a:prstGeom>
          <a:solidFill>
            <a:srgbClr val="262038"/>
          </a:solidFill>
          <a:ln w="19050">
            <a:solidFill>
              <a:srgbClr val="8B7F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269748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89320" y="3200400"/>
            <a:ext cx="548640" cy="411480"/>
          </a:xfrm>
          <a:prstGeom prst="rightArrow">
            <a:avLst/>
          </a:prstGeom>
          <a:solidFill>
            <a:srgbClr val="2E2745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331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B7F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0" y="2697480"/>
            <a:ext cx="2331720" cy="1417320"/>
          </a:xfrm>
          <a:prstGeom prst="roundRect">
            <a:avLst>
              <a:gd name="adj" fmla="val 7742"/>
            </a:avLst>
          </a:prstGeom>
          <a:solidFill>
            <a:srgbClr val="262038"/>
          </a:solidFill>
          <a:ln w="19050">
            <a:solidFill>
              <a:srgbClr val="8B7F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69748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961120" y="3200400"/>
            <a:ext cx="548640" cy="411480"/>
          </a:xfrm>
          <a:prstGeom prst="rightArrow">
            <a:avLst/>
          </a:prstGeom>
          <a:solidFill>
            <a:srgbClr val="2E2745"/>
          </a:solidFill>
          <a:ln/>
        </p:spPr>
      </p:sp>
      <p:sp>
        <p:nvSpPr>
          <p:cNvPr id="16" name="Text 14"/>
          <p:cNvSpPr/>
          <p:nvPr/>
        </p:nvSpPr>
        <p:spPr>
          <a:xfrm>
            <a:off x="9555480" y="2331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555480" y="2697480"/>
            <a:ext cx="2331720" cy="1417320"/>
          </a:xfrm>
          <a:prstGeom prst="roundRect">
            <a:avLst>
              <a:gd name="adj" fmla="val 7742"/>
            </a:avLst>
          </a:prstGeom>
          <a:solidFill>
            <a:srgbClr val="262038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55480" y="269748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customer,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work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194560" y="4709160"/>
            <a:ext cx="7772400" cy="868680"/>
          </a:xfrm>
          <a:prstGeom prst="roundRect">
            <a:avLst>
              <a:gd name="adj" fmla="val 10526"/>
            </a:avLst>
          </a:prstGeom>
          <a:solidFill>
            <a:srgbClr val="2E2745"/>
          </a:solidFill>
          <a:ln/>
        </p:spPr>
      </p:sp>
      <p:sp>
        <p:nvSpPr>
          <p:cNvPr id="20" name="Text 18"/>
          <p:cNvSpPr/>
          <p:nvPr/>
        </p:nvSpPr>
        <p:spPr>
          <a:xfrm>
            <a:off x="2194560" y="47091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automation = </a:t>
            </a:r>
            <a:pPr algn="ctr" indent="0" marL="0">
              <a:buNone/>
            </a:pPr>
            <a:r>
              <a:rPr lang="en-US" sz="1700" b="1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trigger + a series of actions.</a:t>
            </a:r>
            <a:pPr algn="ctr" indent="0" marL="0">
              <a:buNone/>
            </a:pPr>
            <a:r>
              <a:rPr lang="en-US" sz="1700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That's it.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48640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SolutionsWithShahzain · n8n Complete Course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n8n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766560" cy="4480560"/>
          </a:xfrm>
          <a:prstGeom prst="roundRect">
            <a:avLst>
              <a:gd name="adj" fmla="val 2041"/>
            </a:avLst>
          </a:prstGeom>
          <a:solidFill>
            <a:srgbClr val="26203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7F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automation Swiss Army knife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6126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canvas — drag, drop, connect nodes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1,200+ app integrations out of the box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— Agents, RAG &amp; MCP built in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— self-host completely free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when you need it (JavaScript &amp; Python)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35240" y="1600200"/>
            <a:ext cx="4005072" cy="1371600"/>
          </a:xfrm>
          <a:prstGeom prst="roundRect">
            <a:avLst>
              <a:gd name="adj" fmla="val 6667"/>
            </a:avLst>
          </a:prstGeom>
          <a:solidFill>
            <a:srgbClr val="2E2745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0" y="176479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$2.5B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863840" y="2423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valuation (2026)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35240" y="3154680"/>
            <a:ext cx="4005072" cy="1371600"/>
          </a:xfrm>
          <a:prstGeom prst="roundRect">
            <a:avLst>
              <a:gd name="adj" fmla="val 6667"/>
            </a:avLst>
          </a:prstGeom>
          <a:solidFill>
            <a:srgbClr val="2E2745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0" y="331927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230K+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863840" y="3977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users worldwide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35240" y="4709160"/>
            <a:ext cx="4005072" cy="1371600"/>
          </a:xfrm>
          <a:prstGeom prst="roundRect">
            <a:avLst>
              <a:gd name="adj" fmla="val 6667"/>
            </a:avLst>
          </a:prstGeom>
          <a:solidFill>
            <a:srgbClr val="2E2745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0" y="487375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150K+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863840" y="5532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stars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SolutionsWithShahzain · n8n Complete Course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vs Zapier vs Make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566160"/>
                <a:gridCol w="2743200"/>
                <a:gridCol w="27432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A4B7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n8n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F2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Zapier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F2F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Make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7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2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F2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&amp; unlimited (self-hosted)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79D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task — costly at scale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79D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credit (since 2025)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2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F2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full control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79D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79D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2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capabilities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F2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AI Agents, RAG, MCP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79D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&amp; MCP — usage-priced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79D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Agents (beta) + MCP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2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F2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JavaScript &amp; Python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79D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steps, with limits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79D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Metered — 2 credits/sec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2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F2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+ complex automations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79D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simple zaps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79D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mid-level flows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15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03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now have AI agents — the difference: n8n gives them to you unlimited, self-hosted, free. (Verified July 2026)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SolutionsWithShahzain · n8n Complete Course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Learn n8n in 2026?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26203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57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$40–65/hr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n8n freelance rate (US market)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70832" y="173736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262038"/>
          </a:solidFill>
          <a:ln/>
        </p:spPr>
      </p:sp>
      <p:sp>
        <p:nvSpPr>
          <p:cNvPr id="8" name="Text 6"/>
          <p:cNvSpPr/>
          <p:nvPr/>
        </p:nvSpPr>
        <p:spPr>
          <a:xfrm>
            <a:off x="4645152" y="2057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800+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645152" y="29718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n8n jobs on Upwork alone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93024" y="173736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262038"/>
          </a:solidFill>
          <a:ln/>
        </p:spPr>
      </p:sp>
      <p:sp>
        <p:nvSpPr>
          <p:cNvPr id="11" name="Text 9"/>
          <p:cNvSpPr/>
          <p:nvPr/>
        </p:nvSpPr>
        <p:spPr>
          <a:xfrm>
            <a:off x="8467344" y="2057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B7F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174+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467344" y="29718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n8n jobs listed on Glassdoor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2E2745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4348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business has repetitive work. Very few people can automate it.
</a:t>
            </a:r>
            <a:pPr algn="ctr" indent="0" marL="0">
              <a:buNone/>
            </a:pPr>
            <a:r>
              <a:rPr lang="en-US" sz="1800" b="1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about to become one of them.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SolutionsWithShahzain · n8n Complete Course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PROJECTS FROM THIS COURSE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Be Able to Build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262038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01952"/>
            <a:ext cx="658368" cy="658368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848" y="2073128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517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AI bots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309067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Auto-reply, book orders, answer FAQs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70832" y="164592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262038"/>
          </a:solidFill>
          <a:ln/>
        </p:spPr>
      </p:sp>
      <p:sp>
        <p:nvSpPr>
          <p:cNvPr id="10" name="Shape 7"/>
          <p:cNvSpPr/>
          <p:nvPr/>
        </p:nvSpPr>
        <p:spPr>
          <a:xfrm>
            <a:off x="4626864" y="1901952"/>
            <a:ext cx="658368" cy="658368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040" y="2073128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26864" y="26517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capture pipelines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26864" y="309067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→ CRM → instant follow-up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93024" y="164592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262038"/>
          </a:solidFill>
          <a:ln/>
        </p:spPr>
      </p:sp>
      <p:sp>
        <p:nvSpPr>
          <p:cNvPr id="15" name="Shape 11"/>
          <p:cNvSpPr/>
          <p:nvPr/>
        </p:nvSpPr>
        <p:spPr>
          <a:xfrm>
            <a:off x="8449056" y="1901952"/>
            <a:ext cx="658368" cy="658368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0232" y="2073128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6517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&amp; report automation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49056" y="309067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that create themselves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8404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262038"/>
          </a:solidFill>
          <a:ln/>
        </p:spPr>
      </p:sp>
      <p:sp>
        <p:nvSpPr>
          <p:cNvPr id="20" name="Shape 15"/>
          <p:cNvSpPr/>
          <p:nvPr/>
        </p:nvSpPr>
        <p:spPr>
          <a:xfrm>
            <a:off x="804672" y="4096512"/>
            <a:ext cx="658368" cy="658368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848" y="4267688"/>
            <a:ext cx="316017" cy="31601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8463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auto-posting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04672" y="52852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post → every platform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70832" y="38404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262038"/>
          </a:solidFill>
          <a:ln/>
        </p:spPr>
      </p:sp>
      <p:sp>
        <p:nvSpPr>
          <p:cNvPr id="25" name="Shape 19"/>
          <p:cNvSpPr/>
          <p:nvPr/>
        </p:nvSpPr>
        <p:spPr>
          <a:xfrm>
            <a:off x="4626864" y="4096512"/>
            <a:ext cx="658368" cy="658368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8040" y="4267688"/>
            <a:ext cx="316017" cy="31601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26864" y="48463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customer support agents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626864" y="52852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RAG-powered, knows your business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93024" y="38404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262038"/>
          </a:solidFill>
          <a:ln/>
        </p:spPr>
      </p:sp>
      <p:sp>
        <p:nvSpPr>
          <p:cNvPr id="30" name="Shape 23"/>
          <p:cNvSpPr/>
          <p:nvPr/>
        </p:nvSpPr>
        <p:spPr>
          <a:xfrm>
            <a:off x="8449056" y="4096512"/>
            <a:ext cx="658368" cy="658368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0232" y="4267688"/>
            <a:ext cx="316017" cy="31601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49056" y="48463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business dashboards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449056" y="52852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in your inbox every morning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48640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SolutionsWithShahzain · n8n Complete Course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6-Module Journey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62038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20240"/>
            <a:ext cx="566928" cy="566928"/>
          </a:xfrm>
          <a:prstGeom prst="ellipse">
            <a:avLst/>
          </a:prstGeom>
          <a:solidFill>
            <a:srgbClr val="EA4B7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" y="2606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— Foundations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2999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your first workflow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0832" y="164592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62038"/>
          </a:solidFill>
          <a:ln/>
        </p:spPr>
      </p:sp>
      <p:sp>
        <p:nvSpPr>
          <p:cNvPr id="10" name="Shape 8"/>
          <p:cNvSpPr/>
          <p:nvPr/>
        </p:nvSpPr>
        <p:spPr>
          <a:xfrm>
            <a:off x="4626864" y="1920240"/>
            <a:ext cx="566928" cy="566928"/>
          </a:xfrm>
          <a:prstGeom prst="ellipse">
            <a:avLst/>
          </a:prstGeom>
          <a:solidFill>
            <a:srgbClr val="8B7FD7"/>
          </a:solidFill>
          <a:ln/>
        </p:spPr>
      </p:sp>
      <p:sp>
        <p:nvSpPr>
          <p:cNvPr id="11" name="Text 9"/>
          <p:cNvSpPr/>
          <p:nvPr/>
        </p:nvSpPr>
        <p:spPr>
          <a:xfrm>
            <a:off x="4626864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26864" y="2606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— Data Mastery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26864" y="2999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Expressions, logic &amp; debugging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93024" y="164592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62038"/>
          </a:solidFill>
          <a:ln/>
        </p:spPr>
      </p:sp>
      <p:sp>
        <p:nvSpPr>
          <p:cNvPr id="15" name="Shape 13"/>
          <p:cNvSpPr/>
          <p:nvPr/>
        </p:nvSpPr>
        <p:spPr>
          <a:xfrm>
            <a:off x="8449056" y="1920240"/>
            <a:ext cx="566928" cy="5669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8449056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49056" y="2606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— APIs &amp; Webhooks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49056" y="2999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anything to anything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62038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" y="3977640"/>
            <a:ext cx="566928" cy="566928"/>
          </a:xfrm>
          <a:prstGeom prst="ellipse">
            <a:avLst/>
          </a:prstGeom>
          <a:solidFill>
            <a:srgbClr val="EA4B71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04672" y="4663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— Business Integrations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4672" y="50566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client-grade workflows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70832" y="370332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62038"/>
          </a:solidFill>
          <a:ln/>
        </p:spPr>
      </p:sp>
      <p:sp>
        <p:nvSpPr>
          <p:cNvPr id="25" name="Shape 23"/>
          <p:cNvSpPr/>
          <p:nvPr/>
        </p:nvSpPr>
        <p:spPr>
          <a:xfrm>
            <a:off x="4626864" y="3977640"/>
            <a:ext cx="566928" cy="566928"/>
          </a:xfrm>
          <a:prstGeom prst="ellipse">
            <a:avLst/>
          </a:prstGeom>
          <a:solidFill>
            <a:srgbClr val="8B7FD7"/>
          </a:solidFill>
          <a:ln/>
        </p:spPr>
      </p:sp>
      <p:sp>
        <p:nvSpPr>
          <p:cNvPr id="26" name="Text 24"/>
          <p:cNvSpPr/>
          <p:nvPr/>
        </p:nvSpPr>
        <p:spPr>
          <a:xfrm>
            <a:off x="4626864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626864" y="4663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— AI Agents, RAG &amp; MCP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26864" y="50566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superpower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93024" y="370332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262038"/>
          </a:solidFill>
          <a:ln/>
        </p:spPr>
      </p:sp>
      <p:sp>
        <p:nvSpPr>
          <p:cNvPr id="30" name="Shape 28"/>
          <p:cNvSpPr/>
          <p:nvPr/>
        </p:nvSpPr>
        <p:spPr>
          <a:xfrm>
            <a:off x="8449056" y="3977640"/>
            <a:ext cx="566928" cy="5669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1" name="Text 29"/>
          <p:cNvSpPr/>
          <p:nvPr/>
        </p:nvSpPr>
        <p:spPr>
          <a:xfrm>
            <a:off x="8449056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49056" y="4663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— Production &amp; Freelancing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49056" y="50566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clients &amp; income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lessons · 3 mini projects · 1 capstone: a complete AI business automation system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8640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SolutionsWithShahzain · n8n Complete Course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PREREQUISITES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Need (Spoiler: Not Much)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85232" cy="1920240"/>
          </a:xfrm>
          <a:prstGeom prst="roundRect">
            <a:avLst>
              <a:gd name="adj" fmla="val 4762"/>
            </a:avLst>
          </a:prstGeom>
          <a:solidFill>
            <a:srgbClr val="26203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12848"/>
            <a:ext cx="786384" cy="786384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420" y="2417308"/>
            <a:ext cx="377464" cy="377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0574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laptop + a browser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7860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GB RAM is plenty — n8n Cloud runs in the browser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1645920"/>
            <a:ext cx="5285232" cy="1920240"/>
          </a:xfrm>
          <a:prstGeom prst="roundRect">
            <a:avLst>
              <a:gd name="adj" fmla="val 4762"/>
            </a:avLst>
          </a:prstGeom>
          <a:solidFill>
            <a:srgbClr val="262038"/>
          </a:solidFill>
          <a:ln/>
        </p:spPr>
      </p:sp>
      <p:sp>
        <p:nvSpPr>
          <p:cNvPr id="10" name="Shape 7"/>
          <p:cNvSpPr/>
          <p:nvPr/>
        </p:nvSpPr>
        <p:spPr>
          <a:xfrm>
            <a:off x="6629400" y="2212848"/>
            <a:ext cx="786384" cy="786384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3860" y="2417308"/>
            <a:ext cx="377464" cy="377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20574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Cloud free trial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635240" y="257860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set it up together in Lesson 2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5285232" cy="1920240"/>
          </a:xfrm>
          <a:prstGeom prst="roundRect">
            <a:avLst>
              <a:gd name="adj" fmla="val 4762"/>
            </a:avLst>
          </a:prstGeom>
          <a:solidFill>
            <a:srgbClr val="262038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315968"/>
            <a:ext cx="786384" cy="786384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420" y="4520428"/>
            <a:ext cx="377464" cy="377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1605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coding background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468172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explained from absolute scratch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355080" y="3749040"/>
            <a:ext cx="5285232" cy="1920240"/>
          </a:xfrm>
          <a:prstGeom prst="roundRect">
            <a:avLst>
              <a:gd name="adj" fmla="val 4762"/>
            </a:avLst>
          </a:prstGeom>
          <a:solidFill>
            <a:srgbClr val="262038"/>
          </a:solidFill>
          <a:ln/>
        </p:spPr>
      </p:sp>
      <p:sp>
        <p:nvSpPr>
          <p:cNvPr id="20" name="Shape 15"/>
          <p:cNvSpPr/>
          <p:nvPr/>
        </p:nvSpPr>
        <p:spPr>
          <a:xfrm>
            <a:off x="6629400" y="4315968"/>
            <a:ext cx="786384" cy="786384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3860" y="4520428"/>
            <a:ext cx="377464" cy="377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5240" y="41605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minutes a day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635240" y="468172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beats intensity — every time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config — Cloud: any PC, 4 GB RAM · Self-hosting (Module 6): 2 cores, 4 GB RAM, 20 GB SSD. (Verified July 2026)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8640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SolutionsWithShahzain · n8n Complete Course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First Assignment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2E2745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47088"/>
            <a:ext cx="786384" cy="786384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140" y="2051548"/>
            <a:ext cx="377464" cy="377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645920"/>
            <a:ext cx="9418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3 repetitive tasks — in your work, your studies, or any business around you.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320040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262038"/>
          </a:solidFill>
          <a:ln/>
        </p:spPr>
      </p:sp>
      <p:sp>
        <p:nvSpPr>
          <p:cNvPr id="9" name="Shape 6"/>
          <p:cNvSpPr/>
          <p:nvPr/>
        </p:nvSpPr>
        <p:spPr>
          <a:xfrm>
            <a:off x="804672" y="3456432"/>
            <a:ext cx="548640" cy="548640"/>
          </a:xfrm>
          <a:prstGeom prst="ellipse">
            <a:avLst/>
          </a:prstGeom>
          <a:solidFill>
            <a:srgbClr val="EA4B71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3456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04672" y="41330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starts the task?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04672" y="4572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trigger — a message, an order, a date?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70832" y="320040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262038"/>
          </a:solidFill>
          <a:ln/>
        </p:spPr>
      </p:sp>
      <p:sp>
        <p:nvSpPr>
          <p:cNvPr id="14" name="Shape 11"/>
          <p:cNvSpPr/>
          <p:nvPr/>
        </p:nvSpPr>
        <p:spPr>
          <a:xfrm>
            <a:off x="4626864" y="3456432"/>
            <a:ext cx="548640" cy="548640"/>
          </a:xfrm>
          <a:prstGeom prst="ellipse">
            <a:avLst/>
          </a:prstGeom>
          <a:solidFill>
            <a:srgbClr val="EA4B71"/>
          </a:solidFill>
          <a:ln/>
        </p:spPr>
      </p:sp>
      <p:sp>
        <p:nvSpPr>
          <p:cNvPr id="15" name="Text 12"/>
          <p:cNvSpPr/>
          <p:nvPr/>
        </p:nvSpPr>
        <p:spPr>
          <a:xfrm>
            <a:off x="4626864" y="3456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626864" y="41330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the exact steps?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626864" y="4572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them in order, like a recipe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193024" y="320040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262038"/>
          </a:solidFill>
          <a:ln/>
        </p:spPr>
      </p:sp>
      <p:sp>
        <p:nvSpPr>
          <p:cNvPr id="19" name="Shape 16"/>
          <p:cNvSpPr/>
          <p:nvPr/>
        </p:nvSpPr>
        <p:spPr>
          <a:xfrm>
            <a:off x="8449056" y="3456432"/>
            <a:ext cx="548640" cy="548640"/>
          </a:xfrm>
          <a:prstGeom prst="ellipse">
            <a:avLst/>
          </a:prstGeom>
          <a:solidFill>
            <a:srgbClr val="EA4B71"/>
          </a:solidFill>
          <a:ln/>
        </p:spPr>
      </p:sp>
      <p:sp>
        <p:nvSpPr>
          <p:cNvPr id="20" name="Text 17"/>
          <p:cNvSpPr/>
          <p:nvPr/>
        </p:nvSpPr>
        <p:spPr>
          <a:xfrm>
            <a:off x="8449056" y="3456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449056" y="41330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time does it eat weekly?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449056" y="4572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number = the value of automating it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48640" y="5577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your best one in the comments — we might automate it live in this course.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48640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SolutionsWithShahzain · n8n Complete Course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26203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47088"/>
            <a:ext cx="548640" cy="548640"/>
          </a:xfrm>
          <a:prstGeom prst="ellipse">
            <a:avLst/>
          </a:prstGeom>
          <a:solidFill>
            <a:srgbClr val="EA4B7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47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45920" y="169164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= a trigger + steps, running without you, 24/7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262038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898648"/>
            <a:ext cx="548640" cy="548640"/>
          </a:xfrm>
          <a:prstGeom prst="ellipse">
            <a:avLst/>
          </a:prstGeom>
          <a:solidFill>
            <a:srgbClr val="8B7FD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98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45920" y="27432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n8n: open-source, AI-native, free to self-host — built for 2026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262038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3950208"/>
            <a:ext cx="548640" cy="548640"/>
          </a:xfrm>
          <a:prstGeom prst="ellipse">
            <a:avLst/>
          </a:prstGeom>
          <a:solidFill>
            <a:srgbClr val="EA4B71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950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45920" y="379476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career path: freelancing, automation services, AI agents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262038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5001768"/>
            <a:ext cx="548640" cy="548640"/>
          </a:xfrm>
          <a:prstGeom prst="ellipse">
            <a:avLst/>
          </a:prstGeom>
          <a:solidFill>
            <a:srgbClr val="8B7FD7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001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45920" y="48463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course: 42 structured lessons, zero to AI automation expert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SolutionsWithShahzain · n8n Complete Course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206240"/>
            <a:ext cx="4572000" cy="4572000"/>
          </a:xfrm>
          <a:prstGeom prst="ellipse">
            <a:avLst/>
          </a:prstGeom>
          <a:solidFill>
            <a:srgbClr val="EA4B71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4B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UP NEXT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02 — Setting Up n8n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6949440" cy="3108960"/>
          </a:xfrm>
          <a:prstGeom prst="roundRect">
            <a:avLst>
              <a:gd name="adj" fmla="val 2941"/>
            </a:avLst>
          </a:prstGeom>
          <a:solidFill>
            <a:srgbClr val="26203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7F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vs Self-Hosted — which one for you?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free n8n Cloud account (together, step by step)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look at your automation dashboard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self-hosting — what it is &amp; when we'll do it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818120" y="1645920"/>
            <a:ext cx="3822192" cy="1417320"/>
          </a:xfrm>
          <a:prstGeom prst="roundRect">
            <a:avLst>
              <a:gd name="adj" fmla="val 6452"/>
            </a:avLst>
          </a:prstGeom>
          <a:solidFill>
            <a:srgbClr val="2E2745"/>
          </a:solidFill>
          <a:ln/>
        </p:spPr>
      </p:sp>
      <p:sp>
        <p:nvSpPr>
          <p:cNvPr id="9" name="Shape 7"/>
          <p:cNvSpPr/>
          <p:nvPr/>
        </p:nvSpPr>
        <p:spPr>
          <a:xfrm>
            <a:off x="8092440" y="1947672"/>
            <a:ext cx="786384" cy="786384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6900" y="2152132"/>
            <a:ext cx="377464" cy="3774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052560" y="1645920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notes + workflows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github.com/Shahzain-Ali/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n8n-mastery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818120" y="3337560"/>
            <a:ext cx="3822192" cy="1417320"/>
          </a:xfrm>
          <a:prstGeom prst="roundRect">
            <a:avLst>
              <a:gd name="adj" fmla="val 6452"/>
            </a:avLst>
          </a:prstGeom>
          <a:solidFill>
            <a:srgbClr val="2E2745"/>
          </a:solidFill>
          <a:ln/>
        </p:spPr>
      </p:sp>
      <p:sp>
        <p:nvSpPr>
          <p:cNvPr id="13" name="Shape 10"/>
          <p:cNvSpPr/>
          <p:nvPr/>
        </p:nvSpPr>
        <p:spPr>
          <a:xfrm>
            <a:off x="8092440" y="3639312"/>
            <a:ext cx="786384" cy="786384"/>
          </a:xfrm>
          <a:prstGeom prst="ellipse">
            <a:avLst/>
          </a:prstGeom>
          <a:solidFill>
            <a:srgbClr val="2E274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6900" y="3843772"/>
            <a:ext cx="377464" cy="377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052560" y="3337560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— 2 lessons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week, free forever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48640" y="49834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2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SolutionsWithShahzain — the free n8n course that feels premium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822960" y="553212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26203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562356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44752" y="55321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linkedin.com/in/shahzain-ali1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434840" y="553212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26203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562356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056632" y="55321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instagram.com/shahzainalibangash1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8046720" y="553212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262038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312" y="5623560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668512" y="55321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facebook.com/shahzainalibangash1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548640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SolutionsWithShahzain · n8n Complete Course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10607040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2026-07-12T13:28:24Z</dcterms:created>
  <dcterms:modified xsi:type="dcterms:W3CDTF">2026-07-12T13:28:24Z</dcterms:modified>
</cp:coreProperties>
</file>