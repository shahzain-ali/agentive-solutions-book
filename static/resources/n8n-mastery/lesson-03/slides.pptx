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'Naya mechanic pehle apni workshop ke tools samajhta hai — aaj hum n8n ki workshop samjhenge, taake agle lesson mein pehla workflow bana saken.' Homework recall (1 line): 'Account ban gaya tha na? Ab usko kholo.'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Aaj ka lesson 80% screen per hoga — slides sirf checkpoints hain. Viewers ko bolo: apna instance kholo, sath sath karo.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Yeh 3-area model original framing hai — isko strongly establish karo, poore course mein yehi words use honge: 'left panel kholo', 'canvas per aao', 'top bar se publish karo'. SCREEN SWITCH: yahan se live tour shuru — pehle left panel ka har item kholo, phir top bar dikhaw.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 PER: khali canvas per yeh sab live karo — pan karo, zoom karo, phir jaan bujh ke 'kho jao' aur 1 daba ke wapas aao. Bolo: 'Bara workflow ho to 1 aapki jaan bachayega.' Touchpad users: do ungliyon se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 PER: N dabao, 2-3 nodes search kar ke canvas per lao (kuch bhi — Gmail, Sheets), connect kar ke dikhaw. NODE TYPES explain MAT karo — trigger vs action ka fark Lesson 5 ka scope hai. Sirf 'kaise dhoondhna aur lagana hai' sikhao.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Yeh is lesson ka sab se important concept hai — 2 minute do. Analogy: WhatsApp status draft vs post karna. SCREEN PER dikhaw: ek change karo, save karo, dikhaw ke published version wahi purana hai. Real-life scenario sunao: 'client ka live workflow chal raha hai, aap experiment kar rahe ho — bina publish kiye production safe hai.'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CCTV analogy strong hai — dukaan ki raat wali footage. SCREEN PER: executions list kholo (abhi khali hogi ya 1-2 test runs). Debugging ki depth mat kholo — woh Lesson 13 hai. Sirf yeh: 'jab kuch ghalat ho, sab se pehle yahan aao.'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Sirf yeh 8 — list lambi mat karo, overwhelm hota hai. Bolo: 'Ctrl+S aur Ctrl+Enter aaj hi muscle memory banao, baqi aate rahenge.' Sticky note (Shift+S) live dikhaw — 'apne future self ke liye notes chorna pro habit hai.'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Save-vs-publish wali mistake per sab se zyada zor — yeh real production accidents ki wajah banti hai. Halki personal touch: 'pehli baar mujhe bhi laga tha save = live.'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 chota hai jaan bujh kar — sirf UI confidence. Building kal hai. Comment prompt casual hai, engagement ke liye.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second recap. Aakhri line ke baad seedha next-lesson hype mein jao.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Excitement peak per chhoro — 'agla lesson woh hai jiske liye aap aaye the.' CTA ek baar, phir end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EA4B7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COMPLETE COURSE · MODULE 1 — FOUNDATIONS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n8n Interface Tour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 · Know your workshop before you build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27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Mastery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43434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2745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Shortcuts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43434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2745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vs Publish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SolutionsWithShahzain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03 ·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Tour Stops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6712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20" y="2371588"/>
            <a:ext cx="377464" cy="377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of your instance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panel, top bar — where everything lives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16712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60" y="2371588"/>
            <a:ext cx="377464" cy="377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9842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canvas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workspace: pan, zoom, stay oriented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6168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20" y="4566148"/>
            <a:ext cx="377464" cy="377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1788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&amp; adding nodes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4709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panel — your parts shop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379476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436168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860" y="4566148"/>
            <a:ext cx="377464" cy="377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1788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vs Publish + Executions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35240" y="4709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2.x concept most beginners get wrong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Instance Has 3 Areas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2620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7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Panel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list, credentials, executions, templates — everything you own, organized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262038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45152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30632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drag nodes, connect them, and build — you'll live here 90% of the time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262038"/>
          </a:solidFill>
          <a:ln/>
        </p:spPr>
      </p:sp>
      <p:sp>
        <p:nvSpPr>
          <p:cNvPr id="13" name="Text 11"/>
          <p:cNvSpPr/>
          <p:nvPr/>
        </p:nvSpPr>
        <p:spPr>
          <a:xfrm>
            <a:off x="8467344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67344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67344" y="30632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name, Save, Publish, settings — the switches that make things official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· workshop · controls — once this map is in your head, you can never get lost.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Navigation — Never Get Lost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1284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20" y="2417308"/>
            <a:ext cx="377464" cy="377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29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 (move around)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6060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Drag · Space + Drag · middle mouse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4592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21284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60" y="2417308"/>
            <a:ext cx="377464" cy="377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029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in / out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35240" y="26060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/ −  ·  Ctrl + Mouse Wheel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40740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20" y="4611868"/>
            <a:ext cx="377464" cy="377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2245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view to 100%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48006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 0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384048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440740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860" y="4611868"/>
            <a:ext cx="377464" cy="377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2245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all nodes on screen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35240" y="48006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 1 — your 'where am I?' rescue key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Node Panel — Your Parts Shop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4023360"/>
          </a:xfrm>
          <a:prstGeom prst="roundRect">
            <a:avLst>
              <a:gd name="adj" fmla="val 2273"/>
            </a:avLst>
          </a:prstGeom>
          <a:solidFill>
            <a:srgbClr val="26203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6309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N (or click +) — the panel opens</a:t>
            </a:r>
            <a:endParaRPr lang="en-US" sz="16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to search: 'Gmail', 'Sheets', 'HTTP'…</a:t>
            </a:r>
            <a:endParaRPr lang="en-US" sz="16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inserts the selected node onto the canvas</a:t>
            </a:r>
            <a:endParaRPr lang="en-US" sz="16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from a node's edge to connect it to the next</a:t>
            </a:r>
            <a:endParaRPr lang="en-US" sz="16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closes the panel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645920"/>
            <a:ext cx="3822192" cy="4023360"/>
          </a:xfrm>
          <a:prstGeom prst="roundRect">
            <a:avLst>
              <a:gd name="adj" fmla="val 2392"/>
            </a:avLst>
          </a:prstGeom>
          <a:solidFill>
            <a:srgbClr val="2E2745"/>
          </a:solidFill>
          <a:ln/>
        </p:spPr>
      </p:sp>
      <p:sp>
        <p:nvSpPr>
          <p:cNvPr id="7" name="Shape 5"/>
          <p:cNvSpPr/>
          <p:nvPr/>
        </p:nvSpPr>
        <p:spPr>
          <a:xfrm>
            <a:off x="8092440" y="1920240"/>
            <a:ext cx="731520" cy="731520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2635" y="211043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92440" y="2788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beats browsing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92440" y="33375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 nodes exist. Nobody scrolls categories — power users type 3 letters and hit Enter. Build that habit today.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2.X CONCEPT EVERYONE GETS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vs Publish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3291840"/>
          </a:xfrm>
          <a:prstGeom prst="roundRect">
            <a:avLst>
              <a:gd name="adj" fmla="val 2778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1104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your changes as a new version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often as you like — it's your draft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goes live from saving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46520" y="1645920"/>
            <a:ext cx="5193792" cy="3291840"/>
          </a:xfrm>
          <a:prstGeom prst="roundRect">
            <a:avLst>
              <a:gd name="adj" fmla="val 2778"/>
            </a:avLst>
          </a:prstGeom>
          <a:solidFill>
            <a:srgbClr val="262038"/>
          </a:solidFill>
          <a:ln/>
        </p:spPr>
      </p:sp>
      <p:sp>
        <p:nvSpPr>
          <p:cNvPr id="10" name="Shape 7"/>
          <p:cNvSpPr/>
          <p:nvPr/>
        </p:nvSpPr>
        <p:spPr>
          <a:xfrm>
            <a:off x="6720840" y="1920240"/>
            <a:ext cx="731520" cy="731520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21104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011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66560" y="28346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ONE chosen version live in production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published version runs automatically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after publishing? Production stays unchanged…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E2745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5120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…until you publish again. </a:t>
            </a:r>
            <a:pPr algn="ctr" indent="0" marL="0">
              <a:buNone/>
            </a:pPr>
            <a:r>
              <a:rPr lang="en-US" sz="1500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changes never touch production on their own. This will save you from a very bad day.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Executions — Your CCTV Footage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4023360"/>
          </a:xfrm>
          <a:prstGeom prst="roundRect">
            <a:avLst>
              <a:gd name="adj" fmla="val 2273"/>
            </a:avLst>
          </a:prstGeom>
          <a:solidFill>
            <a:srgbClr val="26203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of a workflow gets recorded here</a:t>
            </a:r>
            <a:endParaRPr lang="en-US" sz="16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success · Red = failed — visible at a glance</a:t>
            </a:r>
            <a:endParaRPr lang="en-US" sz="16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execution to see exactly what happened</a:t>
            </a:r>
            <a:endParaRPr lang="en-US" sz="16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workflow, status, or date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645920"/>
            <a:ext cx="3822192" cy="4023360"/>
          </a:xfrm>
          <a:prstGeom prst="roundRect">
            <a:avLst>
              <a:gd name="adj" fmla="val 2392"/>
            </a:avLst>
          </a:prstGeom>
          <a:solidFill>
            <a:srgbClr val="2E2745"/>
          </a:solidFill>
          <a:ln/>
        </p:spPr>
      </p:sp>
      <p:sp>
        <p:nvSpPr>
          <p:cNvPr id="7" name="Shape 5"/>
          <p:cNvSpPr/>
          <p:nvPr/>
        </p:nvSpPr>
        <p:spPr>
          <a:xfrm>
            <a:off x="8092440" y="1920240"/>
            <a:ext cx="731520" cy="731520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2635" y="211043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92440" y="2788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'CCTV'?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92440" y="33375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run at 3am while you sleep. Executions panel is the recording you check in the morning — what ran, what worked, what broke.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LIKE A PRO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8 Shortcuts You Need Today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423160"/>
                <a:gridCol w="3108960"/>
                <a:gridCol w="242316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2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2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Shortcut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2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2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Shortcut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4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workflow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 + 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node panel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workflow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 + Enter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 + Z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 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 + 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all 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zoom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shortcut reference lives in this lesson's notes on GitHub — link in description.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YOURSELF THE PAIN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0676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019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lost and panicking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messy canvas isn't broken — press 1 to fit view, then breathe.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64592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920240"/>
            <a:ext cx="566928" cy="56692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06764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019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a published workflow and assuming it's live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675120" y="2651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not. Draft ≠ production. Publish again to ship your changes.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26220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965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sticky notes on a 20-node canvas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8680" y="4846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you (and clients) won't remember what node 14 does. Label as you build.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384048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4114800"/>
            <a:ext cx="566928" cy="56692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26220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0965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opening the executions panel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675120" y="4846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wondering why 'nothing happened'. The answer was recorded all along.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Assignment — Canvas Warm-Up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E274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4708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40" y="2051548"/>
            <a:ext cx="377464" cy="377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64592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 of deliberate practice in your own instance.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62038"/>
          </a:solidFill>
          <a:ln/>
        </p:spPr>
      </p:sp>
      <p:sp>
        <p:nvSpPr>
          <p:cNvPr id="9" name="Shape 6"/>
          <p:cNvSpPr/>
          <p:nvPr/>
        </p:nvSpPr>
        <p:spPr>
          <a:xfrm>
            <a:off x="804672" y="3456432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4672" y="4133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any 3 nodes via N + search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4672" y="4617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each with F2 — give them funny names, why not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70832" y="32004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62038"/>
          </a:solidFill>
          <a:ln/>
        </p:spPr>
      </p:sp>
      <p:sp>
        <p:nvSpPr>
          <p:cNvPr id="14" name="Shape 11"/>
          <p:cNvSpPr/>
          <p:nvPr/>
        </p:nvSpPr>
        <p:spPr>
          <a:xfrm>
            <a:off x="4626864" y="3456432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5" name="Text 12"/>
          <p:cNvSpPr/>
          <p:nvPr/>
        </p:nvSpPr>
        <p:spPr>
          <a:xfrm>
            <a:off x="4626864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26864" y="4133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sticky note (Shift + S)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626864" y="4617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today's date and one thing you learned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93024" y="32004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62038"/>
          </a:solidFill>
          <a:ln/>
        </p:spPr>
      </p:sp>
      <p:sp>
        <p:nvSpPr>
          <p:cNvPr id="19" name="Shape 16"/>
          <p:cNvSpPr/>
          <p:nvPr/>
        </p:nvSpPr>
        <p:spPr>
          <a:xfrm>
            <a:off x="8449056" y="3456432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20" name="Text 17"/>
          <p:cNvSpPr/>
          <p:nvPr/>
        </p:nvSpPr>
        <p:spPr>
          <a:xfrm>
            <a:off x="8449056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449056" y="4133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lost, then recover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49056" y="4617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way in, pan far away — then press 1 like a pro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your favorite shortcut — mine is 1. Fight me.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areas: left panel (office), canvas (workshop), top bar (controls)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898648"/>
            <a:ext cx="548640" cy="548640"/>
          </a:xfrm>
          <a:prstGeom prst="ellipse">
            <a:avLst/>
          </a:prstGeom>
          <a:solidFill>
            <a:srgbClr val="8B7FD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27432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to find nodes, 1 to never be lost, Ctrl+Enter to run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950208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3794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= draft version · Publish = live — never confuse the two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001768"/>
            <a:ext cx="548640" cy="548640"/>
          </a:xfrm>
          <a:prstGeom prst="ellipse">
            <a:avLst/>
          </a:prstGeom>
          <a:solidFill>
            <a:srgbClr val="8B7FD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4846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Executions panel = your CCTV — every run is recorded there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572000" cy="457200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YOU'VE BEEN WAITING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04 — Your First Workflow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949440" cy="3108960"/>
          </a:xfrm>
          <a:prstGeom prst="roundRect">
            <a:avLst>
              <a:gd name="adj" fmla="val 2941"/>
            </a:avLst>
          </a:prstGeom>
          <a:solidFill>
            <a:srgbClr val="2620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theory. We build.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working automation — start to finish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+ actions, exactly like Lesson 1 promised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run on its own. While you watch. It's a moment.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18120" y="1645920"/>
            <a:ext cx="3822192" cy="1417320"/>
          </a:xfrm>
          <a:prstGeom prst="roundRect">
            <a:avLst>
              <a:gd name="adj" fmla="val 6452"/>
            </a:avLst>
          </a:prstGeom>
          <a:solidFill>
            <a:srgbClr val="2E2745"/>
          </a:solidFill>
          <a:ln/>
        </p:spPr>
      </p:sp>
      <p:sp>
        <p:nvSpPr>
          <p:cNvPr id="9" name="Shape 7"/>
          <p:cNvSpPr/>
          <p:nvPr/>
        </p:nvSpPr>
        <p:spPr>
          <a:xfrm>
            <a:off x="8092440" y="1947672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6900" y="2152132"/>
            <a:ext cx="377464" cy="377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52560" y="16459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notes + workflows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github.com/Shahzain-Ali/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n8n-mastery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18120" y="3337560"/>
            <a:ext cx="3822192" cy="1417320"/>
          </a:xfrm>
          <a:prstGeom prst="roundRect">
            <a:avLst>
              <a:gd name="adj" fmla="val 6452"/>
            </a:avLst>
          </a:prstGeom>
          <a:solidFill>
            <a:srgbClr val="2E2745"/>
          </a:solidFill>
          <a:ln/>
        </p:spPr>
      </p:sp>
      <p:sp>
        <p:nvSpPr>
          <p:cNvPr id="13" name="Shape 10"/>
          <p:cNvSpPr/>
          <p:nvPr/>
        </p:nvSpPr>
        <p:spPr>
          <a:xfrm>
            <a:off x="8092440" y="3639312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900" y="3843772"/>
            <a:ext cx="377464" cy="377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052560" y="333756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— 2 lessons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week, free forever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SolutionsWithShahzain — the free n8n course that feels premium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22960" y="55321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6203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6235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44752" y="553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linkedin.com/in/shahzain-ali1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34840" y="55321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620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56235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56632" y="553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instagram.com/shahzainalibangash1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046720" y="55321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6203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562356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68512" y="553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facebook.com/shahzainalibangash1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2026-07-12T12:10:28Z</dcterms:created>
  <dcterms:modified xsi:type="dcterms:W3CDTF">2026-07-12T12:10:28Z</dcterms:modified>
</cp:coreProperties>
</file>