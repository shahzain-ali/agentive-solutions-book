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Salaam! Aaj hum embeddings dekhenge — RAG ka woh hissa jo retrieval ko chalata hai.
LAZMI OPENING LINE (playlist plan ka taqaza): "Pipeline mein chunking pehle aati hai, lekin hum embeddings se shuru kar rahe hain. Wajah: chunking ke faisle tabhi samajh aate hain jab pata ho ke retrieval kaam kaise karta hai."
Lesson 01 mein humne embedding ko sirf "text se numbers" kaha tha. Aaj dekhenge woh numbers asal mein hain kya.
Yahan rukna nahi. Agli slide agenda hai — woh bhi tez. Definition slide 3 per hai aur woh ek minute ke andar aa jani chahiye.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Poori video ka naqsha ek nazar mein — yahan pandrah se bees second se zyada nahi lagana.
Char cheezein: embedding kya hai, do texts ka qareeb hona kaise napa jata hai, ek asal test dono models per, aur aakhir mein — client ke liye kaunsa model chunna hai.
Aakhri item per zor dein: yeh woh cheez hai jo video ke title se pata nahi chalti. Viewer ko maloom hona chahiye ke yeh video dekh kar woh ek faisla lena seekh jayega.
Note: yeh list document ki poori outcome list nahi hai — slide per chaar se zyada nahi jate.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Yehi aaj ka markazi sawal hai — aur iska jawab foran de dena hai.
Embedding matlab text ka "matlab" numbers mein. Jin do jumlon ka matlab qareeb hai, unke numbers bhi qareeb hote hain.
Dayen taraf jo dikh raha hai woh koi misal nahi — yeh hamare apne tutor ke model (text-embedding-3-small) ka asal output hai. Ek jumla dein, 1,536 numbers wapis milte hain. Chhota jumla ho ya poora paragraph — hamesha 1,536.
Neeche wali baat per zor dena zaroori hai: koi yeh na samjhe ke "number 47 ka matlab ghussa hai". Aisa kuch nahi hota. Matlab poore vector ki position mein chhupa hai — isi liye agli slide per hum naqshe ki misal dekhenge.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Karachi ki har jagah ka ek GPS coordinate hota hai. Coordinates khud boring numbers hain — kamaal yeh hai ke jo jaghein asal mein qareeb hain, unke coordinates bhi qareeb hain.
Saddar aur Empress Market ke coordinates taqreeban ek jaise; Saddar aur Port Qasim ke bilkul alag.
Embedding wohi kaam MATLAB ke sath karta hai. Dayen taraf dekhein: "refund policy", "I want my money back" aur "paisa wapas chahiye" — teeno ek hi mohalle mein. Cricket wala jumla door dusre kone mein.
Ek baat zaroor batayen: yeh naqsha maine 2 dimensions mein banaya hai taake nazar aa sake. Asal naqsha 1,536 dimensions ka hai — insaan usse tasavvur nahi kar sakta, lekin math ko farq nahi parta, faasla wahan bhi napa ja sakta hai.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sawal jo har kisi ke zehen mein aate hain — dono ka jawab yahan hai.
Pehla: vector kis cheez ka banta hai? Document ka nahi, CHUNK ka. Ek lesson pehle chunks mein tootti hai, phir har chunk ka apna vector banta hai. Ek document se kai vectors.
Kyun? Agar poore document ka ek hi vector hota, to us mein pachaas lines ka mila-jula matlab hota. User ka sawal sirf line 37 se taalluq rakhta hai — match kamzor pad jata.
Doosra: 1,536 kaun tay karta hai? OpenAI ne, model banate waqt. Yeh aap ki setting nahi, model ki khasoosiyat hai. text-embedding-3-small hamesha 1,536 dega.
Ek line yahan zaroor kahen: chunk ka size aap tay karte hain, model nahi — aur woh faisla retrieval quality ka sab se bara driver hai. Poori Lesson 04 usi per hai. Yahan tafseel mein nahi jana.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Formula yaad karne ki zaroorat bilkul nahi. Sirf yeh parhna aana chahiye ke number kya keh raha hai.
Scale per teen cheezein dikhayen: 1.0 ka matlab wohi text; darmiyani hara hissa — 0.4 se 0.7 — wohi jagah hai jahan asal retrieval hoti hai; aur sifar ke qareeb matlab koi taalluq nahi.
Sab se ahem baat neeche wali hai, aur is per rukna hai: score PERCENTAGE NAHI hai. 0.451 ka matlab "45% same" nahi. Score sirf muqablay mein parha jata hai — kaunsi jori kis jori se zyada qareeb hai.
Isi wajah se threshold har dataset per alag tune hota hai — woh Lesson 08 ka mauzu hai, yahan sirf ishara.
Neeche wali italic line credibility ke liye hai: cosine hamari pasand nahi, OpenAI ki apni sifarish hai.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Yeh slide us sawal ka jawab hai jo har koi poochta hai: "0.45 acha hai ya bura?"
Bayen taraf tang data — ek hi company ki policies. Sab documents ek jaisi zubaan mein hain, is liye "office ke auqaat" ko bhi 0.49 mil gaya, halanke uska refund se koi taalluq nahi.
Dayen taraf kushada data — hamari book. Mauzu door door hain, is liye sahi lesson 0.41 per saaf alag dikh raha hai aur baaqi 0.07 per pare hain.
Ab dono ko milayen: 0.49 GHALAT chunk ka tha, 0.41 SAHI chunk ka. Chhota number jeet gaya. Agar score percentage hota to yeh mumkin hi na hota.
IMANDARI: yeh numbers samjhane ke liye hain, naape nahi gaye — yeh screen per bhi likha hai aur notes mein bhi. Hamare apne bot ka asal threshold 0.3 hai, aur woh isi liye chalta hai ke hamari book kushada corpus hai.
Threshold ki tafseel Lesson 08 mein — yahan sirf yeh samajhna hai ke score akela kuch nahi kehta.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Yeh lesson ka asal hissa hai — dawa nahi, chalti hui cheez. Screen per jo terminal hai woh hamara apna run hai, aaj ka.
Pehle bare number per rukein: 0.451. "I want my money back" aur "refund policy" — in dono mein EK BHI LAFZ common nahi, phir bhi sab se ooncha score. Keyword search yahan sifar deti. Yehi embedding ka poora point hai: matching MATLAB se hoti hai, lafzon se nahi.
Doosra sira bhi dikhayen: 0.066 — ghair-mutalliq jumlay sifar ke qareeb pare hain. Yani score sirf ooncha nahi bol raha; jahan taalluq nahi wahan sach bhi bol raha hai.
Screenshot mein 3-large ka column bhi nazar aa raha hai — us per abhi ruk kar baat nahi karni. Woh agli do slides ka mauzu hai. Yahan sirf itna kehna hai ke humne dono models chalaye.
Jo log code nahi parhte, unke liye yeh screenshot hi saboot hai — is liye is per do teen second thehrein aur ungli se numbers dikhayen.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Yahan rukna hai — yeh poore lesson ka sab se dilchasp lamha hai.
Bayen taraf: do jumlay jinka matlab BILKUL EK hai — sirf zubaan alag. Score 0.245.
Dayen taraf: do jumlay jinka aapas mein koi taalluq nahi — bas dono Roman Urdu hain. Score 0.272.
Yani ghalat jori jeet gayi. Model ko "yeh dono Roman Urdu hain" ka signal "in dono ka matlab ek hai" se zyada strong laga.
Yeh bug nahi hai. Yeh chhote model ki hadd hai — aur yeh baat kisi documentation mein likhi hui nahi mili, hamare apne run mein saamne aayi.
Imandari ki ek line yahan zaroori hai: yeh hamari measurement hai, do phrases ki. Isse "har Roman Urdu query fail hogi" mat banayen. Agli slide per dekhenge ke faisla kaise karna chahiye.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 faisle ki table. Paanch rows — lekin nazar sirf ek per rakhni hai.
Pehli teen rows: dimensions dugne, qeemat 6.5 guna zyada, aur English test mein farq sirf 2.3 points. Yani sirf English ke liye 3-large ka koi khaas faida nahi.
Hara wala row asal kahani hai: multilingual test mein 44.0 se 54.9 — das points se zyada ka farq. Yehi woh jagah hai jahan 3-large apne paise wasool karta hai.
MTEB aur MIRACL ke bare mein itna hi kehna hai: yeh models ke standard imtihan hain. Isse zyada tafseel mein nahi jana — aaj ka mauzu embeddings hain.
Neeche do faisle. Dayen wale per zor: "3-large UMMEEDWAR hai" — yeh nahi ke le hi lo. Humne slide 8 wala demo 3-large per abhi chalaya nahi. Benchmark rehnumai deta hai, faisla aapke apne data per test se hota hai.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Yeh lesson ka sab se amli usool hai — aur sab se aam ghalti bhi.
Ooper wali row: data 3-small se embed hua, sawal bhi 3-small se. Dono taraf 1,536 numbers — muqabla ho sakta hai.
Neeche wali row: data 3-small ka (1,536), lekin sawal 3-large se (3,072). Yeh "kam quality" ka masla nahi hai — yeh chalta hi nahi. Do alag lambai ki liston ka muqabla mumkin hi nahi. Isi liye connector beech se toota hua hai.
Nateeja: model badalne ka matlab hai poora corpus dobara embed karna. Chhoti book per yeh chand cent ka kaam hai; bare client corpus per yeh ek kharcha hai jo pehle se budget mein hona chahiye. Uska hisaab Lesson 05 mein aayega.
Amli mashwara: collection ke sath likh kar rakhen ke kis model ne banaya. Chhe mahine baad yeh sawal zaroor aata hai.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Paanch cheezein — har ek per ek jumla, zyada nahi.
1. Embedding matlab hai, numbers ki shakl mein.
2. Cosine rukh compare karta hai, lafz nahi — 0.451 wala misal yaad dilayen.
3. Score relative hai. Percentage samajhna sab se aam ghalti hai.
4. Chhota model doosri zubaan se chook sakta hai — hamara apna demo iski gawahi hai.
5. Index aur query mein hamesha ek hi model.
Document mein chhe takeaways hain; slide per paanch hi laaye hain — screen per zyada bhar dena takeaway ko takeaway nahi rehne deta.
Aakhir mein agli lesson ka ishara: Lesson 03 mein yeh vectors Qdrant mein rakhenge aur unmein search karenge.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sawal — aur dono ke jawab isi lesson mein maujood hain.
Pehla sawal jaan boojh kar aisa hai jiska jawab "pata nahi" hai — jab tak baaqi scores saamne na hon. Yehi is lesson ka sab se mushkil nuqta tha, is liye yahan dobara chher raha hoon.
Doosra sawal amli hai: sahi jawab "3-large le lo" nahi, balke "pehle apne 20 asal queries per dono models test karo" hai.
Viewer se saaf kahen ke comments mein jawab likhein — aur wada karein ke behtareen jawab agli video mein zikr hoga. Yeh keh kar bhoolna nahi.
Assignment yahan NAHI batana — woh notes mein hai. Is slide per sirf do sawal.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Aakhri slide — yeh video-agnostic hai.
Is per jaan boojh kar na lesson ka naam hai, na tareekh, na "coming soon". Wajah: is slide ka screenshot le kar har video mein dobara istemal hoga, is liye yeh kabhi purani nahi honi chahiye.
Yahan bas subscribe aur follow ki guzarish karen — chhota sa, teen chaar second.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1.xml"/><Relationship Id="rId7"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1526"/>
        </a:solidFill>
      </p:bgPr>
    </p:bg>
    <p:spTree>
      <p:nvGrpSpPr>
        <p:cNvPr id="1" name=""/>
        <p:cNvGrpSpPr/>
        <p:nvPr/>
      </p:nvGrpSpPr>
      <p:grpSpPr>
        <a:xfrm>
          <a:off x="0" y="0"/>
          <a:ext cx="0" cy="0"/>
          <a:chOff x="0" y="0"/>
          <a:chExt cx="0" cy="0"/>
        </a:xfrm>
      </p:grpSpPr>
      <p:sp>
        <p:nvSpPr>
          <p:cNvPr id="2" name="Shape 0"/>
          <p:cNvSpPr/>
          <p:nvPr/>
        </p:nvSpPr>
        <p:spPr>
          <a:xfrm>
            <a:off x="8686800" y="-1554480"/>
            <a:ext cx="5394960" cy="5394960"/>
          </a:xfrm>
          <a:prstGeom prst="ellipse">
            <a:avLst/>
          </a:prstGeom>
          <a:solidFill>
            <a:srgbClr val="8B7FD7">
              <a:alpha val="9000"/>
            </a:srgbClr>
          </a:solidFill>
          <a:ln w="12700">
            <a:solidFill>
              <a:srgbClr val="1B1526"/>
            </a:solidFill>
            <a:prstDash val="solid"/>
          </a:ln>
        </p:spPr>
      </p:sp>
      <p:sp>
        <p:nvSpPr>
          <p:cNvPr id="3" name="Shape 1"/>
          <p:cNvSpPr/>
          <p:nvPr/>
        </p:nvSpPr>
        <p:spPr>
          <a:xfrm>
            <a:off x="-1280160" y="4389120"/>
            <a:ext cx="3657600" cy="3657600"/>
          </a:xfrm>
          <a:prstGeom prst="ellipse">
            <a:avLst/>
          </a:prstGeom>
          <a:solidFill>
            <a:srgbClr val="EA4B71">
              <a:alpha val="6000"/>
            </a:srgbClr>
          </a:solidFill>
          <a:ln w="12700">
            <a:solidFill>
              <a:srgbClr val="1B1526"/>
            </a:solidFill>
            <a:prstDash val="solid"/>
          </a:ln>
        </p:spPr>
      </p:sp>
      <p:sp>
        <p:nvSpPr>
          <p:cNvPr id="4" name="Shape 2"/>
          <p:cNvSpPr/>
          <p:nvPr/>
        </p:nvSpPr>
        <p:spPr>
          <a:xfrm>
            <a:off x="9875520" y="4754880"/>
            <a:ext cx="2377440" cy="2377440"/>
          </a:xfrm>
          <a:prstGeom prst="ellipse">
            <a:avLst/>
          </a:prstGeom>
          <a:solidFill>
            <a:srgbClr val="34D399">
              <a:alpha val="5000"/>
            </a:srgbClr>
          </a:solidFill>
          <a:ln w="12700">
            <a:solidFill>
              <a:srgbClr val="1B1526"/>
            </a:solidFill>
            <a:prstDash val="solid"/>
          </a:ln>
        </p:spPr>
      </p:sp>
      <p:sp>
        <p:nvSpPr>
          <p:cNvPr id="5" name="Text 3"/>
          <p:cNvSpPr/>
          <p:nvPr/>
        </p:nvSpPr>
        <p:spPr>
          <a:xfrm>
            <a:off x="822960" y="1847088"/>
            <a:ext cx="10058400" cy="310896"/>
          </a:xfrm>
          <a:prstGeom prst="rect">
            <a:avLst/>
          </a:prstGeom>
          <a:noFill/>
          <a:ln/>
        </p:spPr>
        <p:txBody>
          <a:bodyPr wrap="square" lIns="0" tIns="0" rIns="0" bIns="0" rtlCol="0" anchor="ctr"/>
          <a:lstStyle/>
          <a:p>
            <a:pPr indent="0" marL="0">
              <a:buNone/>
            </a:pPr>
            <a:r>
              <a:rPr lang="en-US" sz="1300" b="1" spc="200" kern="0" dirty="0">
                <a:solidFill>
                  <a:srgbClr val="EA4B71"/>
                </a:solidFill>
                <a:latin typeface="Arial" pitchFamily="34" charset="0"/>
                <a:ea typeface="Arial" pitchFamily="34" charset="-122"/>
                <a:cs typeface="Arial" pitchFamily="34" charset="-120"/>
              </a:rPr>
              <a:t>AGENTIVE SOLUTIONS  ·  RAG FOR AUTOMATION  ·  LESSON 02</a:t>
            </a:r>
            <a:endParaRPr lang="en-US" sz="1300" dirty="0"/>
          </a:p>
        </p:txBody>
      </p:sp>
      <p:sp>
        <p:nvSpPr>
          <p:cNvPr id="6" name="Text 4"/>
          <p:cNvSpPr/>
          <p:nvPr/>
        </p:nvSpPr>
        <p:spPr>
          <a:xfrm>
            <a:off x="822960" y="2267712"/>
            <a:ext cx="9692640" cy="1051560"/>
          </a:xfrm>
          <a:prstGeom prst="rect">
            <a:avLst/>
          </a:prstGeom>
          <a:noFill/>
          <a:ln/>
        </p:spPr>
        <p:txBody>
          <a:bodyPr wrap="square" lIns="0" tIns="0" rIns="0" bIns="0" rtlCol="0" anchor="ctr"/>
          <a:lstStyle/>
          <a:p>
            <a:pPr indent="0" marL="0">
              <a:buNone/>
            </a:pPr>
            <a:r>
              <a:rPr lang="en-US" sz="4400" b="1" dirty="0">
                <a:solidFill>
                  <a:srgbClr val="F5F2FA"/>
                </a:solidFill>
                <a:latin typeface="Arial" pitchFamily="34" charset="0"/>
                <a:ea typeface="Arial" pitchFamily="34" charset="-122"/>
                <a:cs typeface="Arial" pitchFamily="34" charset="-120"/>
              </a:rPr>
              <a:t>What are Embeddings?</a:t>
            </a:r>
            <a:endParaRPr lang="en-US" sz="4400" dirty="0"/>
          </a:p>
        </p:txBody>
      </p:sp>
      <p:sp>
        <p:nvSpPr>
          <p:cNvPr id="7" name="Text 5"/>
          <p:cNvSpPr/>
          <p:nvPr/>
        </p:nvSpPr>
        <p:spPr>
          <a:xfrm>
            <a:off x="822960" y="3456432"/>
            <a:ext cx="8961120" cy="457200"/>
          </a:xfrm>
          <a:prstGeom prst="rect">
            <a:avLst/>
          </a:prstGeom>
          <a:noFill/>
          <a:ln/>
        </p:spPr>
        <p:txBody>
          <a:bodyPr wrap="square" lIns="0" tIns="0" rIns="0" bIns="0" rtlCol="0" anchor="ctr"/>
          <a:lstStyle/>
          <a:p>
            <a:pPr indent="0" marL="0">
              <a:buNone/>
            </a:pPr>
            <a:r>
              <a:rPr lang="en-US" sz="1800" dirty="0">
                <a:solidFill>
                  <a:srgbClr val="A79DBF"/>
                </a:solidFill>
                <a:latin typeface="Calibri" pitchFamily="34" charset="0"/>
                <a:ea typeface="Calibri" pitchFamily="34" charset="-122"/>
                <a:cs typeface="Calibri" pitchFamily="34" charset="-120"/>
              </a:rPr>
              <a:t>How a machine turns meaning into numbers — and compares them</a:t>
            </a:r>
            <a:endParaRPr lang="en-US" sz="1800" dirty="0"/>
          </a:p>
        </p:txBody>
      </p:sp>
      <p:sp>
        <p:nvSpPr>
          <p:cNvPr id="8" name="Text 6"/>
          <p:cNvSpPr/>
          <p:nvPr/>
        </p:nvSpPr>
        <p:spPr>
          <a:xfrm>
            <a:off x="822960" y="4434840"/>
            <a:ext cx="1965960" cy="457200"/>
          </a:xfrm>
          <a:prstGeom prst="roundRect">
            <a:avLst>
              <a:gd name="adj" fmla="val 20000"/>
            </a:avLst>
          </a:prstGeom>
          <a:solidFill>
            <a:srgbClr val="2E2745"/>
          </a:solidFill>
          <a:ln>
            <a:solidFill>
              <a:srgbClr val="2E2745"/>
            </a:solidFill>
          </a:ln>
        </p:spPr>
        <p:txBody>
          <a:bodyPr wrap="square" lIns="0" tIns="0" rIns="0" bIns="0" rtlCol="0" anchor="ctr"/>
          <a:lstStyle/>
          <a:p>
            <a:pPr algn="ctr" indent="0" marL="0">
              <a:buNone/>
            </a:pPr>
            <a:r>
              <a:rPr lang="en-US" sz="1200" b="1" spc="100" kern="0" dirty="0">
                <a:solidFill>
                  <a:srgbClr val="F5F2FA"/>
                </a:solidFill>
                <a:latin typeface="Calibri" pitchFamily="34" charset="0"/>
                <a:ea typeface="Calibri" pitchFamily="34" charset="-122"/>
                <a:cs typeface="Calibri" pitchFamily="34" charset="-120"/>
              </a:rPr>
              <a:t>TEXT → NUMBERS</a:t>
            </a:r>
            <a:endParaRPr lang="en-US" sz="1200" dirty="0"/>
          </a:p>
        </p:txBody>
      </p:sp>
      <p:sp>
        <p:nvSpPr>
          <p:cNvPr id="9" name="Text 7"/>
          <p:cNvSpPr/>
          <p:nvPr/>
        </p:nvSpPr>
        <p:spPr>
          <a:xfrm>
            <a:off x="2990088" y="4434840"/>
            <a:ext cx="2240280" cy="457200"/>
          </a:xfrm>
          <a:prstGeom prst="roundRect">
            <a:avLst>
              <a:gd name="adj" fmla="val 20000"/>
            </a:avLst>
          </a:prstGeom>
          <a:solidFill>
            <a:srgbClr val="2E2745"/>
          </a:solidFill>
          <a:ln>
            <a:solidFill>
              <a:srgbClr val="2E2745"/>
            </a:solidFill>
          </a:ln>
        </p:spPr>
        <p:txBody>
          <a:bodyPr wrap="square" lIns="0" tIns="0" rIns="0" bIns="0" rtlCol="0" anchor="ctr"/>
          <a:lstStyle/>
          <a:p>
            <a:pPr algn="ctr" indent="0" marL="0">
              <a:buNone/>
            </a:pPr>
            <a:r>
              <a:rPr lang="en-US" sz="1200" b="1" spc="100" kern="0" dirty="0">
                <a:solidFill>
                  <a:srgbClr val="F5F2FA"/>
                </a:solidFill>
                <a:latin typeface="Calibri" pitchFamily="34" charset="0"/>
                <a:ea typeface="Calibri" pitchFamily="34" charset="-122"/>
                <a:cs typeface="Calibri" pitchFamily="34" charset="-120"/>
              </a:rPr>
              <a:t>COSINE SIMILARITY</a:t>
            </a:r>
            <a:endParaRPr lang="en-US" sz="1200" dirty="0"/>
          </a:p>
        </p:txBody>
      </p:sp>
      <p:sp>
        <p:nvSpPr>
          <p:cNvPr id="10" name="Text 8"/>
          <p:cNvSpPr/>
          <p:nvPr/>
        </p:nvSpPr>
        <p:spPr>
          <a:xfrm>
            <a:off x="5431536" y="4434840"/>
            <a:ext cx="1783080" cy="457200"/>
          </a:xfrm>
          <a:prstGeom prst="roundRect">
            <a:avLst>
              <a:gd name="adj" fmla="val 20000"/>
            </a:avLst>
          </a:prstGeom>
          <a:solidFill>
            <a:srgbClr val="2E2745"/>
          </a:solidFill>
          <a:ln>
            <a:solidFill>
              <a:srgbClr val="2E2745"/>
            </a:solidFill>
          </a:ln>
        </p:spPr>
        <p:txBody>
          <a:bodyPr wrap="square" lIns="0" tIns="0" rIns="0" bIns="0" rtlCol="0" anchor="ctr"/>
          <a:lstStyle/>
          <a:p>
            <a:pPr algn="ctr" indent="0" marL="0">
              <a:buNone/>
            </a:pPr>
            <a:r>
              <a:rPr lang="en-US" sz="1200" b="1" spc="100" kern="0" dirty="0">
                <a:solidFill>
                  <a:srgbClr val="F5F2FA"/>
                </a:solidFill>
                <a:latin typeface="Calibri" pitchFamily="34" charset="0"/>
                <a:ea typeface="Calibri" pitchFamily="34" charset="-122"/>
                <a:cs typeface="Calibri" pitchFamily="34" charset="-120"/>
              </a:rPr>
              <a:t>MODEL CHOICE</a:t>
            </a:r>
            <a:endParaRPr lang="en-US" sz="1200" dirty="0"/>
          </a:p>
        </p:txBody>
      </p:sp>
      <p:sp>
        <p:nvSpPr>
          <p:cNvPr id="11" name="Text 9"/>
          <p:cNvSpPr/>
          <p:nvPr/>
        </p:nvSpPr>
        <p:spPr>
          <a:xfrm>
            <a:off x="822960" y="5961888"/>
            <a:ext cx="5943600" cy="274320"/>
          </a:xfrm>
          <a:prstGeom prst="rect">
            <a:avLst/>
          </a:prstGeom>
          <a:noFill/>
          <a:ln/>
        </p:spPr>
        <p:txBody>
          <a:bodyPr wrap="square" lIns="0" tIns="0" rIns="0" bIns="0" rtlCol="0" anchor="ctr"/>
          <a:lstStyle/>
          <a:p>
            <a:pPr indent="0" marL="0">
              <a:buNone/>
            </a:pPr>
            <a:r>
              <a:rPr lang="en-US" sz="1000" dirty="0">
                <a:solidFill>
                  <a:srgbClr val="A79DBF"/>
                </a:solidFill>
                <a:latin typeface="Calibri" pitchFamily="34" charset="0"/>
                <a:ea typeface="Calibri" pitchFamily="34" charset="-122"/>
                <a:cs typeface="Calibri" pitchFamily="34" charset="-120"/>
              </a:rPr>
              <a:t>Agentive Solutions  ·  SolutionsWithShahzain</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B1526"/>
        </a:solidFill>
      </p:bgPr>
    </p:bg>
    <p:spTree>
      <p:nvGrpSpPr>
        <p:cNvPr id="1" name=""/>
        <p:cNvGrpSpPr/>
        <p:nvPr/>
      </p:nvGrpSpPr>
      <p:grpSpPr>
        <a:xfrm>
          <a:off x="0" y="0"/>
          <a:ext cx="0" cy="0"/>
          <a:chOff x="0" y="0"/>
          <a:chExt cx="0" cy="0"/>
        </a:xfrm>
      </p:grpSpPr>
      <p:sp>
        <p:nvSpPr>
          <p:cNvPr id="2" name="Text 0"/>
          <p:cNvSpPr/>
          <p:nvPr/>
        </p:nvSpPr>
        <p:spPr>
          <a:xfrm>
            <a:off x="548640" y="6263640"/>
            <a:ext cx="3657600" cy="274320"/>
          </a:xfrm>
          <a:prstGeom prst="rect">
            <a:avLst/>
          </a:prstGeom>
          <a:noFill/>
          <a:ln/>
        </p:spPr>
        <p:txBody>
          <a:bodyPr wrap="square" lIns="0" tIns="0" rIns="0" bIns="0" rtlCol="0" anchor="ctr"/>
          <a:lstStyle/>
          <a:p>
            <a:pPr indent="0" marL="0">
              <a:buNone/>
            </a:pPr>
            <a:r>
              <a:rPr lang="en-US" sz="1000" dirty="0">
                <a:solidFill>
                  <a:srgbClr val="A79DBF"/>
                </a:solidFill>
                <a:latin typeface="Calibri" pitchFamily="34" charset="0"/>
                <a:ea typeface="Calibri" pitchFamily="34" charset="-122"/>
                <a:cs typeface="Calibri" pitchFamily="34" charset="-120"/>
              </a:rPr>
              <a:t>Agentive Solutions</a:t>
            </a:r>
            <a:endParaRPr lang="en-US" sz="1000" dirty="0"/>
          </a:p>
        </p:txBody>
      </p:sp>
      <p:sp>
        <p:nvSpPr>
          <p:cNvPr id="3" name="Text 1"/>
          <p:cNvSpPr/>
          <p:nvPr/>
        </p:nvSpPr>
        <p:spPr>
          <a:xfrm>
            <a:off x="7955280" y="6263640"/>
            <a:ext cx="3685032" cy="274320"/>
          </a:xfrm>
          <a:prstGeom prst="rect">
            <a:avLst/>
          </a:prstGeom>
          <a:noFill/>
          <a:ln/>
        </p:spPr>
        <p:txBody>
          <a:bodyPr wrap="square" lIns="0" tIns="0" rIns="0" bIns="0" rtlCol="0" anchor="ctr"/>
          <a:lstStyle/>
          <a:p>
            <a:pPr algn="r" indent="0" marL="0">
              <a:buNone/>
            </a:pPr>
            <a:r>
              <a:rPr lang="en-US" sz="1000" dirty="0">
                <a:solidFill>
                  <a:srgbClr val="A79DBF"/>
                </a:solidFill>
                <a:latin typeface="Calibri" pitchFamily="34" charset="0"/>
                <a:ea typeface="Calibri" pitchFamily="34" charset="-122"/>
                <a:cs typeface="Calibri" pitchFamily="34" charset="-120"/>
              </a:rPr>
              <a:t>RAG for Automation · Lesson 02</a:t>
            </a:r>
            <a:endParaRPr lang="en-US" sz="1000" dirty="0"/>
          </a:p>
        </p:txBody>
      </p:sp>
      <p:sp>
        <p:nvSpPr>
          <p:cNvPr id="4" name="Shape 2"/>
          <p:cNvSpPr/>
          <p:nvPr/>
        </p:nvSpPr>
        <p:spPr>
          <a:xfrm>
            <a:off x="548640" y="548640"/>
            <a:ext cx="566928" cy="566928"/>
          </a:xfrm>
          <a:prstGeom prst="ellipse">
            <a:avLst/>
          </a:prstGeom>
          <a:solidFill>
            <a:srgbClr val="2E2745"/>
          </a:solidFill>
          <a:ln w="12700">
            <a:solidFill>
              <a:srgbClr val="2E2745"/>
            </a:solidFill>
            <a:prstDash val="solid"/>
          </a:ln>
        </p:spPr>
      </p:sp>
      <p:pic>
        <p:nvPicPr>
          <p:cNvPr id="5" name="Image 0" descr="preencoded.png">    </p:cNvPr>
          <p:cNvPicPr>
            <a:picLocks noChangeAspect="1"/>
          </p:cNvPicPr>
          <p:nvPr/>
        </p:nvPicPr>
        <p:blipFill>
          <a:blip r:embed="rId1"/>
          <a:stretch>
            <a:fillRect/>
          </a:stretch>
        </p:blipFill>
        <p:spPr>
          <a:xfrm>
            <a:off x="707380" y="707380"/>
            <a:ext cx="249448" cy="249448"/>
          </a:xfrm>
          <a:prstGeom prst="rect">
            <a:avLst/>
          </a:prstGeom>
        </p:spPr>
      </p:pic>
      <p:sp>
        <p:nvSpPr>
          <p:cNvPr id="6" name="Text 3"/>
          <p:cNvSpPr/>
          <p:nvPr/>
        </p:nvSpPr>
        <p:spPr>
          <a:xfrm>
            <a:off x="1298448" y="530352"/>
            <a:ext cx="9144000" cy="603504"/>
          </a:xfrm>
          <a:prstGeom prst="rect">
            <a:avLst/>
          </a:prstGeom>
          <a:noFill/>
          <a:ln/>
        </p:spPr>
        <p:txBody>
          <a:bodyPr wrap="square" lIns="0" tIns="0" rIns="0" bIns="0" rtlCol="0" anchor="ctr"/>
          <a:lstStyle/>
          <a:p>
            <a:pPr indent="0" marL="0">
              <a:buNone/>
            </a:pPr>
            <a:r>
              <a:rPr lang="en-US" sz="3400" b="1" dirty="0">
                <a:solidFill>
                  <a:srgbClr val="F5F2FA"/>
                </a:solidFill>
                <a:latin typeface="Arial" pitchFamily="34" charset="0"/>
                <a:ea typeface="Arial" pitchFamily="34" charset="-122"/>
                <a:cs typeface="Arial" pitchFamily="34" charset="-120"/>
              </a:rPr>
              <a:t>What You'll Learn Today</a:t>
            </a:r>
            <a:endParaRPr lang="en-US" sz="3400" dirty="0"/>
          </a:p>
        </p:txBody>
      </p:sp>
      <p:sp>
        <p:nvSpPr>
          <p:cNvPr id="7" name="Shape 4"/>
          <p:cNvSpPr/>
          <p:nvPr/>
        </p:nvSpPr>
        <p:spPr>
          <a:xfrm>
            <a:off x="548640" y="1600200"/>
            <a:ext cx="5394960" cy="1901952"/>
          </a:xfrm>
          <a:prstGeom prst="roundRect">
            <a:avLst>
              <a:gd name="adj" fmla="val 6731"/>
            </a:avLst>
          </a:prstGeom>
          <a:solidFill>
            <a:srgbClr val="262038"/>
          </a:solidFill>
          <a:ln w="12700">
            <a:solidFill>
              <a:srgbClr val="262038"/>
            </a:solidFill>
            <a:prstDash val="solid"/>
          </a:ln>
        </p:spPr>
      </p:sp>
      <p:sp>
        <p:nvSpPr>
          <p:cNvPr id="8" name="Shape 5"/>
          <p:cNvSpPr/>
          <p:nvPr/>
        </p:nvSpPr>
        <p:spPr>
          <a:xfrm>
            <a:off x="868680" y="1874520"/>
            <a:ext cx="566928" cy="566928"/>
          </a:xfrm>
          <a:prstGeom prst="ellipse">
            <a:avLst/>
          </a:prstGeom>
          <a:solidFill>
            <a:srgbClr val="2E2745"/>
          </a:solidFill>
          <a:ln w="12700">
            <a:solidFill>
              <a:srgbClr val="2E2745"/>
            </a:solidFill>
            <a:prstDash val="solid"/>
          </a:ln>
        </p:spPr>
      </p:sp>
      <p:pic>
        <p:nvPicPr>
          <p:cNvPr id="9" name="Image 1" descr="preencoded.png">    </p:cNvPr>
          <p:cNvPicPr>
            <a:picLocks noChangeAspect="1"/>
          </p:cNvPicPr>
          <p:nvPr/>
        </p:nvPicPr>
        <p:blipFill>
          <a:blip r:embed="rId2"/>
          <a:stretch>
            <a:fillRect/>
          </a:stretch>
        </p:blipFill>
        <p:spPr>
          <a:xfrm>
            <a:off x="1027420" y="2033260"/>
            <a:ext cx="249448" cy="249448"/>
          </a:xfrm>
          <a:prstGeom prst="rect">
            <a:avLst/>
          </a:prstGeom>
        </p:spPr>
      </p:pic>
      <p:sp>
        <p:nvSpPr>
          <p:cNvPr id="10" name="Text 6"/>
          <p:cNvSpPr/>
          <p:nvPr/>
        </p:nvSpPr>
        <p:spPr>
          <a:xfrm>
            <a:off x="868680" y="2560320"/>
            <a:ext cx="4754880" cy="292608"/>
          </a:xfrm>
          <a:prstGeom prst="rect">
            <a:avLst/>
          </a:prstGeom>
          <a:noFill/>
          <a:ln/>
        </p:spPr>
        <p:txBody>
          <a:bodyPr wrap="square" lIns="0" tIns="0" rIns="0" bIns="0" rtlCol="0" anchor="ctr"/>
          <a:lstStyle/>
          <a:p>
            <a:pPr indent="0" marL="0">
              <a:buNone/>
            </a:pPr>
            <a:r>
              <a:rPr lang="en-US" sz="1700" b="1" dirty="0">
                <a:solidFill>
                  <a:srgbClr val="F5F2FA"/>
                </a:solidFill>
                <a:latin typeface="Arial" pitchFamily="34" charset="0"/>
                <a:ea typeface="Arial" pitchFamily="34" charset="-122"/>
                <a:cs typeface="Arial" pitchFamily="34" charset="-120"/>
              </a:rPr>
              <a:t>What an embedding is</a:t>
            </a:r>
            <a:endParaRPr lang="en-US" sz="1700" dirty="0"/>
          </a:p>
        </p:txBody>
      </p:sp>
      <p:sp>
        <p:nvSpPr>
          <p:cNvPr id="11" name="Text 7"/>
          <p:cNvSpPr/>
          <p:nvPr/>
        </p:nvSpPr>
        <p:spPr>
          <a:xfrm>
            <a:off x="868680" y="2880360"/>
            <a:ext cx="4754880" cy="502920"/>
          </a:xfrm>
          <a:prstGeom prst="rect">
            <a:avLst/>
          </a:prstGeom>
          <a:noFill/>
          <a:ln/>
        </p:spPr>
        <p:txBody>
          <a:bodyPr wrap="square" lIns="0" tIns="0" rIns="0" bIns="0" rtlCol="0" anchor="ctr"/>
          <a:lstStyle/>
          <a:p>
            <a:pPr indent="0" marL="0">
              <a:buNone/>
            </a:pPr>
            <a:r>
              <a:rPr lang="en-US" sz="1400" dirty="0">
                <a:solidFill>
                  <a:srgbClr val="A79DBF"/>
                </a:solidFill>
                <a:latin typeface="Calibri" pitchFamily="34" charset="0"/>
                <a:ea typeface="Calibri" pitchFamily="34" charset="-122"/>
                <a:cs typeface="Calibri" pitchFamily="34" charset="-120"/>
              </a:rPr>
              <a:t>Meaning turned into numbers</a:t>
            </a:r>
            <a:endParaRPr lang="en-US" sz="1400" dirty="0"/>
          </a:p>
        </p:txBody>
      </p:sp>
      <p:sp>
        <p:nvSpPr>
          <p:cNvPr id="12" name="Shape 8"/>
          <p:cNvSpPr/>
          <p:nvPr/>
        </p:nvSpPr>
        <p:spPr>
          <a:xfrm>
            <a:off x="6245352" y="1600200"/>
            <a:ext cx="5394960" cy="1901952"/>
          </a:xfrm>
          <a:prstGeom prst="roundRect">
            <a:avLst>
              <a:gd name="adj" fmla="val 6731"/>
            </a:avLst>
          </a:prstGeom>
          <a:solidFill>
            <a:srgbClr val="262038"/>
          </a:solidFill>
          <a:ln w="12700">
            <a:solidFill>
              <a:srgbClr val="262038"/>
            </a:solidFill>
            <a:prstDash val="solid"/>
          </a:ln>
        </p:spPr>
      </p:sp>
      <p:sp>
        <p:nvSpPr>
          <p:cNvPr id="13" name="Shape 9"/>
          <p:cNvSpPr/>
          <p:nvPr/>
        </p:nvSpPr>
        <p:spPr>
          <a:xfrm>
            <a:off x="6565392" y="1874520"/>
            <a:ext cx="566928" cy="566928"/>
          </a:xfrm>
          <a:prstGeom prst="ellipse">
            <a:avLst/>
          </a:prstGeom>
          <a:solidFill>
            <a:srgbClr val="2E2745"/>
          </a:solidFill>
          <a:ln w="12700">
            <a:solidFill>
              <a:srgbClr val="2E2745"/>
            </a:solidFill>
            <a:prstDash val="solid"/>
          </a:ln>
        </p:spPr>
      </p:sp>
      <p:pic>
        <p:nvPicPr>
          <p:cNvPr id="14" name="Image 2" descr="preencoded.png">    </p:cNvPr>
          <p:cNvPicPr>
            <a:picLocks noChangeAspect="1"/>
          </p:cNvPicPr>
          <p:nvPr/>
        </p:nvPicPr>
        <p:blipFill>
          <a:blip r:embed="rId3"/>
          <a:stretch>
            <a:fillRect/>
          </a:stretch>
        </p:blipFill>
        <p:spPr>
          <a:xfrm>
            <a:off x="6724132" y="2033260"/>
            <a:ext cx="249448" cy="249448"/>
          </a:xfrm>
          <a:prstGeom prst="rect">
            <a:avLst/>
          </a:prstGeom>
        </p:spPr>
      </p:pic>
      <p:sp>
        <p:nvSpPr>
          <p:cNvPr id="15" name="Text 10"/>
          <p:cNvSpPr/>
          <p:nvPr/>
        </p:nvSpPr>
        <p:spPr>
          <a:xfrm>
            <a:off x="6565392" y="2560320"/>
            <a:ext cx="4754880" cy="292608"/>
          </a:xfrm>
          <a:prstGeom prst="rect">
            <a:avLst/>
          </a:prstGeom>
          <a:noFill/>
          <a:ln/>
        </p:spPr>
        <p:txBody>
          <a:bodyPr wrap="square" lIns="0" tIns="0" rIns="0" bIns="0" rtlCol="0" anchor="ctr"/>
          <a:lstStyle/>
          <a:p>
            <a:pPr indent="0" marL="0">
              <a:buNone/>
            </a:pPr>
            <a:r>
              <a:rPr lang="en-US" sz="1700" b="1" dirty="0">
                <a:solidFill>
                  <a:srgbClr val="F5F2FA"/>
                </a:solidFill>
                <a:latin typeface="Arial" pitchFamily="34" charset="0"/>
                <a:ea typeface="Arial" pitchFamily="34" charset="-122"/>
                <a:cs typeface="Arial" pitchFamily="34" charset="-120"/>
              </a:rPr>
              <a:t>Measuring closeness</a:t>
            </a:r>
            <a:endParaRPr lang="en-US" sz="1700" dirty="0"/>
          </a:p>
        </p:txBody>
      </p:sp>
      <p:sp>
        <p:nvSpPr>
          <p:cNvPr id="16" name="Text 11"/>
          <p:cNvSpPr/>
          <p:nvPr/>
        </p:nvSpPr>
        <p:spPr>
          <a:xfrm>
            <a:off x="6565392" y="2880360"/>
            <a:ext cx="4754880" cy="502920"/>
          </a:xfrm>
          <a:prstGeom prst="rect">
            <a:avLst/>
          </a:prstGeom>
          <a:noFill/>
          <a:ln/>
        </p:spPr>
        <p:txBody>
          <a:bodyPr wrap="square" lIns="0" tIns="0" rIns="0" bIns="0" rtlCol="0" anchor="ctr"/>
          <a:lstStyle/>
          <a:p>
            <a:pPr indent="0" marL="0">
              <a:buNone/>
            </a:pPr>
            <a:r>
              <a:rPr lang="en-US" sz="1400" dirty="0">
                <a:solidFill>
                  <a:srgbClr val="A79DBF"/>
                </a:solidFill>
                <a:latin typeface="Calibri" pitchFamily="34" charset="0"/>
                <a:ea typeface="Calibri" pitchFamily="34" charset="-122"/>
                <a:cs typeface="Calibri" pitchFamily="34" charset="-120"/>
              </a:rPr>
              <a:t>Reading a similarity score</a:t>
            </a:r>
            <a:endParaRPr lang="en-US" sz="1400" dirty="0"/>
          </a:p>
        </p:txBody>
      </p:sp>
      <p:sp>
        <p:nvSpPr>
          <p:cNvPr id="17" name="Shape 12"/>
          <p:cNvSpPr/>
          <p:nvPr/>
        </p:nvSpPr>
        <p:spPr>
          <a:xfrm>
            <a:off x="548640" y="3703320"/>
            <a:ext cx="5394960" cy="1901952"/>
          </a:xfrm>
          <a:prstGeom prst="roundRect">
            <a:avLst>
              <a:gd name="adj" fmla="val 6731"/>
            </a:avLst>
          </a:prstGeom>
          <a:solidFill>
            <a:srgbClr val="262038"/>
          </a:solidFill>
          <a:ln w="12700">
            <a:solidFill>
              <a:srgbClr val="262038"/>
            </a:solidFill>
            <a:prstDash val="solid"/>
          </a:ln>
        </p:spPr>
      </p:sp>
      <p:sp>
        <p:nvSpPr>
          <p:cNvPr id="18" name="Shape 13"/>
          <p:cNvSpPr/>
          <p:nvPr/>
        </p:nvSpPr>
        <p:spPr>
          <a:xfrm>
            <a:off x="868680" y="3977640"/>
            <a:ext cx="566928" cy="566928"/>
          </a:xfrm>
          <a:prstGeom prst="ellipse">
            <a:avLst/>
          </a:prstGeom>
          <a:solidFill>
            <a:srgbClr val="2E2745"/>
          </a:solidFill>
          <a:ln w="12700">
            <a:solidFill>
              <a:srgbClr val="2E2745"/>
            </a:solidFill>
            <a:prstDash val="solid"/>
          </a:ln>
        </p:spPr>
      </p:sp>
      <p:pic>
        <p:nvPicPr>
          <p:cNvPr id="19" name="Image 3" descr="preencoded.png">    </p:cNvPr>
          <p:cNvPicPr>
            <a:picLocks noChangeAspect="1"/>
          </p:cNvPicPr>
          <p:nvPr/>
        </p:nvPicPr>
        <p:blipFill>
          <a:blip r:embed="rId4"/>
          <a:stretch>
            <a:fillRect/>
          </a:stretch>
        </p:blipFill>
        <p:spPr>
          <a:xfrm>
            <a:off x="1027420" y="4136380"/>
            <a:ext cx="249448" cy="249448"/>
          </a:xfrm>
          <a:prstGeom prst="rect">
            <a:avLst/>
          </a:prstGeom>
        </p:spPr>
      </p:pic>
      <p:sp>
        <p:nvSpPr>
          <p:cNvPr id="20" name="Text 14"/>
          <p:cNvSpPr/>
          <p:nvPr/>
        </p:nvSpPr>
        <p:spPr>
          <a:xfrm>
            <a:off x="868680" y="4663440"/>
            <a:ext cx="4754880" cy="292608"/>
          </a:xfrm>
          <a:prstGeom prst="rect">
            <a:avLst/>
          </a:prstGeom>
          <a:noFill/>
          <a:ln/>
        </p:spPr>
        <p:txBody>
          <a:bodyPr wrap="square" lIns="0" tIns="0" rIns="0" bIns="0" rtlCol="0" anchor="ctr"/>
          <a:lstStyle/>
          <a:p>
            <a:pPr indent="0" marL="0">
              <a:buNone/>
            </a:pPr>
            <a:r>
              <a:rPr lang="en-US" sz="1700" b="1" dirty="0">
                <a:solidFill>
                  <a:srgbClr val="F5F2FA"/>
                </a:solidFill>
                <a:latin typeface="Arial" pitchFamily="34" charset="0"/>
                <a:ea typeface="Arial" pitchFamily="34" charset="-122"/>
                <a:cs typeface="Arial" pitchFamily="34" charset="-120"/>
              </a:rPr>
              <a:t>A real test</a:t>
            </a:r>
            <a:endParaRPr lang="en-US" sz="1700" dirty="0"/>
          </a:p>
        </p:txBody>
      </p:sp>
      <p:sp>
        <p:nvSpPr>
          <p:cNvPr id="21" name="Text 15"/>
          <p:cNvSpPr/>
          <p:nvPr/>
        </p:nvSpPr>
        <p:spPr>
          <a:xfrm>
            <a:off x="868680" y="4983480"/>
            <a:ext cx="4754880" cy="502920"/>
          </a:xfrm>
          <a:prstGeom prst="rect">
            <a:avLst/>
          </a:prstGeom>
          <a:noFill/>
          <a:ln/>
        </p:spPr>
        <p:txBody>
          <a:bodyPr wrap="square" lIns="0" tIns="0" rIns="0" bIns="0" rtlCol="0" anchor="ctr"/>
          <a:lstStyle/>
          <a:p>
            <a:pPr indent="0" marL="0">
              <a:buNone/>
            </a:pPr>
            <a:r>
              <a:rPr lang="en-US" sz="1400" dirty="0">
                <a:solidFill>
                  <a:srgbClr val="A79DBF"/>
                </a:solidFill>
                <a:latin typeface="Calibri" pitchFamily="34" charset="0"/>
                <a:ea typeface="Calibri" pitchFamily="34" charset="-122"/>
                <a:cs typeface="Calibri" pitchFamily="34" charset="-120"/>
              </a:rPr>
              <a:t>Five phrases, real scores, both models</a:t>
            </a:r>
            <a:endParaRPr lang="en-US" sz="1400" dirty="0"/>
          </a:p>
        </p:txBody>
      </p:sp>
      <p:sp>
        <p:nvSpPr>
          <p:cNvPr id="22" name="Shape 16"/>
          <p:cNvSpPr/>
          <p:nvPr/>
        </p:nvSpPr>
        <p:spPr>
          <a:xfrm>
            <a:off x="6245352" y="3703320"/>
            <a:ext cx="5394960" cy="1901952"/>
          </a:xfrm>
          <a:prstGeom prst="roundRect">
            <a:avLst>
              <a:gd name="adj" fmla="val 6731"/>
            </a:avLst>
          </a:prstGeom>
          <a:solidFill>
            <a:srgbClr val="262038"/>
          </a:solidFill>
          <a:ln w="12700">
            <a:solidFill>
              <a:srgbClr val="262038"/>
            </a:solidFill>
            <a:prstDash val="solid"/>
          </a:ln>
        </p:spPr>
      </p:sp>
      <p:sp>
        <p:nvSpPr>
          <p:cNvPr id="23" name="Shape 17"/>
          <p:cNvSpPr/>
          <p:nvPr/>
        </p:nvSpPr>
        <p:spPr>
          <a:xfrm>
            <a:off x="6565392" y="3977640"/>
            <a:ext cx="566928" cy="566928"/>
          </a:xfrm>
          <a:prstGeom prst="ellipse">
            <a:avLst/>
          </a:prstGeom>
          <a:solidFill>
            <a:srgbClr val="2E2745"/>
          </a:solidFill>
          <a:ln w="12700">
            <a:solidFill>
              <a:srgbClr val="2E2745"/>
            </a:solidFill>
            <a:prstDash val="solid"/>
          </a:ln>
        </p:spPr>
      </p:sp>
      <p:pic>
        <p:nvPicPr>
          <p:cNvPr id="24" name="Image 4" descr="preencoded.png">    </p:cNvPr>
          <p:cNvPicPr>
            <a:picLocks noChangeAspect="1"/>
          </p:cNvPicPr>
          <p:nvPr/>
        </p:nvPicPr>
        <p:blipFill>
          <a:blip r:embed="rId5"/>
          <a:stretch>
            <a:fillRect/>
          </a:stretch>
        </p:blipFill>
        <p:spPr>
          <a:xfrm>
            <a:off x="6724132" y="4136380"/>
            <a:ext cx="249448" cy="249448"/>
          </a:xfrm>
          <a:prstGeom prst="rect">
            <a:avLst/>
          </a:prstGeom>
        </p:spPr>
      </p:pic>
      <p:sp>
        <p:nvSpPr>
          <p:cNvPr id="25" name="Text 18"/>
          <p:cNvSpPr/>
          <p:nvPr/>
        </p:nvSpPr>
        <p:spPr>
          <a:xfrm>
            <a:off x="6565392" y="4663440"/>
            <a:ext cx="4754880" cy="292608"/>
          </a:xfrm>
          <a:prstGeom prst="rect">
            <a:avLst/>
          </a:prstGeom>
          <a:noFill/>
          <a:ln/>
        </p:spPr>
        <p:txBody>
          <a:bodyPr wrap="square" lIns="0" tIns="0" rIns="0" bIns="0" rtlCol="0" anchor="ctr"/>
          <a:lstStyle/>
          <a:p>
            <a:pPr indent="0" marL="0">
              <a:buNone/>
            </a:pPr>
            <a:r>
              <a:rPr lang="en-US" sz="1700" b="1" dirty="0">
                <a:solidFill>
                  <a:srgbClr val="F5F2FA"/>
                </a:solidFill>
                <a:latin typeface="Arial" pitchFamily="34" charset="0"/>
                <a:ea typeface="Arial" pitchFamily="34" charset="-122"/>
                <a:cs typeface="Arial" pitchFamily="34" charset="-120"/>
              </a:rPr>
              <a:t>Choosing a model</a:t>
            </a:r>
            <a:endParaRPr lang="en-US" sz="1700" dirty="0"/>
          </a:p>
        </p:txBody>
      </p:sp>
      <p:sp>
        <p:nvSpPr>
          <p:cNvPr id="26" name="Text 19"/>
          <p:cNvSpPr/>
          <p:nvPr/>
        </p:nvSpPr>
        <p:spPr>
          <a:xfrm>
            <a:off x="6565392" y="4983480"/>
            <a:ext cx="4754880" cy="502920"/>
          </a:xfrm>
          <a:prstGeom prst="rect">
            <a:avLst/>
          </a:prstGeom>
          <a:noFill/>
          <a:ln/>
        </p:spPr>
        <p:txBody>
          <a:bodyPr wrap="square" lIns="0" tIns="0" rIns="0" bIns="0" rtlCol="0" anchor="ctr"/>
          <a:lstStyle/>
          <a:p>
            <a:pPr indent="0" marL="0">
              <a:buNone/>
            </a:pPr>
            <a:r>
              <a:rPr lang="en-US" sz="1400" dirty="0">
                <a:solidFill>
                  <a:srgbClr val="A79DBF"/>
                </a:solidFill>
                <a:latin typeface="Calibri" pitchFamily="34" charset="0"/>
                <a:ea typeface="Calibri" pitchFamily="34" charset="-122"/>
                <a:cs typeface="Calibri" pitchFamily="34" charset="-120"/>
              </a:rPr>
              <a:t>Cost, quality and language</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B1526"/>
        </a:solidFill>
      </p:bgPr>
    </p:bg>
    <p:spTree>
      <p:nvGrpSpPr>
        <p:cNvPr id="1" name=""/>
        <p:cNvGrpSpPr/>
        <p:nvPr/>
      </p:nvGrpSpPr>
      <p:grpSpPr>
        <a:xfrm>
          <a:off x="0" y="0"/>
          <a:ext cx="0" cy="0"/>
          <a:chOff x="0" y="0"/>
          <a:chExt cx="0" cy="0"/>
        </a:xfrm>
      </p:grpSpPr>
      <p:sp>
        <p:nvSpPr>
          <p:cNvPr id="2" name="Text 0"/>
          <p:cNvSpPr/>
          <p:nvPr/>
        </p:nvSpPr>
        <p:spPr>
          <a:xfrm>
            <a:off x="548640" y="6263640"/>
            <a:ext cx="3657600" cy="274320"/>
          </a:xfrm>
          <a:prstGeom prst="rect">
            <a:avLst/>
          </a:prstGeom>
          <a:noFill/>
          <a:ln/>
        </p:spPr>
        <p:txBody>
          <a:bodyPr wrap="square" lIns="0" tIns="0" rIns="0" bIns="0" rtlCol="0" anchor="ctr"/>
          <a:lstStyle/>
          <a:p>
            <a:pPr indent="0" marL="0">
              <a:buNone/>
            </a:pPr>
            <a:r>
              <a:rPr lang="en-US" sz="1000" dirty="0">
                <a:solidFill>
                  <a:srgbClr val="A79DBF"/>
                </a:solidFill>
                <a:latin typeface="Calibri" pitchFamily="34" charset="0"/>
                <a:ea typeface="Calibri" pitchFamily="34" charset="-122"/>
                <a:cs typeface="Calibri" pitchFamily="34" charset="-120"/>
              </a:rPr>
              <a:t>Agentive Solutions</a:t>
            </a:r>
            <a:endParaRPr lang="en-US" sz="1000" dirty="0"/>
          </a:p>
        </p:txBody>
      </p:sp>
      <p:sp>
        <p:nvSpPr>
          <p:cNvPr id="3" name="Text 1"/>
          <p:cNvSpPr/>
          <p:nvPr/>
        </p:nvSpPr>
        <p:spPr>
          <a:xfrm>
            <a:off x="7955280" y="6263640"/>
            <a:ext cx="3685032" cy="274320"/>
          </a:xfrm>
          <a:prstGeom prst="rect">
            <a:avLst/>
          </a:prstGeom>
          <a:noFill/>
          <a:ln/>
        </p:spPr>
        <p:txBody>
          <a:bodyPr wrap="square" lIns="0" tIns="0" rIns="0" bIns="0" rtlCol="0" anchor="ctr"/>
          <a:lstStyle/>
          <a:p>
            <a:pPr algn="r" indent="0" marL="0">
              <a:buNone/>
            </a:pPr>
            <a:r>
              <a:rPr lang="en-US" sz="1000" dirty="0">
                <a:solidFill>
                  <a:srgbClr val="A79DBF"/>
                </a:solidFill>
                <a:latin typeface="Calibri" pitchFamily="34" charset="0"/>
                <a:ea typeface="Calibri" pitchFamily="34" charset="-122"/>
                <a:cs typeface="Calibri" pitchFamily="34" charset="-120"/>
              </a:rPr>
              <a:t>RAG for Automation · Lesson 02</a:t>
            </a:r>
            <a:endParaRPr lang="en-US" sz="1000" dirty="0"/>
          </a:p>
        </p:txBody>
      </p:sp>
      <p:sp>
        <p:nvSpPr>
          <p:cNvPr id="4" name="Shape 2"/>
          <p:cNvSpPr/>
          <p:nvPr/>
        </p:nvSpPr>
        <p:spPr>
          <a:xfrm>
            <a:off x="548640" y="548640"/>
            <a:ext cx="566928" cy="566928"/>
          </a:xfrm>
          <a:prstGeom prst="ellipse">
            <a:avLst/>
          </a:prstGeom>
          <a:solidFill>
            <a:srgbClr val="2E2745"/>
          </a:solidFill>
          <a:ln w="12700">
            <a:solidFill>
              <a:srgbClr val="2E2745"/>
            </a:solidFill>
            <a:prstDash val="solid"/>
          </a:ln>
        </p:spPr>
      </p:sp>
      <p:pic>
        <p:nvPicPr>
          <p:cNvPr id="5" name="Image 0" descr="preencoded.png">    </p:cNvPr>
          <p:cNvPicPr>
            <a:picLocks noChangeAspect="1"/>
          </p:cNvPicPr>
          <p:nvPr/>
        </p:nvPicPr>
        <p:blipFill>
          <a:blip r:embed="rId1"/>
          <a:stretch>
            <a:fillRect/>
          </a:stretch>
        </p:blipFill>
        <p:spPr>
          <a:xfrm>
            <a:off x="707380" y="707380"/>
            <a:ext cx="249448" cy="249448"/>
          </a:xfrm>
          <a:prstGeom prst="rect">
            <a:avLst/>
          </a:prstGeom>
        </p:spPr>
      </p:pic>
      <p:sp>
        <p:nvSpPr>
          <p:cNvPr id="6" name="Text 3"/>
          <p:cNvSpPr/>
          <p:nvPr/>
        </p:nvSpPr>
        <p:spPr>
          <a:xfrm>
            <a:off x="1298448" y="530352"/>
            <a:ext cx="9144000" cy="603504"/>
          </a:xfrm>
          <a:prstGeom prst="rect">
            <a:avLst/>
          </a:prstGeom>
          <a:noFill/>
          <a:ln/>
        </p:spPr>
        <p:txBody>
          <a:bodyPr wrap="square" lIns="0" tIns="0" rIns="0" bIns="0" rtlCol="0" anchor="ctr"/>
          <a:lstStyle/>
          <a:p>
            <a:pPr indent="0" marL="0">
              <a:buNone/>
            </a:pPr>
            <a:r>
              <a:rPr lang="en-US" sz="3400" b="1" dirty="0">
                <a:solidFill>
                  <a:srgbClr val="F5F2FA"/>
                </a:solidFill>
                <a:latin typeface="Arial" pitchFamily="34" charset="0"/>
                <a:ea typeface="Arial" pitchFamily="34" charset="-122"/>
                <a:cs typeface="Arial" pitchFamily="34" charset="-120"/>
              </a:rPr>
              <a:t>What is an Embedding?</a:t>
            </a:r>
            <a:endParaRPr lang="en-US" sz="3400" dirty="0"/>
          </a:p>
        </p:txBody>
      </p:sp>
      <p:sp>
        <p:nvSpPr>
          <p:cNvPr id="7" name="Shape 4"/>
          <p:cNvSpPr/>
          <p:nvPr/>
        </p:nvSpPr>
        <p:spPr>
          <a:xfrm>
            <a:off x="548640" y="1600200"/>
            <a:ext cx="5486400" cy="2834640"/>
          </a:xfrm>
          <a:prstGeom prst="roundRect">
            <a:avLst>
              <a:gd name="adj" fmla="val 4516"/>
            </a:avLst>
          </a:prstGeom>
          <a:solidFill>
            <a:srgbClr val="262038"/>
          </a:solidFill>
          <a:ln w="12700">
            <a:solidFill>
              <a:srgbClr val="262038"/>
            </a:solidFill>
            <a:prstDash val="solid"/>
          </a:ln>
        </p:spPr>
      </p:sp>
      <p:sp>
        <p:nvSpPr>
          <p:cNvPr id="8" name="Text 5"/>
          <p:cNvSpPr/>
          <p:nvPr/>
        </p:nvSpPr>
        <p:spPr>
          <a:xfrm>
            <a:off x="868680" y="1874520"/>
            <a:ext cx="4846320" cy="274320"/>
          </a:xfrm>
          <a:prstGeom prst="rect">
            <a:avLst/>
          </a:prstGeom>
          <a:noFill/>
          <a:ln/>
        </p:spPr>
        <p:txBody>
          <a:bodyPr wrap="square" lIns="0" tIns="0" rIns="0" bIns="0" rtlCol="0" anchor="ctr"/>
          <a:lstStyle/>
          <a:p>
            <a:pPr indent="0" marL="0">
              <a:buNone/>
            </a:pPr>
            <a:r>
              <a:rPr lang="en-US" sz="1200" b="1" spc="200" kern="0" dirty="0">
                <a:solidFill>
                  <a:srgbClr val="EA4B71"/>
                </a:solidFill>
                <a:latin typeface="Arial" pitchFamily="34" charset="0"/>
                <a:ea typeface="Arial" pitchFamily="34" charset="-122"/>
                <a:cs typeface="Arial" pitchFamily="34" charset="-120"/>
              </a:rPr>
              <a:t>DEFINITION</a:t>
            </a:r>
            <a:endParaRPr lang="en-US" sz="1200" dirty="0"/>
          </a:p>
        </p:txBody>
      </p:sp>
      <p:sp>
        <p:nvSpPr>
          <p:cNvPr id="9" name="Text 6"/>
          <p:cNvSpPr/>
          <p:nvPr/>
        </p:nvSpPr>
        <p:spPr>
          <a:xfrm>
            <a:off x="868680" y="2286000"/>
            <a:ext cx="4846320" cy="1188720"/>
          </a:xfrm>
          <a:prstGeom prst="rect">
            <a:avLst/>
          </a:prstGeom>
          <a:noFill/>
          <a:ln/>
        </p:spPr>
        <p:txBody>
          <a:bodyPr wrap="square" lIns="0" tIns="0" rIns="0" bIns="0" rtlCol="0" anchor="ctr"/>
          <a:lstStyle/>
          <a:p>
            <a:pPr indent="0" marL="0">
              <a:lnSpc>
                <a:spcPct val="115000"/>
              </a:lnSpc>
              <a:buNone/>
            </a:pPr>
            <a:r>
              <a:rPr lang="en-US" sz="2200" b="1" dirty="0">
                <a:solidFill>
                  <a:srgbClr val="F5F2FA"/>
                </a:solidFill>
                <a:latin typeface="Arial" pitchFamily="34" charset="0"/>
                <a:ea typeface="Arial" pitchFamily="34" charset="-122"/>
                <a:cs typeface="Arial" pitchFamily="34" charset="-120"/>
              </a:rPr>
              <a:t>A list of numbers that carries the meaning of a text</a:t>
            </a:r>
            <a:endParaRPr lang="en-US" sz="2200" dirty="0"/>
          </a:p>
        </p:txBody>
      </p:sp>
      <p:sp>
        <p:nvSpPr>
          <p:cNvPr id="10" name="Text 7"/>
          <p:cNvSpPr/>
          <p:nvPr/>
        </p:nvSpPr>
        <p:spPr>
          <a:xfrm>
            <a:off x="868680" y="3611880"/>
            <a:ext cx="4846320" cy="365760"/>
          </a:xfrm>
          <a:prstGeom prst="rect">
            <a:avLst/>
          </a:prstGeom>
          <a:noFill/>
          <a:ln/>
        </p:spPr>
        <p:txBody>
          <a:bodyPr wrap="square" lIns="0" tIns="0" rIns="0" bIns="0" rtlCol="0" anchor="ctr"/>
          <a:lstStyle/>
          <a:p>
            <a:pPr indent="0" marL="0">
              <a:buNone/>
            </a:pPr>
            <a:r>
              <a:rPr lang="en-US" sz="1500" dirty="0">
                <a:solidFill>
                  <a:srgbClr val="A79DBF"/>
                </a:solidFill>
                <a:latin typeface="Calibri" pitchFamily="34" charset="0"/>
                <a:ea typeface="Calibri" pitchFamily="34" charset="-122"/>
                <a:cs typeface="Calibri" pitchFamily="34" charset="-120"/>
              </a:rPr>
              <a:t>Similar meaning → similar numbers</a:t>
            </a:r>
            <a:endParaRPr lang="en-US" sz="1500" dirty="0"/>
          </a:p>
        </p:txBody>
      </p:sp>
      <p:sp>
        <p:nvSpPr>
          <p:cNvPr id="11" name="Shape 8"/>
          <p:cNvSpPr/>
          <p:nvPr/>
        </p:nvSpPr>
        <p:spPr>
          <a:xfrm>
            <a:off x="6309360" y="1600200"/>
            <a:ext cx="5330952" cy="2834640"/>
          </a:xfrm>
          <a:prstGeom prst="roundRect">
            <a:avLst>
              <a:gd name="adj" fmla="val 4516"/>
            </a:avLst>
          </a:prstGeom>
          <a:solidFill>
            <a:srgbClr val="262038"/>
          </a:solidFill>
          <a:ln w="12700">
            <a:solidFill>
              <a:srgbClr val="262038"/>
            </a:solidFill>
            <a:prstDash val="solid"/>
          </a:ln>
        </p:spPr>
      </p:sp>
      <p:sp>
        <p:nvSpPr>
          <p:cNvPr id="12" name="Text 9"/>
          <p:cNvSpPr/>
          <p:nvPr/>
        </p:nvSpPr>
        <p:spPr>
          <a:xfrm>
            <a:off x="6629400" y="1874520"/>
            <a:ext cx="4690872" cy="274320"/>
          </a:xfrm>
          <a:prstGeom prst="rect">
            <a:avLst/>
          </a:prstGeom>
          <a:noFill/>
          <a:ln/>
        </p:spPr>
        <p:txBody>
          <a:bodyPr wrap="square" lIns="0" tIns="0" rIns="0" bIns="0" rtlCol="0" anchor="ctr"/>
          <a:lstStyle/>
          <a:p>
            <a:pPr indent="0" marL="0">
              <a:buNone/>
            </a:pPr>
            <a:r>
              <a:rPr lang="en-US" sz="1200" b="1" spc="200" kern="0" dirty="0">
                <a:solidFill>
                  <a:srgbClr val="EA4B71"/>
                </a:solidFill>
                <a:latin typeface="Arial" pitchFamily="34" charset="0"/>
                <a:ea typeface="Arial" pitchFamily="34" charset="-122"/>
                <a:cs typeface="Arial" pitchFamily="34" charset="-120"/>
              </a:rPr>
              <a:t>FROM OUR OWN SYSTEM</a:t>
            </a:r>
            <a:endParaRPr lang="en-US" sz="1200" dirty="0"/>
          </a:p>
        </p:txBody>
      </p:sp>
      <p:sp>
        <p:nvSpPr>
          <p:cNvPr id="13" name="Text 10"/>
          <p:cNvSpPr/>
          <p:nvPr/>
        </p:nvSpPr>
        <p:spPr>
          <a:xfrm>
            <a:off x="6629400" y="2304288"/>
            <a:ext cx="4690872" cy="320040"/>
          </a:xfrm>
          <a:prstGeom prst="rect">
            <a:avLst/>
          </a:prstGeom>
          <a:noFill/>
          <a:ln/>
        </p:spPr>
        <p:txBody>
          <a:bodyPr wrap="square" lIns="0" tIns="0" rIns="0" bIns="0" rtlCol="0" anchor="ctr"/>
          <a:lstStyle/>
          <a:p>
            <a:pPr indent="0" marL="0">
              <a:buNone/>
            </a:pPr>
            <a:r>
              <a:rPr lang="en-US" sz="1400" dirty="0">
                <a:solidFill>
                  <a:srgbClr val="F5F2FA"/>
                </a:solidFill>
                <a:latin typeface="Courier New" pitchFamily="34" charset="0"/>
                <a:ea typeface="Courier New" pitchFamily="34" charset="-122"/>
                <a:cs typeface="Courier New" pitchFamily="34" charset="-120"/>
              </a:rPr>
              <a:t>"I want my money back"</a:t>
            </a:r>
            <a:endParaRPr lang="en-US" sz="1400" dirty="0"/>
          </a:p>
        </p:txBody>
      </p:sp>
      <p:sp>
        <p:nvSpPr>
          <p:cNvPr id="14" name="Shape 11"/>
          <p:cNvSpPr/>
          <p:nvPr/>
        </p:nvSpPr>
        <p:spPr>
          <a:xfrm>
            <a:off x="6784848" y="2688336"/>
            <a:ext cx="0" cy="329184"/>
          </a:xfrm>
          <a:prstGeom prst="line">
            <a:avLst/>
          </a:prstGeom>
          <a:noFill/>
          <a:ln w="31750">
            <a:solidFill>
              <a:srgbClr val="EA4B71"/>
            </a:solidFill>
            <a:prstDash val="solid"/>
            <a:tailEnd type="triangle"/>
          </a:ln>
        </p:spPr>
      </p:sp>
      <p:sp>
        <p:nvSpPr>
          <p:cNvPr id="15" name="Text 12"/>
          <p:cNvSpPr/>
          <p:nvPr/>
        </p:nvSpPr>
        <p:spPr>
          <a:xfrm>
            <a:off x="7022592" y="2724912"/>
            <a:ext cx="1463040" cy="256032"/>
          </a:xfrm>
          <a:prstGeom prst="rect">
            <a:avLst/>
          </a:prstGeom>
          <a:noFill/>
          <a:ln/>
        </p:spPr>
        <p:txBody>
          <a:bodyPr wrap="square" lIns="0" tIns="0" rIns="0" bIns="0" rtlCol="0" anchor="ctr"/>
          <a:lstStyle/>
          <a:p>
            <a:pPr indent="0" marL="0">
              <a:buNone/>
            </a:pPr>
            <a:r>
              <a:rPr lang="en-US" sz="1100" i="1" dirty="0">
                <a:solidFill>
                  <a:srgbClr val="A79DBF"/>
                </a:solidFill>
                <a:latin typeface="Calibri" pitchFamily="34" charset="0"/>
                <a:ea typeface="Calibri" pitchFamily="34" charset="-122"/>
                <a:cs typeface="Calibri" pitchFamily="34" charset="-120"/>
              </a:rPr>
              <a:t>embed</a:t>
            </a:r>
            <a:endParaRPr lang="en-US" sz="1100" dirty="0"/>
          </a:p>
        </p:txBody>
      </p:sp>
      <p:sp>
        <p:nvSpPr>
          <p:cNvPr id="16" name="Text 13"/>
          <p:cNvSpPr/>
          <p:nvPr/>
        </p:nvSpPr>
        <p:spPr>
          <a:xfrm>
            <a:off x="6629400" y="3090672"/>
            <a:ext cx="4690872" cy="320040"/>
          </a:xfrm>
          <a:prstGeom prst="rect">
            <a:avLst/>
          </a:prstGeom>
          <a:noFill/>
          <a:ln/>
        </p:spPr>
        <p:txBody>
          <a:bodyPr wrap="square" lIns="0" tIns="0" rIns="0" bIns="0" rtlCol="0" anchor="ctr"/>
          <a:lstStyle/>
          <a:p>
            <a:pPr indent="0" marL="0">
              <a:buNone/>
            </a:pPr>
            <a:r>
              <a:rPr lang="en-US" sz="1300" dirty="0">
                <a:solidFill>
                  <a:srgbClr val="8B7FD7"/>
                </a:solidFill>
                <a:latin typeface="Courier New" pitchFamily="34" charset="0"/>
                <a:ea typeface="Courier New" pitchFamily="34" charset="-122"/>
                <a:cs typeface="Courier New" pitchFamily="34" charset="-120"/>
              </a:rPr>
              <a:t>[ -0.0114, -0.0205, -0.0579, 0.0246, … ]</a:t>
            </a:r>
            <a:endParaRPr lang="en-US" sz="1300" dirty="0"/>
          </a:p>
        </p:txBody>
      </p:sp>
      <p:sp>
        <p:nvSpPr>
          <p:cNvPr id="17" name="Text 14"/>
          <p:cNvSpPr/>
          <p:nvPr/>
        </p:nvSpPr>
        <p:spPr>
          <a:xfrm>
            <a:off x="6629400" y="3611880"/>
            <a:ext cx="2423160" cy="384048"/>
          </a:xfrm>
          <a:prstGeom prst="roundRect">
            <a:avLst>
              <a:gd name="adj" fmla="val 21429"/>
            </a:avLst>
          </a:prstGeom>
          <a:solidFill>
            <a:srgbClr val="2E2745"/>
          </a:solidFill>
          <a:ln>
            <a:solidFill>
              <a:srgbClr val="2E2745"/>
            </a:solidFill>
          </a:ln>
        </p:spPr>
        <p:txBody>
          <a:bodyPr wrap="square" lIns="0" tIns="0" rIns="0" bIns="0" rtlCol="0" anchor="ctr"/>
          <a:lstStyle/>
          <a:p>
            <a:pPr algn="ctr" indent="0" marL="0">
              <a:buNone/>
            </a:pPr>
            <a:r>
              <a:rPr lang="en-US" sz="1200" b="1" dirty="0">
                <a:solidFill>
                  <a:srgbClr val="F5F2FA"/>
                </a:solidFill>
                <a:latin typeface="Calibri" pitchFamily="34" charset="0"/>
                <a:ea typeface="Calibri" pitchFamily="34" charset="-122"/>
                <a:cs typeface="Calibri" pitchFamily="34" charset="-120"/>
              </a:rPr>
              <a:t>1,536 numbers — always</a:t>
            </a:r>
            <a:endParaRPr lang="en-US" sz="1200" dirty="0"/>
          </a:p>
        </p:txBody>
      </p:sp>
      <p:sp>
        <p:nvSpPr>
          <p:cNvPr id="18" name="Shape 15"/>
          <p:cNvSpPr/>
          <p:nvPr/>
        </p:nvSpPr>
        <p:spPr>
          <a:xfrm>
            <a:off x="548640" y="4709160"/>
            <a:ext cx="11091672" cy="914400"/>
          </a:xfrm>
          <a:prstGeom prst="roundRect">
            <a:avLst>
              <a:gd name="adj" fmla="val 14000"/>
            </a:avLst>
          </a:prstGeom>
          <a:solidFill>
            <a:srgbClr val="262038"/>
          </a:solidFill>
          <a:ln w="12700">
            <a:solidFill>
              <a:srgbClr val="262038"/>
            </a:solidFill>
            <a:prstDash val="solid"/>
          </a:ln>
        </p:spPr>
      </p:sp>
      <p:sp>
        <p:nvSpPr>
          <p:cNvPr id="19" name="Shape 16"/>
          <p:cNvSpPr/>
          <p:nvPr/>
        </p:nvSpPr>
        <p:spPr>
          <a:xfrm>
            <a:off x="868680" y="4882896"/>
            <a:ext cx="566928" cy="566928"/>
          </a:xfrm>
          <a:prstGeom prst="ellipse">
            <a:avLst/>
          </a:prstGeom>
          <a:solidFill>
            <a:srgbClr val="2E2745"/>
          </a:solidFill>
          <a:ln w="12700">
            <a:solidFill>
              <a:srgbClr val="2E2745"/>
            </a:solidFill>
            <a:prstDash val="solid"/>
          </a:ln>
        </p:spPr>
      </p:sp>
      <p:pic>
        <p:nvPicPr>
          <p:cNvPr id="20" name="Image 1" descr="preencoded.png">    </p:cNvPr>
          <p:cNvPicPr>
            <a:picLocks noChangeAspect="1"/>
          </p:cNvPicPr>
          <p:nvPr/>
        </p:nvPicPr>
        <p:blipFill>
          <a:blip r:embed="rId2"/>
          <a:stretch>
            <a:fillRect/>
          </a:stretch>
        </p:blipFill>
        <p:spPr>
          <a:xfrm>
            <a:off x="1027420" y="5041636"/>
            <a:ext cx="249448" cy="249448"/>
          </a:xfrm>
          <a:prstGeom prst="rect">
            <a:avLst/>
          </a:prstGeom>
        </p:spPr>
      </p:pic>
      <p:sp>
        <p:nvSpPr>
          <p:cNvPr id="21" name="Text 17"/>
          <p:cNvSpPr/>
          <p:nvPr/>
        </p:nvSpPr>
        <p:spPr>
          <a:xfrm>
            <a:off x="1645920" y="4864608"/>
            <a:ext cx="9601200" cy="292608"/>
          </a:xfrm>
          <a:prstGeom prst="rect">
            <a:avLst/>
          </a:prstGeom>
          <a:noFill/>
          <a:ln/>
        </p:spPr>
        <p:txBody>
          <a:bodyPr wrap="square" lIns="0" tIns="0" rIns="0" bIns="0" rtlCol="0" anchor="ctr"/>
          <a:lstStyle/>
          <a:p>
            <a:pPr indent="0" marL="0">
              <a:buNone/>
            </a:pPr>
            <a:r>
              <a:rPr lang="en-US" sz="1600" b="1" dirty="0">
                <a:solidFill>
                  <a:srgbClr val="F5F2FA"/>
                </a:solidFill>
                <a:latin typeface="Arial" pitchFamily="34" charset="0"/>
                <a:ea typeface="Arial" pitchFamily="34" charset="-122"/>
                <a:cs typeface="Arial" pitchFamily="34" charset="-120"/>
              </a:rPr>
              <a:t>No single number means anything on its own</a:t>
            </a:r>
            <a:endParaRPr lang="en-US" sz="1600" dirty="0"/>
          </a:p>
        </p:txBody>
      </p:sp>
      <p:sp>
        <p:nvSpPr>
          <p:cNvPr id="22" name="Text 18"/>
          <p:cNvSpPr/>
          <p:nvPr/>
        </p:nvSpPr>
        <p:spPr>
          <a:xfrm>
            <a:off x="1645920" y="5175504"/>
            <a:ext cx="9601200" cy="292608"/>
          </a:xfrm>
          <a:prstGeom prst="rect">
            <a:avLst/>
          </a:prstGeom>
          <a:noFill/>
          <a:ln/>
        </p:spPr>
        <p:txBody>
          <a:bodyPr wrap="square" lIns="0" tIns="0" rIns="0" bIns="0" rtlCol="0" anchor="ctr"/>
          <a:lstStyle/>
          <a:p>
            <a:pPr indent="0" marL="0">
              <a:buNone/>
            </a:pPr>
            <a:r>
              <a:rPr lang="en-US" sz="1400" dirty="0">
                <a:solidFill>
                  <a:srgbClr val="A79DBF"/>
                </a:solidFill>
                <a:latin typeface="Calibri" pitchFamily="34" charset="0"/>
                <a:ea typeface="Calibri" pitchFamily="34" charset="-122"/>
                <a:cs typeface="Calibri" pitchFamily="34" charset="-120"/>
              </a:rPr>
              <a:t>The meaning lives in the position of the whole list</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B1526"/>
        </a:solidFill>
      </p:bgPr>
    </p:bg>
    <p:spTree>
      <p:nvGrpSpPr>
        <p:cNvPr id="1" name=""/>
        <p:cNvGrpSpPr/>
        <p:nvPr/>
      </p:nvGrpSpPr>
      <p:grpSpPr>
        <a:xfrm>
          <a:off x="0" y="0"/>
          <a:ext cx="0" cy="0"/>
          <a:chOff x="0" y="0"/>
          <a:chExt cx="0" cy="0"/>
        </a:xfrm>
      </p:grpSpPr>
      <p:sp>
        <p:nvSpPr>
          <p:cNvPr id="2" name="Text 0"/>
          <p:cNvSpPr/>
          <p:nvPr/>
        </p:nvSpPr>
        <p:spPr>
          <a:xfrm>
            <a:off x="548640" y="6263640"/>
            <a:ext cx="3657600" cy="274320"/>
          </a:xfrm>
          <a:prstGeom prst="rect">
            <a:avLst/>
          </a:prstGeom>
          <a:noFill/>
          <a:ln/>
        </p:spPr>
        <p:txBody>
          <a:bodyPr wrap="square" lIns="0" tIns="0" rIns="0" bIns="0" rtlCol="0" anchor="ctr"/>
          <a:lstStyle/>
          <a:p>
            <a:pPr indent="0" marL="0">
              <a:buNone/>
            </a:pPr>
            <a:r>
              <a:rPr lang="en-US" sz="1000" dirty="0">
                <a:solidFill>
                  <a:srgbClr val="A79DBF"/>
                </a:solidFill>
                <a:latin typeface="Calibri" pitchFamily="34" charset="0"/>
                <a:ea typeface="Calibri" pitchFamily="34" charset="-122"/>
                <a:cs typeface="Calibri" pitchFamily="34" charset="-120"/>
              </a:rPr>
              <a:t>Agentive Solutions</a:t>
            </a:r>
            <a:endParaRPr lang="en-US" sz="1000" dirty="0"/>
          </a:p>
        </p:txBody>
      </p:sp>
      <p:sp>
        <p:nvSpPr>
          <p:cNvPr id="3" name="Text 1"/>
          <p:cNvSpPr/>
          <p:nvPr/>
        </p:nvSpPr>
        <p:spPr>
          <a:xfrm>
            <a:off x="7955280" y="6263640"/>
            <a:ext cx="3685032" cy="274320"/>
          </a:xfrm>
          <a:prstGeom prst="rect">
            <a:avLst/>
          </a:prstGeom>
          <a:noFill/>
          <a:ln/>
        </p:spPr>
        <p:txBody>
          <a:bodyPr wrap="square" lIns="0" tIns="0" rIns="0" bIns="0" rtlCol="0" anchor="ctr"/>
          <a:lstStyle/>
          <a:p>
            <a:pPr algn="r" indent="0" marL="0">
              <a:buNone/>
            </a:pPr>
            <a:r>
              <a:rPr lang="en-US" sz="1000" dirty="0">
                <a:solidFill>
                  <a:srgbClr val="A79DBF"/>
                </a:solidFill>
                <a:latin typeface="Calibri" pitchFamily="34" charset="0"/>
                <a:ea typeface="Calibri" pitchFamily="34" charset="-122"/>
                <a:cs typeface="Calibri" pitchFamily="34" charset="-120"/>
              </a:rPr>
              <a:t>RAG for Automation · Lesson 02</a:t>
            </a:r>
            <a:endParaRPr lang="en-US" sz="1000" dirty="0"/>
          </a:p>
        </p:txBody>
      </p:sp>
      <p:sp>
        <p:nvSpPr>
          <p:cNvPr id="4" name="Shape 2"/>
          <p:cNvSpPr/>
          <p:nvPr/>
        </p:nvSpPr>
        <p:spPr>
          <a:xfrm>
            <a:off x="548640" y="548640"/>
            <a:ext cx="566928" cy="566928"/>
          </a:xfrm>
          <a:prstGeom prst="ellipse">
            <a:avLst/>
          </a:prstGeom>
          <a:solidFill>
            <a:srgbClr val="2E2745"/>
          </a:solidFill>
          <a:ln w="12700">
            <a:solidFill>
              <a:srgbClr val="2E2745"/>
            </a:solidFill>
            <a:prstDash val="solid"/>
          </a:ln>
        </p:spPr>
      </p:sp>
      <p:pic>
        <p:nvPicPr>
          <p:cNvPr id="5" name="Image 0" descr="preencoded.png">    </p:cNvPr>
          <p:cNvPicPr>
            <a:picLocks noChangeAspect="1"/>
          </p:cNvPicPr>
          <p:nvPr/>
        </p:nvPicPr>
        <p:blipFill>
          <a:blip r:embed="rId1"/>
          <a:stretch>
            <a:fillRect/>
          </a:stretch>
        </p:blipFill>
        <p:spPr>
          <a:xfrm>
            <a:off x="707380" y="707380"/>
            <a:ext cx="249448" cy="249448"/>
          </a:xfrm>
          <a:prstGeom prst="rect">
            <a:avLst/>
          </a:prstGeom>
        </p:spPr>
      </p:pic>
      <p:sp>
        <p:nvSpPr>
          <p:cNvPr id="6" name="Text 3"/>
          <p:cNvSpPr/>
          <p:nvPr/>
        </p:nvSpPr>
        <p:spPr>
          <a:xfrm>
            <a:off x="1298448" y="530352"/>
            <a:ext cx="9144000" cy="603504"/>
          </a:xfrm>
          <a:prstGeom prst="rect">
            <a:avLst/>
          </a:prstGeom>
          <a:noFill/>
          <a:ln/>
        </p:spPr>
        <p:txBody>
          <a:bodyPr wrap="square" lIns="0" tIns="0" rIns="0" bIns="0" rtlCol="0" anchor="ctr"/>
          <a:lstStyle/>
          <a:p>
            <a:pPr indent="0" marL="0">
              <a:buNone/>
            </a:pPr>
            <a:r>
              <a:rPr lang="en-US" sz="3400" b="1" dirty="0">
                <a:solidFill>
                  <a:srgbClr val="F5F2FA"/>
                </a:solidFill>
                <a:latin typeface="Arial" pitchFamily="34" charset="0"/>
                <a:ea typeface="Arial" pitchFamily="34" charset="-122"/>
                <a:cs typeface="Arial" pitchFamily="34" charset="-120"/>
              </a:rPr>
              <a:t>The Map of Karachi</a:t>
            </a:r>
            <a:endParaRPr lang="en-US" sz="3400" dirty="0"/>
          </a:p>
        </p:txBody>
      </p:sp>
      <p:sp>
        <p:nvSpPr>
          <p:cNvPr id="7" name="Shape 4"/>
          <p:cNvSpPr/>
          <p:nvPr/>
        </p:nvSpPr>
        <p:spPr>
          <a:xfrm>
            <a:off x="548640" y="1600200"/>
            <a:ext cx="4480560" cy="4023360"/>
          </a:xfrm>
          <a:prstGeom prst="roundRect">
            <a:avLst>
              <a:gd name="adj" fmla="val 3182"/>
            </a:avLst>
          </a:prstGeom>
          <a:solidFill>
            <a:srgbClr val="262038"/>
          </a:solidFill>
          <a:ln w="12700">
            <a:solidFill>
              <a:srgbClr val="262038"/>
            </a:solidFill>
            <a:prstDash val="solid"/>
          </a:ln>
        </p:spPr>
      </p:sp>
      <p:sp>
        <p:nvSpPr>
          <p:cNvPr id="8" name="Text 5"/>
          <p:cNvSpPr/>
          <p:nvPr/>
        </p:nvSpPr>
        <p:spPr>
          <a:xfrm>
            <a:off x="868680" y="1874520"/>
            <a:ext cx="3840480" cy="274320"/>
          </a:xfrm>
          <a:prstGeom prst="rect">
            <a:avLst/>
          </a:prstGeom>
          <a:noFill/>
          <a:ln/>
        </p:spPr>
        <p:txBody>
          <a:bodyPr wrap="square" lIns="0" tIns="0" rIns="0" bIns="0" rtlCol="0" anchor="ctr"/>
          <a:lstStyle/>
          <a:p>
            <a:pPr indent="0" marL="0">
              <a:buNone/>
            </a:pPr>
            <a:r>
              <a:rPr lang="en-US" sz="1200" b="1" spc="200" kern="0" dirty="0">
                <a:solidFill>
                  <a:srgbClr val="EA4B71"/>
                </a:solidFill>
                <a:latin typeface="Arial" pitchFamily="34" charset="0"/>
                <a:ea typeface="Arial" pitchFamily="34" charset="-122"/>
                <a:cs typeface="Arial" pitchFamily="34" charset="-120"/>
              </a:rPr>
              <a:t>EVERYDAY VERSION</a:t>
            </a:r>
            <a:endParaRPr lang="en-US" sz="1200" dirty="0"/>
          </a:p>
        </p:txBody>
      </p:sp>
      <p:sp>
        <p:nvSpPr>
          <p:cNvPr id="9" name="Text 6"/>
          <p:cNvSpPr/>
          <p:nvPr/>
        </p:nvSpPr>
        <p:spPr>
          <a:xfrm>
            <a:off x="868680" y="2331720"/>
            <a:ext cx="3840480" cy="1920240"/>
          </a:xfrm>
          <a:prstGeom prst="rect">
            <a:avLst/>
          </a:prstGeom>
          <a:noFill/>
          <a:ln/>
        </p:spPr>
        <p:txBody>
          <a:bodyPr wrap="square" lIns="0" tIns="0" rIns="0" bIns="0" rtlCol="0" anchor="ctr"/>
          <a:lstStyle/>
          <a:p>
            <a:pPr marL="342900" indent="-342900">
              <a:spcAft>
                <a:spcPts val="1000"/>
              </a:spcAft>
              <a:buSzPct val="100000"/>
              <a:buChar char="•"/>
            </a:pPr>
            <a:r>
              <a:rPr lang="en-US" sz="1450" dirty="0">
                <a:solidFill>
                  <a:srgbClr val="F5F2FA"/>
                </a:solidFill>
                <a:latin typeface="Calibri" pitchFamily="34" charset="0"/>
                <a:ea typeface="Calibri" pitchFamily="34" charset="-122"/>
                <a:cs typeface="Calibri" pitchFamily="34" charset="-120"/>
              </a:rPr>
              <a:t>Every place has GPS coordinates</a:t>
            </a:r>
            <a:endParaRPr lang="en-US" sz="1450" dirty="0"/>
          </a:p>
          <a:p>
            <a:pPr marL="342900" indent="-342900">
              <a:spcAft>
                <a:spcPts val="1000"/>
              </a:spcAft>
              <a:buSzPct val="100000"/>
              <a:buChar char="•"/>
            </a:pPr>
            <a:r>
              <a:rPr lang="en-US" sz="1450" dirty="0">
                <a:solidFill>
                  <a:srgbClr val="F5F2FA"/>
                </a:solidFill>
                <a:latin typeface="Calibri" pitchFamily="34" charset="0"/>
                <a:ea typeface="Calibri" pitchFamily="34" charset="-122"/>
                <a:cs typeface="Calibri" pitchFamily="34" charset="-120"/>
              </a:rPr>
              <a:t>Close places get close coordinates</a:t>
            </a:r>
            <a:endParaRPr lang="en-US" sz="1450" dirty="0"/>
          </a:p>
          <a:p>
            <a:pPr marL="342900" indent="-342900">
              <a:spcAft>
                <a:spcPts val="1000"/>
              </a:spcAft>
              <a:buSzPct val="100000"/>
              <a:buChar char="•"/>
            </a:pPr>
            <a:r>
              <a:rPr lang="en-US" sz="1450" dirty="0">
                <a:solidFill>
                  <a:srgbClr val="F5F2FA"/>
                </a:solidFill>
                <a:latin typeface="Calibri" pitchFamily="34" charset="0"/>
                <a:ea typeface="Calibri" pitchFamily="34" charset="-122"/>
                <a:cs typeface="Calibri" pitchFamily="34" charset="-120"/>
              </a:rPr>
              <a:t>Saddar and Empress Market — almost the same</a:t>
            </a:r>
            <a:endParaRPr lang="en-US" sz="1450" dirty="0"/>
          </a:p>
          <a:p>
            <a:pPr marL="342900" indent="-342900">
              <a:spcAft>
                <a:spcPts val="1000"/>
              </a:spcAft>
              <a:buSzPct val="100000"/>
              <a:buChar char="•"/>
            </a:pPr>
            <a:r>
              <a:rPr lang="en-US" sz="1450" dirty="0">
                <a:solidFill>
                  <a:srgbClr val="F5F2FA"/>
                </a:solidFill>
                <a:latin typeface="Calibri" pitchFamily="34" charset="0"/>
                <a:ea typeface="Calibri" pitchFamily="34" charset="-122"/>
                <a:cs typeface="Calibri" pitchFamily="34" charset="-120"/>
              </a:rPr>
              <a:t>Saddar and Port Qasim — nowhere near</a:t>
            </a:r>
            <a:endParaRPr lang="en-US" sz="1450" dirty="0"/>
          </a:p>
        </p:txBody>
      </p:sp>
      <p:sp>
        <p:nvSpPr>
          <p:cNvPr id="10" name="Text 7"/>
          <p:cNvSpPr/>
          <p:nvPr/>
        </p:nvSpPr>
        <p:spPr>
          <a:xfrm>
            <a:off x="868680" y="4846320"/>
            <a:ext cx="3840480" cy="548640"/>
          </a:xfrm>
          <a:prstGeom prst="rect">
            <a:avLst/>
          </a:prstGeom>
          <a:noFill/>
          <a:ln/>
        </p:spPr>
        <p:txBody>
          <a:bodyPr wrap="square" lIns="0" tIns="0" rIns="0" bIns="0" rtlCol="0" anchor="ctr"/>
          <a:lstStyle/>
          <a:p>
            <a:pPr indent="0" marL="0">
              <a:buNone/>
            </a:pPr>
            <a:r>
              <a:rPr lang="en-US" sz="1500" b="1" dirty="0">
                <a:solidFill>
                  <a:srgbClr val="34D399"/>
                </a:solidFill>
                <a:latin typeface="Arial" pitchFamily="34" charset="0"/>
                <a:ea typeface="Arial" pitchFamily="34" charset="-122"/>
                <a:cs typeface="Arial" pitchFamily="34" charset="-120"/>
              </a:rPr>
              <a:t>Embeddings do the same — with meaning</a:t>
            </a:r>
            <a:endParaRPr lang="en-US" sz="1500" dirty="0"/>
          </a:p>
        </p:txBody>
      </p:sp>
      <p:sp>
        <p:nvSpPr>
          <p:cNvPr id="11" name="Shape 8"/>
          <p:cNvSpPr/>
          <p:nvPr/>
        </p:nvSpPr>
        <p:spPr>
          <a:xfrm>
            <a:off x="5257800" y="1600200"/>
            <a:ext cx="6382512" cy="4023360"/>
          </a:xfrm>
          <a:prstGeom prst="roundRect">
            <a:avLst>
              <a:gd name="adj" fmla="val 3182"/>
            </a:avLst>
          </a:prstGeom>
          <a:solidFill>
            <a:srgbClr val="262038"/>
          </a:solidFill>
          <a:ln w="12700">
            <a:solidFill>
              <a:srgbClr val="262038"/>
            </a:solidFill>
            <a:prstDash val="solid"/>
          </a:ln>
        </p:spPr>
      </p:sp>
      <p:sp>
        <p:nvSpPr>
          <p:cNvPr id="12" name="Text 9"/>
          <p:cNvSpPr/>
          <p:nvPr/>
        </p:nvSpPr>
        <p:spPr>
          <a:xfrm>
            <a:off x="5577840" y="1874520"/>
            <a:ext cx="5742432" cy="274320"/>
          </a:xfrm>
          <a:prstGeom prst="rect">
            <a:avLst/>
          </a:prstGeom>
          <a:noFill/>
          <a:ln/>
        </p:spPr>
        <p:txBody>
          <a:bodyPr wrap="square" lIns="0" tIns="0" rIns="0" bIns="0" rtlCol="0" anchor="ctr"/>
          <a:lstStyle/>
          <a:p>
            <a:pPr indent="0" marL="0">
              <a:buNone/>
            </a:pPr>
            <a:r>
              <a:rPr lang="en-US" sz="1200" b="1" spc="200" kern="0" dirty="0">
                <a:solidFill>
                  <a:srgbClr val="EA4B71"/>
                </a:solidFill>
                <a:latin typeface="Arial" pitchFamily="34" charset="0"/>
                <a:ea typeface="Arial" pitchFamily="34" charset="-122"/>
                <a:cs typeface="Arial" pitchFamily="34" charset="-120"/>
              </a:rPr>
              <a:t>THE MEANING MAP</a:t>
            </a:r>
            <a:endParaRPr lang="en-US" sz="1200" dirty="0"/>
          </a:p>
        </p:txBody>
      </p:sp>
      <p:sp>
        <p:nvSpPr>
          <p:cNvPr id="13" name="Shape 10"/>
          <p:cNvSpPr/>
          <p:nvPr/>
        </p:nvSpPr>
        <p:spPr>
          <a:xfrm>
            <a:off x="5897880" y="2487168"/>
            <a:ext cx="3337560" cy="1645920"/>
          </a:xfrm>
          <a:prstGeom prst="ellipse">
            <a:avLst/>
          </a:prstGeom>
          <a:solidFill>
            <a:srgbClr val="34D399">
              <a:alpha val="8000"/>
            </a:srgbClr>
          </a:solidFill>
          <a:ln w="12700">
            <a:solidFill>
              <a:srgbClr val="262038"/>
            </a:solidFill>
            <a:prstDash val="solid"/>
          </a:ln>
        </p:spPr>
      </p:sp>
      <p:sp>
        <p:nvSpPr>
          <p:cNvPr id="14" name="Text 11"/>
          <p:cNvSpPr/>
          <p:nvPr/>
        </p:nvSpPr>
        <p:spPr>
          <a:xfrm>
            <a:off x="6035040" y="4206240"/>
            <a:ext cx="2011680" cy="256032"/>
          </a:xfrm>
          <a:prstGeom prst="rect">
            <a:avLst/>
          </a:prstGeom>
          <a:noFill/>
          <a:ln/>
        </p:spPr>
        <p:txBody>
          <a:bodyPr wrap="square" lIns="0" tIns="0" rIns="0" bIns="0" rtlCol="0" anchor="ctr"/>
          <a:lstStyle/>
          <a:p>
            <a:pPr indent="0" marL="0">
              <a:buNone/>
            </a:pPr>
            <a:r>
              <a:rPr lang="en-US" sz="1100" i="1" dirty="0">
                <a:solidFill>
                  <a:srgbClr val="34D399"/>
                </a:solidFill>
                <a:latin typeface="Calibri" pitchFamily="34" charset="0"/>
                <a:ea typeface="Calibri" pitchFamily="34" charset="-122"/>
                <a:cs typeface="Calibri" pitchFamily="34" charset="-120"/>
              </a:rPr>
              <a:t>same neighbourhood</a:t>
            </a:r>
            <a:endParaRPr lang="en-US" sz="1100" dirty="0"/>
          </a:p>
        </p:txBody>
      </p:sp>
      <p:sp>
        <p:nvSpPr>
          <p:cNvPr id="15" name="Shape 12"/>
          <p:cNvSpPr/>
          <p:nvPr/>
        </p:nvSpPr>
        <p:spPr>
          <a:xfrm>
            <a:off x="6446520" y="2788920"/>
            <a:ext cx="137160" cy="137160"/>
          </a:xfrm>
          <a:prstGeom prst="ellipse">
            <a:avLst/>
          </a:prstGeom>
          <a:solidFill>
            <a:srgbClr val="34D399"/>
          </a:solidFill>
          <a:ln w="12700">
            <a:solidFill>
              <a:srgbClr val="34D399"/>
            </a:solidFill>
            <a:prstDash val="solid"/>
          </a:ln>
        </p:spPr>
      </p:sp>
      <p:sp>
        <p:nvSpPr>
          <p:cNvPr id="16" name="Text 13"/>
          <p:cNvSpPr/>
          <p:nvPr/>
        </p:nvSpPr>
        <p:spPr>
          <a:xfrm>
            <a:off x="6647688" y="2724912"/>
            <a:ext cx="1371600" cy="274320"/>
          </a:xfrm>
          <a:prstGeom prst="rect">
            <a:avLst/>
          </a:prstGeom>
          <a:noFill/>
          <a:ln/>
        </p:spPr>
        <p:txBody>
          <a:bodyPr wrap="square" lIns="0" tIns="0" rIns="0" bIns="0" rtlCol="0" anchor="ctr"/>
          <a:lstStyle/>
          <a:p>
            <a:pPr algn="l" indent="0" marL="0">
              <a:buNone/>
            </a:pPr>
            <a:r>
              <a:rPr lang="en-US" sz="1150" dirty="0">
                <a:solidFill>
                  <a:srgbClr val="F5F2FA"/>
                </a:solidFill>
                <a:latin typeface="Calibri" pitchFamily="34" charset="0"/>
                <a:ea typeface="Calibri" pitchFamily="34" charset="-122"/>
                <a:cs typeface="Calibri" pitchFamily="34" charset="-120"/>
              </a:rPr>
              <a:t>refund policy</a:t>
            </a:r>
            <a:endParaRPr lang="en-US" sz="1150" dirty="0"/>
          </a:p>
        </p:txBody>
      </p:sp>
      <p:sp>
        <p:nvSpPr>
          <p:cNvPr id="17" name="Shape 14"/>
          <p:cNvSpPr/>
          <p:nvPr/>
        </p:nvSpPr>
        <p:spPr>
          <a:xfrm>
            <a:off x="7086600" y="3218688"/>
            <a:ext cx="137160" cy="137160"/>
          </a:xfrm>
          <a:prstGeom prst="ellipse">
            <a:avLst/>
          </a:prstGeom>
          <a:solidFill>
            <a:srgbClr val="34D399"/>
          </a:solidFill>
          <a:ln w="12700">
            <a:solidFill>
              <a:srgbClr val="34D399"/>
            </a:solidFill>
            <a:prstDash val="solid"/>
          </a:ln>
        </p:spPr>
      </p:sp>
      <p:sp>
        <p:nvSpPr>
          <p:cNvPr id="18" name="Text 15"/>
          <p:cNvSpPr/>
          <p:nvPr/>
        </p:nvSpPr>
        <p:spPr>
          <a:xfrm>
            <a:off x="7287768" y="3154680"/>
            <a:ext cx="1645920" cy="274320"/>
          </a:xfrm>
          <a:prstGeom prst="rect">
            <a:avLst/>
          </a:prstGeom>
          <a:noFill/>
          <a:ln/>
        </p:spPr>
        <p:txBody>
          <a:bodyPr wrap="square" lIns="0" tIns="0" rIns="0" bIns="0" rtlCol="0" anchor="ctr"/>
          <a:lstStyle/>
          <a:p>
            <a:pPr algn="l" indent="0" marL="0">
              <a:buNone/>
            </a:pPr>
            <a:r>
              <a:rPr lang="en-US" sz="1150" dirty="0">
                <a:solidFill>
                  <a:srgbClr val="F5F2FA"/>
                </a:solidFill>
                <a:latin typeface="Calibri" pitchFamily="34" charset="0"/>
                <a:ea typeface="Calibri" pitchFamily="34" charset="-122"/>
                <a:cs typeface="Calibri" pitchFamily="34" charset="-120"/>
              </a:rPr>
              <a:t>I want my money back</a:t>
            </a:r>
            <a:endParaRPr lang="en-US" sz="1150" dirty="0"/>
          </a:p>
        </p:txBody>
      </p:sp>
      <p:sp>
        <p:nvSpPr>
          <p:cNvPr id="19" name="Shape 16"/>
          <p:cNvSpPr/>
          <p:nvPr/>
        </p:nvSpPr>
        <p:spPr>
          <a:xfrm>
            <a:off x="6400800" y="3657600"/>
            <a:ext cx="137160" cy="137160"/>
          </a:xfrm>
          <a:prstGeom prst="ellipse">
            <a:avLst/>
          </a:prstGeom>
          <a:solidFill>
            <a:srgbClr val="34D399"/>
          </a:solidFill>
          <a:ln w="12700">
            <a:solidFill>
              <a:srgbClr val="34D399"/>
            </a:solidFill>
            <a:prstDash val="solid"/>
          </a:ln>
        </p:spPr>
      </p:sp>
      <p:sp>
        <p:nvSpPr>
          <p:cNvPr id="20" name="Text 17"/>
          <p:cNvSpPr/>
          <p:nvPr/>
        </p:nvSpPr>
        <p:spPr>
          <a:xfrm>
            <a:off x="6601968" y="3593592"/>
            <a:ext cx="1554480" cy="274320"/>
          </a:xfrm>
          <a:prstGeom prst="rect">
            <a:avLst/>
          </a:prstGeom>
          <a:noFill/>
          <a:ln/>
        </p:spPr>
        <p:txBody>
          <a:bodyPr wrap="square" lIns="0" tIns="0" rIns="0" bIns="0" rtlCol="0" anchor="ctr"/>
          <a:lstStyle/>
          <a:p>
            <a:pPr algn="l" indent="0" marL="0">
              <a:buNone/>
            </a:pPr>
            <a:r>
              <a:rPr lang="en-US" sz="1150" dirty="0">
                <a:solidFill>
                  <a:srgbClr val="F5F2FA"/>
                </a:solidFill>
                <a:latin typeface="Calibri" pitchFamily="34" charset="0"/>
                <a:ea typeface="Calibri" pitchFamily="34" charset="-122"/>
                <a:cs typeface="Calibri" pitchFamily="34" charset="-120"/>
              </a:rPr>
              <a:t>paisa wapas chahiye</a:t>
            </a:r>
            <a:endParaRPr lang="en-US" sz="1150" dirty="0"/>
          </a:p>
        </p:txBody>
      </p:sp>
      <p:sp>
        <p:nvSpPr>
          <p:cNvPr id="21" name="Shape 18"/>
          <p:cNvSpPr/>
          <p:nvPr/>
        </p:nvSpPr>
        <p:spPr>
          <a:xfrm>
            <a:off x="10881360" y="2670048"/>
            <a:ext cx="137160" cy="137160"/>
          </a:xfrm>
          <a:prstGeom prst="ellipse">
            <a:avLst/>
          </a:prstGeom>
          <a:solidFill>
            <a:srgbClr val="A79DBF"/>
          </a:solidFill>
          <a:ln w="12700">
            <a:solidFill>
              <a:srgbClr val="A79DBF"/>
            </a:solidFill>
            <a:prstDash val="solid"/>
          </a:ln>
        </p:spPr>
      </p:sp>
      <p:sp>
        <p:nvSpPr>
          <p:cNvPr id="22" name="Text 19"/>
          <p:cNvSpPr/>
          <p:nvPr/>
        </p:nvSpPr>
        <p:spPr>
          <a:xfrm>
            <a:off x="9015984" y="2606040"/>
            <a:ext cx="1737360" cy="274320"/>
          </a:xfrm>
          <a:prstGeom prst="rect">
            <a:avLst/>
          </a:prstGeom>
          <a:noFill/>
          <a:ln/>
        </p:spPr>
        <p:txBody>
          <a:bodyPr wrap="square" lIns="0" tIns="0" rIns="0" bIns="0" rtlCol="0" anchor="ctr"/>
          <a:lstStyle/>
          <a:p>
            <a:pPr algn="r" indent="0" marL="0">
              <a:buNone/>
            </a:pPr>
            <a:r>
              <a:rPr lang="en-US" sz="1150" dirty="0">
                <a:solidFill>
                  <a:srgbClr val="F5F2FA"/>
                </a:solidFill>
                <a:latin typeface="Calibri" pitchFamily="34" charset="0"/>
                <a:ea typeface="Calibri" pitchFamily="34" charset="-122"/>
                <a:cs typeface="Calibri" pitchFamily="34" charset="-120"/>
              </a:rPr>
              <a:t>aaj cricket ka match hai</a:t>
            </a:r>
            <a:endParaRPr lang="en-US" sz="1150" dirty="0"/>
          </a:p>
        </p:txBody>
      </p:sp>
      <p:sp>
        <p:nvSpPr>
          <p:cNvPr id="23" name="Shape 20"/>
          <p:cNvSpPr/>
          <p:nvPr/>
        </p:nvSpPr>
        <p:spPr>
          <a:xfrm>
            <a:off x="8092440" y="4773168"/>
            <a:ext cx="137160" cy="137160"/>
          </a:xfrm>
          <a:prstGeom prst="ellipse">
            <a:avLst/>
          </a:prstGeom>
          <a:solidFill>
            <a:srgbClr val="A79DBF"/>
          </a:solidFill>
          <a:ln w="12700">
            <a:solidFill>
              <a:srgbClr val="A79DBF"/>
            </a:solidFill>
            <a:prstDash val="solid"/>
          </a:ln>
        </p:spPr>
      </p:sp>
      <p:sp>
        <p:nvSpPr>
          <p:cNvPr id="24" name="Text 21"/>
          <p:cNvSpPr/>
          <p:nvPr/>
        </p:nvSpPr>
        <p:spPr>
          <a:xfrm>
            <a:off x="8293608" y="4709160"/>
            <a:ext cx="1920240" cy="274320"/>
          </a:xfrm>
          <a:prstGeom prst="rect">
            <a:avLst/>
          </a:prstGeom>
          <a:noFill/>
          <a:ln/>
        </p:spPr>
        <p:txBody>
          <a:bodyPr wrap="square" lIns="0" tIns="0" rIns="0" bIns="0" rtlCol="0" anchor="ctr"/>
          <a:lstStyle/>
          <a:p>
            <a:pPr algn="l" indent="0" marL="0">
              <a:buNone/>
            </a:pPr>
            <a:r>
              <a:rPr lang="en-US" sz="1150" dirty="0">
                <a:solidFill>
                  <a:srgbClr val="F5F2FA"/>
                </a:solidFill>
                <a:latin typeface="Calibri" pitchFamily="34" charset="0"/>
                <a:ea typeface="Calibri" pitchFamily="34" charset="-122"/>
                <a:cs typeface="Calibri" pitchFamily="34" charset="-120"/>
              </a:rPr>
              <a:t>how do I embed a document?</a:t>
            </a:r>
            <a:endParaRPr lang="en-US" sz="1150" dirty="0"/>
          </a:p>
        </p:txBody>
      </p:sp>
      <p:sp>
        <p:nvSpPr>
          <p:cNvPr id="25" name="Text 22"/>
          <p:cNvSpPr/>
          <p:nvPr/>
        </p:nvSpPr>
        <p:spPr>
          <a:xfrm>
            <a:off x="5577840" y="5138928"/>
            <a:ext cx="5742432" cy="274320"/>
          </a:xfrm>
          <a:prstGeom prst="rect">
            <a:avLst/>
          </a:prstGeom>
          <a:noFill/>
          <a:ln/>
        </p:spPr>
        <p:txBody>
          <a:bodyPr wrap="square" lIns="0" tIns="0" rIns="0" bIns="0" rtlCol="0" anchor="ctr"/>
          <a:lstStyle/>
          <a:p>
            <a:pPr indent="0" marL="0">
              <a:buNone/>
            </a:pPr>
            <a:r>
              <a:rPr lang="en-US" sz="1150" i="1" dirty="0">
                <a:solidFill>
                  <a:srgbClr val="A79DBF"/>
                </a:solidFill>
                <a:latin typeface="Calibri" pitchFamily="34" charset="0"/>
                <a:ea typeface="Calibri" pitchFamily="34" charset="-122"/>
                <a:cs typeface="Calibri" pitchFamily="34" charset="-120"/>
              </a:rPr>
              <a:t>Drawn here as 2 dimensions — really 1,536</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B1526"/>
        </a:solidFill>
      </p:bgPr>
    </p:bg>
    <p:spTree>
      <p:nvGrpSpPr>
        <p:cNvPr id="1" name=""/>
        <p:cNvGrpSpPr/>
        <p:nvPr/>
      </p:nvGrpSpPr>
      <p:grpSpPr>
        <a:xfrm>
          <a:off x="0" y="0"/>
          <a:ext cx="0" cy="0"/>
          <a:chOff x="0" y="0"/>
          <a:chExt cx="0" cy="0"/>
        </a:xfrm>
      </p:grpSpPr>
      <p:sp>
        <p:nvSpPr>
          <p:cNvPr id="2" name="Text 0"/>
          <p:cNvSpPr/>
          <p:nvPr/>
        </p:nvSpPr>
        <p:spPr>
          <a:xfrm>
            <a:off x="548640" y="6263640"/>
            <a:ext cx="3657600" cy="274320"/>
          </a:xfrm>
          <a:prstGeom prst="rect">
            <a:avLst/>
          </a:prstGeom>
          <a:noFill/>
          <a:ln/>
        </p:spPr>
        <p:txBody>
          <a:bodyPr wrap="square" lIns="0" tIns="0" rIns="0" bIns="0" rtlCol="0" anchor="ctr"/>
          <a:lstStyle/>
          <a:p>
            <a:pPr indent="0" marL="0">
              <a:buNone/>
            </a:pPr>
            <a:r>
              <a:rPr lang="en-US" sz="1000" dirty="0">
                <a:solidFill>
                  <a:srgbClr val="A79DBF"/>
                </a:solidFill>
                <a:latin typeface="Calibri" pitchFamily="34" charset="0"/>
                <a:ea typeface="Calibri" pitchFamily="34" charset="-122"/>
                <a:cs typeface="Calibri" pitchFamily="34" charset="-120"/>
              </a:rPr>
              <a:t>Agentive Solutions</a:t>
            </a:r>
            <a:endParaRPr lang="en-US" sz="1000" dirty="0"/>
          </a:p>
        </p:txBody>
      </p:sp>
      <p:sp>
        <p:nvSpPr>
          <p:cNvPr id="3" name="Text 1"/>
          <p:cNvSpPr/>
          <p:nvPr/>
        </p:nvSpPr>
        <p:spPr>
          <a:xfrm>
            <a:off x="7955280" y="6263640"/>
            <a:ext cx="3685032" cy="274320"/>
          </a:xfrm>
          <a:prstGeom prst="rect">
            <a:avLst/>
          </a:prstGeom>
          <a:noFill/>
          <a:ln/>
        </p:spPr>
        <p:txBody>
          <a:bodyPr wrap="square" lIns="0" tIns="0" rIns="0" bIns="0" rtlCol="0" anchor="ctr"/>
          <a:lstStyle/>
          <a:p>
            <a:pPr algn="r" indent="0" marL="0">
              <a:buNone/>
            </a:pPr>
            <a:r>
              <a:rPr lang="en-US" sz="1000" dirty="0">
                <a:solidFill>
                  <a:srgbClr val="A79DBF"/>
                </a:solidFill>
                <a:latin typeface="Calibri" pitchFamily="34" charset="0"/>
                <a:ea typeface="Calibri" pitchFamily="34" charset="-122"/>
                <a:cs typeface="Calibri" pitchFamily="34" charset="-120"/>
              </a:rPr>
              <a:t>RAG for Automation · Lesson 02</a:t>
            </a:r>
            <a:endParaRPr lang="en-US" sz="1000" dirty="0"/>
          </a:p>
        </p:txBody>
      </p:sp>
      <p:sp>
        <p:nvSpPr>
          <p:cNvPr id="4" name="Shape 2"/>
          <p:cNvSpPr/>
          <p:nvPr/>
        </p:nvSpPr>
        <p:spPr>
          <a:xfrm>
            <a:off x="548640" y="548640"/>
            <a:ext cx="566928" cy="566928"/>
          </a:xfrm>
          <a:prstGeom prst="ellipse">
            <a:avLst/>
          </a:prstGeom>
          <a:solidFill>
            <a:srgbClr val="2E2745"/>
          </a:solidFill>
          <a:ln w="12700">
            <a:solidFill>
              <a:srgbClr val="2E2745"/>
            </a:solidFill>
            <a:prstDash val="solid"/>
          </a:ln>
        </p:spPr>
      </p:sp>
      <p:pic>
        <p:nvPicPr>
          <p:cNvPr id="5" name="Image 0" descr="preencoded.png">    </p:cNvPr>
          <p:cNvPicPr>
            <a:picLocks noChangeAspect="1"/>
          </p:cNvPicPr>
          <p:nvPr/>
        </p:nvPicPr>
        <p:blipFill>
          <a:blip r:embed="rId1"/>
          <a:stretch>
            <a:fillRect/>
          </a:stretch>
        </p:blipFill>
        <p:spPr>
          <a:xfrm>
            <a:off x="707380" y="707380"/>
            <a:ext cx="249448" cy="249448"/>
          </a:xfrm>
          <a:prstGeom prst="rect">
            <a:avLst/>
          </a:prstGeom>
        </p:spPr>
      </p:pic>
      <p:sp>
        <p:nvSpPr>
          <p:cNvPr id="6" name="Text 3"/>
          <p:cNvSpPr/>
          <p:nvPr/>
        </p:nvSpPr>
        <p:spPr>
          <a:xfrm>
            <a:off x="1298448" y="530352"/>
            <a:ext cx="10058400" cy="603504"/>
          </a:xfrm>
          <a:prstGeom prst="rect">
            <a:avLst/>
          </a:prstGeom>
          <a:noFill/>
          <a:ln/>
        </p:spPr>
        <p:txBody>
          <a:bodyPr wrap="square" lIns="0" tIns="0" rIns="0" bIns="0" rtlCol="0" anchor="ctr"/>
          <a:lstStyle/>
          <a:p>
            <a:pPr indent="0" marL="0">
              <a:buNone/>
            </a:pPr>
            <a:r>
              <a:rPr lang="en-US" sz="3200" b="1" dirty="0">
                <a:solidFill>
                  <a:srgbClr val="F5F2FA"/>
                </a:solidFill>
                <a:latin typeface="Arial" pitchFamily="34" charset="0"/>
                <a:ea typeface="Arial" pitchFamily="34" charset="-122"/>
                <a:cs typeface="Arial" pitchFamily="34" charset="-120"/>
              </a:rPr>
              <a:t>One Vector Per Chunk — Not Per Document</a:t>
            </a:r>
            <a:endParaRPr lang="en-US" sz="3200" dirty="0"/>
          </a:p>
        </p:txBody>
      </p:sp>
      <p:sp>
        <p:nvSpPr>
          <p:cNvPr id="7" name="Shape 4"/>
          <p:cNvSpPr/>
          <p:nvPr/>
        </p:nvSpPr>
        <p:spPr>
          <a:xfrm>
            <a:off x="548640" y="1691640"/>
            <a:ext cx="3200400" cy="1554480"/>
          </a:xfrm>
          <a:prstGeom prst="roundRect">
            <a:avLst>
              <a:gd name="adj" fmla="val 8235"/>
            </a:avLst>
          </a:prstGeom>
          <a:solidFill>
            <a:srgbClr val="262038"/>
          </a:solidFill>
          <a:ln w="12700">
            <a:solidFill>
              <a:srgbClr val="262038"/>
            </a:solidFill>
            <a:prstDash val="solid"/>
          </a:ln>
        </p:spPr>
      </p:sp>
      <p:sp>
        <p:nvSpPr>
          <p:cNvPr id="8" name="Text 5"/>
          <p:cNvSpPr/>
          <p:nvPr/>
        </p:nvSpPr>
        <p:spPr>
          <a:xfrm>
            <a:off x="822960" y="1920240"/>
            <a:ext cx="2651760" cy="256032"/>
          </a:xfrm>
          <a:prstGeom prst="rect">
            <a:avLst/>
          </a:prstGeom>
          <a:noFill/>
          <a:ln/>
        </p:spPr>
        <p:txBody>
          <a:bodyPr wrap="square" lIns="0" tIns="0" rIns="0" bIns="0" rtlCol="0" anchor="ctr"/>
          <a:lstStyle/>
          <a:p>
            <a:pPr indent="0" marL="0">
              <a:buNone/>
            </a:pPr>
            <a:r>
              <a:rPr lang="en-US" sz="1100" b="1" spc="150" kern="0" dirty="0">
                <a:solidFill>
                  <a:srgbClr val="A79DBF"/>
                </a:solidFill>
                <a:latin typeface="Arial" pitchFamily="34" charset="0"/>
                <a:ea typeface="Arial" pitchFamily="34" charset="-122"/>
                <a:cs typeface="Arial" pitchFamily="34" charset="-120"/>
              </a:rPr>
              <a:t>INPUT</a:t>
            </a:r>
            <a:endParaRPr lang="en-US" sz="1100" dirty="0"/>
          </a:p>
        </p:txBody>
      </p:sp>
      <p:sp>
        <p:nvSpPr>
          <p:cNvPr id="9" name="Text 6"/>
          <p:cNvSpPr/>
          <p:nvPr/>
        </p:nvSpPr>
        <p:spPr>
          <a:xfrm>
            <a:off x="822960" y="2240280"/>
            <a:ext cx="2651760" cy="411480"/>
          </a:xfrm>
          <a:prstGeom prst="rect">
            <a:avLst/>
          </a:prstGeom>
          <a:noFill/>
          <a:ln/>
        </p:spPr>
        <p:txBody>
          <a:bodyPr wrap="square" lIns="0" tIns="0" rIns="0" bIns="0" rtlCol="0" anchor="ctr"/>
          <a:lstStyle/>
          <a:p>
            <a:pPr indent="0" marL="0">
              <a:buNone/>
            </a:pPr>
            <a:r>
              <a:rPr lang="en-US" sz="2400" b="1" dirty="0">
                <a:solidFill>
                  <a:srgbClr val="F5F2FA"/>
                </a:solidFill>
                <a:latin typeface="Arial" pitchFamily="34" charset="0"/>
                <a:ea typeface="Arial" pitchFamily="34" charset="-122"/>
                <a:cs typeface="Arial" pitchFamily="34" charset="-120"/>
              </a:rPr>
              <a:t>1 document</a:t>
            </a:r>
            <a:endParaRPr lang="en-US" sz="2400" dirty="0"/>
          </a:p>
        </p:txBody>
      </p:sp>
      <p:sp>
        <p:nvSpPr>
          <p:cNvPr id="10" name="Text 7"/>
          <p:cNvSpPr/>
          <p:nvPr/>
        </p:nvSpPr>
        <p:spPr>
          <a:xfrm>
            <a:off x="822960" y="2715768"/>
            <a:ext cx="2651760" cy="274320"/>
          </a:xfrm>
          <a:prstGeom prst="rect">
            <a:avLst/>
          </a:prstGeom>
          <a:noFill/>
          <a:ln/>
        </p:spPr>
        <p:txBody>
          <a:bodyPr wrap="square" lIns="0" tIns="0" rIns="0" bIns="0" rtlCol="0" anchor="ctr"/>
          <a:lstStyle/>
          <a:p>
            <a:pPr indent="0" marL="0">
              <a:buNone/>
            </a:pPr>
            <a:r>
              <a:rPr lang="en-US" sz="1300" dirty="0">
                <a:solidFill>
                  <a:srgbClr val="A79DBF"/>
                </a:solidFill>
                <a:latin typeface="Calibri" pitchFamily="34" charset="0"/>
                <a:ea typeface="Calibri" pitchFamily="34" charset="-122"/>
                <a:cs typeface="Calibri" pitchFamily="34" charset="-120"/>
              </a:rPr>
              <a:t>about 50 lines</a:t>
            </a:r>
            <a:endParaRPr lang="en-US" sz="1300" dirty="0"/>
          </a:p>
        </p:txBody>
      </p:sp>
      <p:sp>
        <p:nvSpPr>
          <p:cNvPr id="11" name="Shape 8"/>
          <p:cNvSpPr/>
          <p:nvPr/>
        </p:nvSpPr>
        <p:spPr>
          <a:xfrm>
            <a:off x="3858768" y="2468880"/>
            <a:ext cx="512064" cy="0"/>
          </a:xfrm>
          <a:prstGeom prst="line">
            <a:avLst/>
          </a:prstGeom>
          <a:noFill/>
          <a:ln w="31750">
            <a:solidFill>
              <a:srgbClr val="8B7FD7"/>
            </a:solidFill>
            <a:prstDash val="solid"/>
            <a:tailEnd type="triangle"/>
          </a:ln>
        </p:spPr>
      </p:sp>
      <p:sp>
        <p:nvSpPr>
          <p:cNvPr id="12" name="Shape 9"/>
          <p:cNvSpPr/>
          <p:nvPr/>
        </p:nvSpPr>
        <p:spPr>
          <a:xfrm>
            <a:off x="4480560" y="1691640"/>
            <a:ext cx="3200400" cy="1554480"/>
          </a:xfrm>
          <a:prstGeom prst="roundRect">
            <a:avLst>
              <a:gd name="adj" fmla="val 8235"/>
            </a:avLst>
          </a:prstGeom>
          <a:solidFill>
            <a:srgbClr val="262038"/>
          </a:solidFill>
          <a:ln w="12700">
            <a:solidFill>
              <a:srgbClr val="262038"/>
            </a:solidFill>
            <a:prstDash val="solid"/>
          </a:ln>
        </p:spPr>
      </p:sp>
      <p:sp>
        <p:nvSpPr>
          <p:cNvPr id="13" name="Text 10"/>
          <p:cNvSpPr/>
          <p:nvPr/>
        </p:nvSpPr>
        <p:spPr>
          <a:xfrm>
            <a:off x="4754880" y="1920240"/>
            <a:ext cx="2651760" cy="256032"/>
          </a:xfrm>
          <a:prstGeom prst="rect">
            <a:avLst/>
          </a:prstGeom>
          <a:noFill/>
          <a:ln/>
        </p:spPr>
        <p:txBody>
          <a:bodyPr wrap="square" lIns="0" tIns="0" rIns="0" bIns="0" rtlCol="0" anchor="ctr"/>
          <a:lstStyle/>
          <a:p>
            <a:pPr indent="0" marL="0">
              <a:buNone/>
            </a:pPr>
            <a:r>
              <a:rPr lang="en-US" sz="1100" b="1" spc="150" kern="0" dirty="0">
                <a:solidFill>
                  <a:srgbClr val="A79DBF"/>
                </a:solidFill>
                <a:latin typeface="Arial" pitchFamily="34" charset="0"/>
                <a:ea typeface="Arial" pitchFamily="34" charset="-122"/>
                <a:cs typeface="Arial" pitchFamily="34" charset="-120"/>
              </a:rPr>
              <a:t>SPLIT</a:t>
            </a:r>
            <a:endParaRPr lang="en-US" sz="1100" dirty="0"/>
          </a:p>
        </p:txBody>
      </p:sp>
      <p:sp>
        <p:nvSpPr>
          <p:cNvPr id="14" name="Text 11"/>
          <p:cNvSpPr/>
          <p:nvPr/>
        </p:nvSpPr>
        <p:spPr>
          <a:xfrm>
            <a:off x="4754880" y="2240280"/>
            <a:ext cx="2651760" cy="411480"/>
          </a:xfrm>
          <a:prstGeom prst="rect">
            <a:avLst/>
          </a:prstGeom>
          <a:noFill/>
          <a:ln/>
        </p:spPr>
        <p:txBody>
          <a:bodyPr wrap="square" lIns="0" tIns="0" rIns="0" bIns="0" rtlCol="0" anchor="ctr"/>
          <a:lstStyle/>
          <a:p>
            <a:pPr indent="0" marL="0">
              <a:buNone/>
            </a:pPr>
            <a:r>
              <a:rPr lang="en-US" sz="2400" b="1" dirty="0">
                <a:solidFill>
                  <a:srgbClr val="F5F2FA"/>
                </a:solidFill>
                <a:latin typeface="Arial" pitchFamily="34" charset="0"/>
                <a:ea typeface="Arial" pitchFamily="34" charset="-122"/>
                <a:cs typeface="Arial" pitchFamily="34" charset="-120"/>
              </a:rPr>
              <a:t>5 chunks</a:t>
            </a:r>
            <a:endParaRPr lang="en-US" sz="2400" dirty="0"/>
          </a:p>
        </p:txBody>
      </p:sp>
      <p:sp>
        <p:nvSpPr>
          <p:cNvPr id="15" name="Text 12"/>
          <p:cNvSpPr/>
          <p:nvPr/>
        </p:nvSpPr>
        <p:spPr>
          <a:xfrm>
            <a:off x="4754880" y="2715768"/>
            <a:ext cx="2651760" cy="274320"/>
          </a:xfrm>
          <a:prstGeom prst="rect">
            <a:avLst/>
          </a:prstGeom>
          <a:noFill/>
          <a:ln/>
        </p:spPr>
        <p:txBody>
          <a:bodyPr wrap="square" lIns="0" tIns="0" rIns="0" bIns="0" rtlCol="0" anchor="ctr"/>
          <a:lstStyle/>
          <a:p>
            <a:pPr indent="0" marL="0">
              <a:buNone/>
            </a:pPr>
            <a:r>
              <a:rPr lang="en-US" sz="1300" dirty="0">
                <a:solidFill>
                  <a:srgbClr val="A79DBF"/>
                </a:solidFill>
                <a:latin typeface="Calibri" pitchFamily="34" charset="0"/>
                <a:ea typeface="Calibri" pitchFamily="34" charset="-122"/>
                <a:cs typeface="Calibri" pitchFamily="34" charset="-120"/>
              </a:rPr>
              <a:t>about 10 lines each</a:t>
            </a:r>
            <a:endParaRPr lang="en-US" sz="1300" dirty="0"/>
          </a:p>
        </p:txBody>
      </p:sp>
      <p:sp>
        <p:nvSpPr>
          <p:cNvPr id="16" name="Shape 13"/>
          <p:cNvSpPr/>
          <p:nvPr/>
        </p:nvSpPr>
        <p:spPr>
          <a:xfrm>
            <a:off x="7790688" y="2468880"/>
            <a:ext cx="512064" cy="0"/>
          </a:xfrm>
          <a:prstGeom prst="line">
            <a:avLst/>
          </a:prstGeom>
          <a:noFill/>
          <a:ln w="31750">
            <a:solidFill>
              <a:srgbClr val="8B7FD7"/>
            </a:solidFill>
            <a:prstDash val="solid"/>
            <a:tailEnd type="triangle"/>
          </a:ln>
        </p:spPr>
      </p:sp>
      <p:sp>
        <p:nvSpPr>
          <p:cNvPr id="17" name="Shape 14"/>
          <p:cNvSpPr/>
          <p:nvPr/>
        </p:nvSpPr>
        <p:spPr>
          <a:xfrm>
            <a:off x="8412480" y="1691640"/>
            <a:ext cx="3200400" cy="1554480"/>
          </a:xfrm>
          <a:prstGeom prst="roundRect">
            <a:avLst>
              <a:gd name="adj" fmla="val 8235"/>
            </a:avLst>
          </a:prstGeom>
          <a:solidFill>
            <a:srgbClr val="262038"/>
          </a:solidFill>
          <a:ln w="12700">
            <a:solidFill>
              <a:srgbClr val="262038"/>
            </a:solidFill>
            <a:prstDash val="solid"/>
          </a:ln>
        </p:spPr>
      </p:sp>
      <p:sp>
        <p:nvSpPr>
          <p:cNvPr id="18" name="Text 15"/>
          <p:cNvSpPr/>
          <p:nvPr/>
        </p:nvSpPr>
        <p:spPr>
          <a:xfrm>
            <a:off x="8686800" y="1920240"/>
            <a:ext cx="2651760" cy="256032"/>
          </a:xfrm>
          <a:prstGeom prst="rect">
            <a:avLst/>
          </a:prstGeom>
          <a:noFill/>
          <a:ln/>
        </p:spPr>
        <p:txBody>
          <a:bodyPr wrap="square" lIns="0" tIns="0" rIns="0" bIns="0" rtlCol="0" anchor="ctr"/>
          <a:lstStyle/>
          <a:p>
            <a:pPr indent="0" marL="0">
              <a:buNone/>
            </a:pPr>
            <a:r>
              <a:rPr lang="en-US" sz="1100" b="1" spc="150" kern="0" dirty="0">
                <a:solidFill>
                  <a:srgbClr val="A79DBF"/>
                </a:solidFill>
                <a:latin typeface="Arial" pitchFamily="34" charset="0"/>
                <a:ea typeface="Arial" pitchFamily="34" charset="-122"/>
                <a:cs typeface="Arial" pitchFamily="34" charset="-120"/>
              </a:rPr>
              <a:t>EMBED</a:t>
            </a:r>
            <a:endParaRPr lang="en-US" sz="1100" dirty="0"/>
          </a:p>
        </p:txBody>
      </p:sp>
      <p:sp>
        <p:nvSpPr>
          <p:cNvPr id="19" name="Text 16"/>
          <p:cNvSpPr/>
          <p:nvPr/>
        </p:nvSpPr>
        <p:spPr>
          <a:xfrm>
            <a:off x="8686800" y="2240280"/>
            <a:ext cx="2651760" cy="411480"/>
          </a:xfrm>
          <a:prstGeom prst="rect">
            <a:avLst/>
          </a:prstGeom>
          <a:noFill/>
          <a:ln/>
        </p:spPr>
        <p:txBody>
          <a:bodyPr wrap="square" lIns="0" tIns="0" rIns="0" bIns="0" rtlCol="0" anchor="ctr"/>
          <a:lstStyle/>
          <a:p>
            <a:pPr indent="0" marL="0">
              <a:buNone/>
            </a:pPr>
            <a:r>
              <a:rPr lang="en-US" sz="2400" b="1" dirty="0">
                <a:solidFill>
                  <a:srgbClr val="EA4B71"/>
                </a:solidFill>
                <a:latin typeface="Arial" pitchFamily="34" charset="0"/>
                <a:ea typeface="Arial" pitchFamily="34" charset="-122"/>
                <a:cs typeface="Arial" pitchFamily="34" charset="-120"/>
              </a:rPr>
              <a:t>5 vectors</a:t>
            </a:r>
            <a:endParaRPr lang="en-US" sz="2400" dirty="0"/>
          </a:p>
        </p:txBody>
      </p:sp>
      <p:sp>
        <p:nvSpPr>
          <p:cNvPr id="20" name="Text 17"/>
          <p:cNvSpPr/>
          <p:nvPr/>
        </p:nvSpPr>
        <p:spPr>
          <a:xfrm>
            <a:off x="8686800" y="2715768"/>
            <a:ext cx="2651760" cy="274320"/>
          </a:xfrm>
          <a:prstGeom prst="rect">
            <a:avLst/>
          </a:prstGeom>
          <a:noFill/>
          <a:ln/>
        </p:spPr>
        <p:txBody>
          <a:bodyPr wrap="square" lIns="0" tIns="0" rIns="0" bIns="0" rtlCol="0" anchor="ctr"/>
          <a:lstStyle/>
          <a:p>
            <a:pPr indent="0" marL="0">
              <a:buNone/>
            </a:pPr>
            <a:r>
              <a:rPr lang="en-US" sz="1300" dirty="0">
                <a:solidFill>
                  <a:srgbClr val="A79DBF"/>
                </a:solidFill>
                <a:latin typeface="Calibri" pitchFamily="34" charset="0"/>
                <a:ea typeface="Calibri" pitchFamily="34" charset="-122"/>
                <a:cs typeface="Calibri" pitchFamily="34" charset="-120"/>
              </a:rPr>
              <a:t>1,536 numbers each</a:t>
            </a:r>
            <a:endParaRPr lang="en-US" sz="1300" dirty="0"/>
          </a:p>
        </p:txBody>
      </p:sp>
      <p:sp>
        <p:nvSpPr>
          <p:cNvPr id="21" name="Shape 18"/>
          <p:cNvSpPr/>
          <p:nvPr/>
        </p:nvSpPr>
        <p:spPr>
          <a:xfrm>
            <a:off x="548640" y="3703320"/>
            <a:ext cx="5394960" cy="1737360"/>
          </a:xfrm>
          <a:prstGeom prst="roundRect">
            <a:avLst>
              <a:gd name="adj" fmla="val 7368"/>
            </a:avLst>
          </a:prstGeom>
          <a:solidFill>
            <a:srgbClr val="262038"/>
          </a:solidFill>
          <a:ln w="12700">
            <a:solidFill>
              <a:srgbClr val="262038"/>
            </a:solidFill>
            <a:prstDash val="solid"/>
          </a:ln>
        </p:spPr>
      </p:sp>
      <p:sp>
        <p:nvSpPr>
          <p:cNvPr id="22" name="Shape 19"/>
          <p:cNvSpPr/>
          <p:nvPr/>
        </p:nvSpPr>
        <p:spPr>
          <a:xfrm>
            <a:off x="868680" y="3977640"/>
            <a:ext cx="566928" cy="566928"/>
          </a:xfrm>
          <a:prstGeom prst="ellipse">
            <a:avLst/>
          </a:prstGeom>
          <a:solidFill>
            <a:srgbClr val="2E2745"/>
          </a:solidFill>
          <a:ln w="12700">
            <a:solidFill>
              <a:srgbClr val="2E2745"/>
            </a:solidFill>
            <a:prstDash val="solid"/>
          </a:ln>
        </p:spPr>
      </p:sp>
      <p:pic>
        <p:nvPicPr>
          <p:cNvPr id="23" name="Image 1" descr="preencoded.png">    </p:cNvPr>
          <p:cNvPicPr>
            <a:picLocks noChangeAspect="1"/>
          </p:cNvPicPr>
          <p:nvPr/>
        </p:nvPicPr>
        <p:blipFill>
          <a:blip r:embed="rId2"/>
          <a:stretch>
            <a:fillRect/>
          </a:stretch>
        </p:blipFill>
        <p:spPr>
          <a:xfrm>
            <a:off x="1027420" y="4136380"/>
            <a:ext cx="249448" cy="249448"/>
          </a:xfrm>
          <a:prstGeom prst="rect">
            <a:avLst/>
          </a:prstGeom>
        </p:spPr>
      </p:pic>
      <p:sp>
        <p:nvSpPr>
          <p:cNvPr id="24" name="Text 20"/>
          <p:cNvSpPr/>
          <p:nvPr/>
        </p:nvSpPr>
        <p:spPr>
          <a:xfrm>
            <a:off x="1600200" y="4005072"/>
            <a:ext cx="4023360" cy="310896"/>
          </a:xfrm>
          <a:prstGeom prst="rect">
            <a:avLst/>
          </a:prstGeom>
          <a:noFill/>
          <a:ln/>
        </p:spPr>
        <p:txBody>
          <a:bodyPr wrap="square" lIns="0" tIns="0" rIns="0" bIns="0" rtlCol="0" anchor="ctr"/>
          <a:lstStyle/>
          <a:p>
            <a:pPr indent="0" marL="0">
              <a:buNone/>
            </a:pPr>
            <a:r>
              <a:rPr lang="en-US" sz="1600" b="1" dirty="0">
                <a:solidFill>
                  <a:srgbClr val="F5F2FA"/>
                </a:solidFill>
                <a:latin typeface="Arial" pitchFamily="34" charset="0"/>
                <a:ea typeface="Arial" pitchFamily="34" charset="-122"/>
                <a:cs typeface="Arial" pitchFamily="34" charset="-120"/>
              </a:rPr>
              <a:t>Why not one vector per document?</a:t>
            </a:r>
            <a:endParaRPr lang="en-US" sz="1600" dirty="0"/>
          </a:p>
        </p:txBody>
      </p:sp>
      <p:sp>
        <p:nvSpPr>
          <p:cNvPr id="25" name="Text 21"/>
          <p:cNvSpPr/>
          <p:nvPr/>
        </p:nvSpPr>
        <p:spPr>
          <a:xfrm>
            <a:off x="1600200" y="4407408"/>
            <a:ext cx="4023360" cy="822960"/>
          </a:xfrm>
          <a:prstGeom prst="rect">
            <a:avLst/>
          </a:prstGeom>
          <a:noFill/>
          <a:ln/>
        </p:spPr>
        <p:txBody>
          <a:bodyPr wrap="square" lIns="0" tIns="0" rIns="0" bIns="0" rtlCol="0" anchor="ctr"/>
          <a:lstStyle/>
          <a:p>
            <a:pPr indent="0" marL="0">
              <a:buNone/>
            </a:pPr>
            <a:r>
              <a:rPr lang="en-US" sz="1350" dirty="0">
                <a:solidFill>
                  <a:srgbClr val="A79DBF"/>
                </a:solidFill>
                <a:latin typeface="Calibri" pitchFamily="34" charset="0"/>
                <a:ea typeface="Calibri" pitchFamily="34" charset="-122"/>
                <a:cs typeface="Calibri" pitchFamily="34" charset="-120"/>
              </a:rPr>
              <a:t>A question about one line would have to match the meaning of all fifty. The match goes weak.</a:t>
            </a:r>
            <a:endParaRPr lang="en-US" sz="1350" dirty="0"/>
          </a:p>
        </p:txBody>
      </p:sp>
      <p:sp>
        <p:nvSpPr>
          <p:cNvPr id="26" name="Shape 22"/>
          <p:cNvSpPr/>
          <p:nvPr/>
        </p:nvSpPr>
        <p:spPr>
          <a:xfrm>
            <a:off x="6245352" y="3703320"/>
            <a:ext cx="5394960" cy="1737360"/>
          </a:xfrm>
          <a:prstGeom prst="roundRect">
            <a:avLst>
              <a:gd name="adj" fmla="val 7368"/>
            </a:avLst>
          </a:prstGeom>
          <a:solidFill>
            <a:srgbClr val="262038"/>
          </a:solidFill>
          <a:ln w="12700">
            <a:solidFill>
              <a:srgbClr val="262038"/>
            </a:solidFill>
            <a:prstDash val="solid"/>
          </a:ln>
        </p:spPr>
      </p:sp>
      <p:sp>
        <p:nvSpPr>
          <p:cNvPr id="27" name="Shape 23"/>
          <p:cNvSpPr/>
          <p:nvPr/>
        </p:nvSpPr>
        <p:spPr>
          <a:xfrm>
            <a:off x="6565392" y="3977640"/>
            <a:ext cx="566928" cy="566928"/>
          </a:xfrm>
          <a:prstGeom prst="ellipse">
            <a:avLst/>
          </a:prstGeom>
          <a:solidFill>
            <a:srgbClr val="2E2745"/>
          </a:solidFill>
          <a:ln w="12700">
            <a:solidFill>
              <a:srgbClr val="2E2745"/>
            </a:solidFill>
            <a:prstDash val="solid"/>
          </a:ln>
        </p:spPr>
      </p:sp>
      <p:pic>
        <p:nvPicPr>
          <p:cNvPr id="28" name="Image 2" descr="preencoded.png">    </p:cNvPr>
          <p:cNvPicPr>
            <a:picLocks noChangeAspect="1"/>
          </p:cNvPicPr>
          <p:nvPr/>
        </p:nvPicPr>
        <p:blipFill>
          <a:blip r:embed="rId3"/>
          <a:stretch>
            <a:fillRect/>
          </a:stretch>
        </p:blipFill>
        <p:spPr>
          <a:xfrm>
            <a:off x="6724132" y="4136380"/>
            <a:ext cx="249448" cy="249448"/>
          </a:xfrm>
          <a:prstGeom prst="rect">
            <a:avLst/>
          </a:prstGeom>
        </p:spPr>
      </p:pic>
      <p:sp>
        <p:nvSpPr>
          <p:cNvPr id="29" name="Text 24"/>
          <p:cNvSpPr/>
          <p:nvPr/>
        </p:nvSpPr>
        <p:spPr>
          <a:xfrm>
            <a:off x="7296912" y="4005072"/>
            <a:ext cx="4023360" cy="310896"/>
          </a:xfrm>
          <a:prstGeom prst="rect">
            <a:avLst/>
          </a:prstGeom>
          <a:noFill/>
          <a:ln/>
        </p:spPr>
        <p:txBody>
          <a:bodyPr wrap="square" lIns="0" tIns="0" rIns="0" bIns="0" rtlCol="0" anchor="ctr"/>
          <a:lstStyle/>
          <a:p>
            <a:pPr indent="0" marL="0">
              <a:buNone/>
            </a:pPr>
            <a:r>
              <a:rPr lang="en-US" sz="1600" b="1" dirty="0">
                <a:solidFill>
                  <a:srgbClr val="F5F2FA"/>
                </a:solidFill>
                <a:latin typeface="Arial" pitchFamily="34" charset="0"/>
                <a:ea typeface="Arial" pitchFamily="34" charset="-122"/>
                <a:cs typeface="Arial" pitchFamily="34" charset="-120"/>
              </a:rPr>
              <a:t>Who picks 1,536?</a:t>
            </a:r>
            <a:endParaRPr lang="en-US" sz="1600" dirty="0"/>
          </a:p>
        </p:txBody>
      </p:sp>
      <p:sp>
        <p:nvSpPr>
          <p:cNvPr id="30" name="Text 25"/>
          <p:cNvSpPr/>
          <p:nvPr/>
        </p:nvSpPr>
        <p:spPr>
          <a:xfrm>
            <a:off x="7296912" y="4407408"/>
            <a:ext cx="4023360" cy="822960"/>
          </a:xfrm>
          <a:prstGeom prst="rect">
            <a:avLst/>
          </a:prstGeom>
          <a:noFill/>
          <a:ln/>
        </p:spPr>
        <p:txBody>
          <a:bodyPr wrap="square" lIns="0" tIns="0" rIns="0" bIns="0" rtlCol="0" anchor="ctr"/>
          <a:lstStyle/>
          <a:p>
            <a:pPr indent="0" marL="0">
              <a:buNone/>
            </a:pPr>
            <a:r>
              <a:rPr lang="en-US" sz="1350" dirty="0">
                <a:solidFill>
                  <a:srgbClr val="A79DBF"/>
                </a:solidFill>
                <a:latin typeface="Calibri" pitchFamily="34" charset="0"/>
                <a:ea typeface="Calibri" pitchFamily="34" charset="-122"/>
                <a:cs typeface="Calibri" pitchFamily="34" charset="-120"/>
              </a:rPr>
              <a:t>OpenAI did, when the model was built. It is a property of the model — not a setting you choose.</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B1526"/>
        </a:solidFill>
      </p:bgPr>
    </p:bg>
    <p:spTree>
      <p:nvGrpSpPr>
        <p:cNvPr id="1" name=""/>
        <p:cNvGrpSpPr/>
        <p:nvPr/>
      </p:nvGrpSpPr>
      <p:grpSpPr>
        <a:xfrm>
          <a:off x="0" y="0"/>
          <a:ext cx="0" cy="0"/>
          <a:chOff x="0" y="0"/>
          <a:chExt cx="0" cy="0"/>
        </a:xfrm>
      </p:grpSpPr>
      <p:sp>
        <p:nvSpPr>
          <p:cNvPr id="2" name="Text 0"/>
          <p:cNvSpPr/>
          <p:nvPr/>
        </p:nvSpPr>
        <p:spPr>
          <a:xfrm>
            <a:off x="548640" y="6263640"/>
            <a:ext cx="3657600" cy="274320"/>
          </a:xfrm>
          <a:prstGeom prst="rect">
            <a:avLst/>
          </a:prstGeom>
          <a:noFill/>
          <a:ln/>
        </p:spPr>
        <p:txBody>
          <a:bodyPr wrap="square" lIns="0" tIns="0" rIns="0" bIns="0" rtlCol="0" anchor="ctr"/>
          <a:lstStyle/>
          <a:p>
            <a:pPr indent="0" marL="0">
              <a:buNone/>
            </a:pPr>
            <a:r>
              <a:rPr lang="en-US" sz="1000" dirty="0">
                <a:solidFill>
                  <a:srgbClr val="A79DBF"/>
                </a:solidFill>
                <a:latin typeface="Calibri" pitchFamily="34" charset="0"/>
                <a:ea typeface="Calibri" pitchFamily="34" charset="-122"/>
                <a:cs typeface="Calibri" pitchFamily="34" charset="-120"/>
              </a:rPr>
              <a:t>Agentive Solutions</a:t>
            </a:r>
            <a:endParaRPr lang="en-US" sz="1000" dirty="0"/>
          </a:p>
        </p:txBody>
      </p:sp>
      <p:sp>
        <p:nvSpPr>
          <p:cNvPr id="3" name="Text 1"/>
          <p:cNvSpPr/>
          <p:nvPr/>
        </p:nvSpPr>
        <p:spPr>
          <a:xfrm>
            <a:off x="7955280" y="6263640"/>
            <a:ext cx="3685032" cy="274320"/>
          </a:xfrm>
          <a:prstGeom prst="rect">
            <a:avLst/>
          </a:prstGeom>
          <a:noFill/>
          <a:ln/>
        </p:spPr>
        <p:txBody>
          <a:bodyPr wrap="square" lIns="0" tIns="0" rIns="0" bIns="0" rtlCol="0" anchor="ctr"/>
          <a:lstStyle/>
          <a:p>
            <a:pPr algn="r" indent="0" marL="0">
              <a:buNone/>
            </a:pPr>
            <a:r>
              <a:rPr lang="en-US" sz="1000" dirty="0">
                <a:solidFill>
                  <a:srgbClr val="A79DBF"/>
                </a:solidFill>
                <a:latin typeface="Calibri" pitchFamily="34" charset="0"/>
                <a:ea typeface="Calibri" pitchFamily="34" charset="-122"/>
                <a:cs typeface="Calibri" pitchFamily="34" charset="-120"/>
              </a:rPr>
              <a:t>RAG for Automation · Lesson 02</a:t>
            </a:r>
            <a:endParaRPr lang="en-US" sz="1000" dirty="0"/>
          </a:p>
        </p:txBody>
      </p:sp>
      <p:sp>
        <p:nvSpPr>
          <p:cNvPr id="4" name="Shape 2"/>
          <p:cNvSpPr/>
          <p:nvPr/>
        </p:nvSpPr>
        <p:spPr>
          <a:xfrm>
            <a:off x="548640" y="548640"/>
            <a:ext cx="566928" cy="566928"/>
          </a:xfrm>
          <a:prstGeom prst="ellipse">
            <a:avLst/>
          </a:prstGeom>
          <a:solidFill>
            <a:srgbClr val="2E2745"/>
          </a:solidFill>
          <a:ln w="12700">
            <a:solidFill>
              <a:srgbClr val="2E2745"/>
            </a:solidFill>
            <a:prstDash val="solid"/>
          </a:ln>
        </p:spPr>
      </p:sp>
      <p:pic>
        <p:nvPicPr>
          <p:cNvPr id="5" name="Image 0" descr="preencoded.png">    </p:cNvPr>
          <p:cNvPicPr>
            <a:picLocks noChangeAspect="1"/>
          </p:cNvPicPr>
          <p:nvPr/>
        </p:nvPicPr>
        <p:blipFill>
          <a:blip r:embed="rId1"/>
          <a:stretch>
            <a:fillRect/>
          </a:stretch>
        </p:blipFill>
        <p:spPr>
          <a:xfrm>
            <a:off x="707380" y="707380"/>
            <a:ext cx="249448" cy="249448"/>
          </a:xfrm>
          <a:prstGeom prst="rect">
            <a:avLst/>
          </a:prstGeom>
        </p:spPr>
      </p:pic>
      <p:sp>
        <p:nvSpPr>
          <p:cNvPr id="6" name="Text 3"/>
          <p:cNvSpPr/>
          <p:nvPr/>
        </p:nvSpPr>
        <p:spPr>
          <a:xfrm>
            <a:off x="1298448" y="530352"/>
            <a:ext cx="10058400" cy="603504"/>
          </a:xfrm>
          <a:prstGeom prst="rect">
            <a:avLst/>
          </a:prstGeom>
          <a:noFill/>
          <a:ln/>
        </p:spPr>
        <p:txBody>
          <a:bodyPr wrap="square" lIns="0" tIns="0" rIns="0" bIns="0" rtlCol="0" anchor="ctr"/>
          <a:lstStyle/>
          <a:p>
            <a:pPr indent="0" marL="0">
              <a:buNone/>
            </a:pPr>
            <a:r>
              <a:rPr lang="en-US" sz="3400" b="1" dirty="0">
                <a:solidFill>
                  <a:srgbClr val="F5F2FA"/>
                </a:solidFill>
                <a:latin typeface="Arial" pitchFamily="34" charset="0"/>
                <a:ea typeface="Arial" pitchFamily="34" charset="-122"/>
                <a:cs typeface="Arial" pitchFamily="34" charset="-120"/>
              </a:rPr>
              <a:t>Reading a Cosine Score</a:t>
            </a:r>
            <a:endParaRPr lang="en-US" sz="3400" dirty="0"/>
          </a:p>
        </p:txBody>
      </p:sp>
      <p:sp>
        <p:nvSpPr>
          <p:cNvPr id="7" name="Text 4"/>
          <p:cNvSpPr/>
          <p:nvPr/>
        </p:nvSpPr>
        <p:spPr>
          <a:xfrm>
            <a:off x="548640" y="1298448"/>
            <a:ext cx="10058400" cy="320040"/>
          </a:xfrm>
          <a:prstGeom prst="rect">
            <a:avLst/>
          </a:prstGeom>
          <a:noFill/>
          <a:ln/>
        </p:spPr>
        <p:txBody>
          <a:bodyPr wrap="square" lIns="0" tIns="0" rIns="0" bIns="0" rtlCol="0" anchor="ctr"/>
          <a:lstStyle/>
          <a:p>
            <a:pPr indent="0" marL="0">
              <a:buNone/>
            </a:pPr>
            <a:r>
              <a:rPr lang="en-US" sz="1600" dirty="0">
                <a:solidFill>
                  <a:srgbClr val="A79DBF"/>
                </a:solidFill>
                <a:latin typeface="Calibri" pitchFamily="34" charset="0"/>
                <a:ea typeface="Calibri" pitchFamily="34" charset="-122"/>
                <a:cs typeface="Calibri" pitchFamily="34" charset="-120"/>
              </a:rPr>
              <a:t>How close do two vectors point in the same direction?</a:t>
            </a:r>
            <a:endParaRPr lang="en-US" sz="1600" dirty="0"/>
          </a:p>
        </p:txBody>
      </p:sp>
      <p:sp>
        <p:nvSpPr>
          <p:cNvPr id="8" name="Text 5"/>
          <p:cNvSpPr/>
          <p:nvPr/>
        </p:nvSpPr>
        <p:spPr>
          <a:xfrm>
            <a:off x="548640" y="1965960"/>
            <a:ext cx="457200" cy="237744"/>
          </a:xfrm>
          <a:prstGeom prst="rect">
            <a:avLst/>
          </a:prstGeom>
          <a:noFill/>
          <a:ln/>
        </p:spPr>
        <p:txBody>
          <a:bodyPr wrap="square" lIns="0" tIns="0" rIns="0" bIns="0" rtlCol="0" anchor="ctr"/>
          <a:lstStyle/>
          <a:p>
            <a:pPr indent="0" marL="0">
              <a:buNone/>
            </a:pPr>
            <a:r>
              <a:rPr lang="en-US" sz="1100" dirty="0">
                <a:solidFill>
                  <a:srgbClr val="A79DBF"/>
                </a:solidFill>
                <a:latin typeface="Calibri" pitchFamily="34" charset="0"/>
                <a:ea typeface="Calibri" pitchFamily="34" charset="-122"/>
                <a:cs typeface="Calibri" pitchFamily="34" charset="-120"/>
              </a:rPr>
              <a:t>0</a:t>
            </a:r>
            <a:endParaRPr lang="en-US" sz="1100" dirty="0"/>
          </a:p>
        </p:txBody>
      </p:sp>
      <p:sp>
        <p:nvSpPr>
          <p:cNvPr id="9" name="Text 6"/>
          <p:cNvSpPr/>
          <p:nvPr/>
        </p:nvSpPr>
        <p:spPr>
          <a:xfrm>
            <a:off x="10972800" y="1965960"/>
            <a:ext cx="667512" cy="237744"/>
          </a:xfrm>
          <a:prstGeom prst="rect">
            <a:avLst/>
          </a:prstGeom>
          <a:noFill/>
          <a:ln/>
        </p:spPr>
        <p:txBody>
          <a:bodyPr wrap="square" lIns="0" tIns="0" rIns="0" bIns="0" rtlCol="0" anchor="ctr"/>
          <a:lstStyle/>
          <a:p>
            <a:pPr algn="r" indent="0" marL="0">
              <a:buNone/>
            </a:pPr>
            <a:r>
              <a:rPr lang="en-US" sz="1100" dirty="0">
                <a:solidFill>
                  <a:srgbClr val="A79DBF"/>
                </a:solidFill>
                <a:latin typeface="Calibri" pitchFamily="34" charset="0"/>
                <a:ea typeface="Calibri" pitchFamily="34" charset="-122"/>
                <a:cs typeface="Calibri" pitchFamily="34" charset="-120"/>
              </a:rPr>
              <a:t>1.0</a:t>
            </a:r>
            <a:endParaRPr lang="en-US" sz="1100" dirty="0"/>
          </a:p>
        </p:txBody>
      </p:sp>
      <p:sp>
        <p:nvSpPr>
          <p:cNvPr id="10" name="Shape 7"/>
          <p:cNvSpPr/>
          <p:nvPr/>
        </p:nvSpPr>
        <p:spPr>
          <a:xfrm>
            <a:off x="548640" y="2286000"/>
            <a:ext cx="2148840" cy="777240"/>
          </a:xfrm>
          <a:prstGeom prst="roundRect">
            <a:avLst>
              <a:gd name="adj" fmla="val 11765"/>
            </a:avLst>
          </a:prstGeom>
          <a:solidFill>
            <a:srgbClr val="262038"/>
          </a:solidFill>
          <a:ln w="12700">
            <a:solidFill>
              <a:srgbClr val="1B1526"/>
            </a:solidFill>
            <a:prstDash val="solid"/>
          </a:ln>
        </p:spPr>
      </p:sp>
      <p:sp>
        <p:nvSpPr>
          <p:cNvPr id="11" name="Text 8"/>
          <p:cNvSpPr/>
          <p:nvPr/>
        </p:nvSpPr>
        <p:spPr>
          <a:xfrm>
            <a:off x="548640" y="2286000"/>
            <a:ext cx="2148840" cy="777240"/>
          </a:xfrm>
          <a:prstGeom prst="rect">
            <a:avLst/>
          </a:prstGeom>
          <a:noFill/>
          <a:ln/>
        </p:spPr>
        <p:txBody>
          <a:bodyPr wrap="square" lIns="0" tIns="0" rIns="0" bIns="0" rtlCol="0" anchor="ctr"/>
          <a:lstStyle/>
          <a:p>
            <a:pPr algn="ctr" indent="0" marL="0">
              <a:buNone/>
            </a:pPr>
            <a:r>
              <a:rPr lang="en-US" sz="1700" b="1" dirty="0">
                <a:solidFill>
                  <a:srgbClr val="A79DBF"/>
                </a:solidFill>
                <a:latin typeface="Arial" pitchFamily="34" charset="0"/>
                <a:ea typeface="Arial" pitchFamily="34" charset="-122"/>
                <a:cs typeface="Arial" pitchFamily="34" charset="-120"/>
              </a:rPr>
              <a:t>0 – 0.2</a:t>
            </a:r>
            <a:endParaRPr lang="en-US" sz="1700" dirty="0"/>
          </a:p>
        </p:txBody>
      </p:sp>
      <p:sp>
        <p:nvSpPr>
          <p:cNvPr id="12" name="Text 9"/>
          <p:cNvSpPr/>
          <p:nvPr/>
        </p:nvSpPr>
        <p:spPr>
          <a:xfrm>
            <a:off x="548640" y="3182112"/>
            <a:ext cx="2148840" cy="274320"/>
          </a:xfrm>
          <a:prstGeom prst="rect">
            <a:avLst/>
          </a:prstGeom>
          <a:noFill/>
          <a:ln/>
        </p:spPr>
        <p:txBody>
          <a:bodyPr wrap="square" lIns="0" tIns="0" rIns="0" bIns="0" rtlCol="0" anchor="ctr"/>
          <a:lstStyle/>
          <a:p>
            <a:pPr algn="ctr" indent="0" marL="0">
              <a:buNone/>
            </a:pPr>
            <a:r>
              <a:rPr lang="en-US" sz="1300" dirty="0">
                <a:solidFill>
                  <a:srgbClr val="A79DBF"/>
                </a:solidFill>
                <a:latin typeface="Calibri" pitchFamily="34" charset="0"/>
                <a:ea typeface="Calibri" pitchFamily="34" charset="-122"/>
                <a:cs typeface="Calibri" pitchFamily="34" charset="-120"/>
              </a:rPr>
              <a:t>No relation</a:t>
            </a:r>
            <a:endParaRPr lang="en-US" sz="1300" dirty="0"/>
          </a:p>
        </p:txBody>
      </p:sp>
      <p:sp>
        <p:nvSpPr>
          <p:cNvPr id="13" name="Shape 10"/>
          <p:cNvSpPr/>
          <p:nvPr/>
        </p:nvSpPr>
        <p:spPr>
          <a:xfrm>
            <a:off x="2770632" y="2286000"/>
            <a:ext cx="2148840" cy="777240"/>
          </a:xfrm>
          <a:prstGeom prst="roundRect">
            <a:avLst>
              <a:gd name="adj" fmla="val 11765"/>
            </a:avLst>
          </a:prstGeom>
          <a:solidFill>
            <a:srgbClr val="262038"/>
          </a:solidFill>
          <a:ln w="12700">
            <a:solidFill>
              <a:srgbClr val="1B1526"/>
            </a:solidFill>
            <a:prstDash val="solid"/>
          </a:ln>
        </p:spPr>
      </p:sp>
      <p:sp>
        <p:nvSpPr>
          <p:cNvPr id="14" name="Text 11"/>
          <p:cNvSpPr/>
          <p:nvPr/>
        </p:nvSpPr>
        <p:spPr>
          <a:xfrm>
            <a:off x="2770632" y="2286000"/>
            <a:ext cx="2148840" cy="777240"/>
          </a:xfrm>
          <a:prstGeom prst="rect">
            <a:avLst/>
          </a:prstGeom>
          <a:noFill/>
          <a:ln/>
        </p:spPr>
        <p:txBody>
          <a:bodyPr wrap="square" lIns="0" tIns="0" rIns="0" bIns="0" rtlCol="0" anchor="ctr"/>
          <a:lstStyle/>
          <a:p>
            <a:pPr algn="ctr" indent="0" marL="0">
              <a:buNone/>
            </a:pPr>
            <a:r>
              <a:rPr lang="en-US" sz="1700" b="1" dirty="0">
                <a:solidFill>
                  <a:srgbClr val="8B7FD7"/>
                </a:solidFill>
                <a:latin typeface="Arial" pitchFamily="34" charset="0"/>
                <a:ea typeface="Arial" pitchFamily="34" charset="-122"/>
                <a:cs typeface="Arial" pitchFamily="34" charset="-120"/>
              </a:rPr>
              <a:t>0.2 – 0.4</a:t>
            </a:r>
            <a:endParaRPr lang="en-US" sz="1700" dirty="0"/>
          </a:p>
        </p:txBody>
      </p:sp>
      <p:sp>
        <p:nvSpPr>
          <p:cNvPr id="15" name="Text 12"/>
          <p:cNvSpPr/>
          <p:nvPr/>
        </p:nvSpPr>
        <p:spPr>
          <a:xfrm>
            <a:off x="2770632" y="3182112"/>
            <a:ext cx="2148840" cy="274320"/>
          </a:xfrm>
          <a:prstGeom prst="rect">
            <a:avLst/>
          </a:prstGeom>
          <a:noFill/>
          <a:ln/>
        </p:spPr>
        <p:txBody>
          <a:bodyPr wrap="square" lIns="0" tIns="0" rIns="0" bIns="0" rtlCol="0" anchor="ctr"/>
          <a:lstStyle/>
          <a:p>
            <a:pPr algn="ctr" indent="0" marL="0">
              <a:buNone/>
            </a:pPr>
            <a:r>
              <a:rPr lang="en-US" sz="1300" dirty="0">
                <a:solidFill>
                  <a:srgbClr val="A79DBF"/>
                </a:solidFill>
                <a:latin typeface="Calibri" pitchFamily="34" charset="0"/>
                <a:ea typeface="Calibri" pitchFamily="34" charset="-122"/>
                <a:cs typeface="Calibri" pitchFamily="34" charset="-120"/>
              </a:rPr>
              <a:t>Weak link</a:t>
            </a:r>
            <a:endParaRPr lang="en-US" sz="1300" dirty="0"/>
          </a:p>
        </p:txBody>
      </p:sp>
      <p:sp>
        <p:nvSpPr>
          <p:cNvPr id="16" name="Shape 13"/>
          <p:cNvSpPr/>
          <p:nvPr/>
        </p:nvSpPr>
        <p:spPr>
          <a:xfrm>
            <a:off x="4992624" y="2286000"/>
            <a:ext cx="3255264" cy="777240"/>
          </a:xfrm>
          <a:prstGeom prst="roundRect">
            <a:avLst>
              <a:gd name="adj" fmla="val 11765"/>
            </a:avLst>
          </a:prstGeom>
          <a:solidFill>
            <a:srgbClr val="34D399">
              <a:alpha val="80000"/>
            </a:srgbClr>
          </a:solidFill>
          <a:ln w="12700">
            <a:solidFill>
              <a:srgbClr val="1B1526"/>
            </a:solidFill>
            <a:prstDash val="solid"/>
          </a:ln>
        </p:spPr>
      </p:sp>
      <p:sp>
        <p:nvSpPr>
          <p:cNvPr id="17" name="Text 14"/>
          <p:cNvSpPr/>
          <p:nvPr/>
        </p:nvSpPr>
        <p:spPr>
          <a:xfrm>
            <a:off x="4992624" y="2286000"/>
            <a:ext cx="3255264" cy="777240"/>
          </a:xfrm>
          <a:prstGeom prst="rect">
            <a:avLst/>
          </a:prstGeom>
          <a:noFill/>
          <a:ln/>
        </p:spPr>
        <p:txBody>
          <a:bodyPr wrap="square" lIns="0" tIns="0" rIns="0" bIns="0" rtlCol="0" anchor="ctr"/>
          <a:lstStyle/>
          <a:p>
            <a:pPr algn="ctr" indent="0" marL="0">
              <a:buNone/>
            </a:pPr>
            <a:r>
              <a:rPr lang="en-US" sz="1700" b="1" dirty="0">
                <a:solidFill>
                  <a:srgbClr val="1B1526"/>
                </a:solidFill>
                <a:latin typeface="Arial" pitchFamily="34" charset="0"/>
                <a:ea typeface="Arial" pitchFamily="34" charset="-122"/>
                <a:cs typeface="Arial" pitchFamily="34" charset="-120"/>
              </a:rPr>
              <a:t>0.4 – 0.7</a:t>
            </a:r>
            <a:endParaRPr lang="en-US" sz="1700" dirty="0"/>
          </a:p>
        </p:txBody>
      </p:sp>
      <p:sp>
        <p:nvSpPr>
          <p:cNvPr id="18" name="Text 15"/>
          <p:cNvSpPr/>
          <p:nvPr/>
        </p:nvSpPr>
        <p:spPr>
          <a:xfrm>
            <a:off x="4992624" y="3182112"/>
            <a:ext cx="3255264" cy="274320"/>
          </a:xfrm>
          <a:prstGeom prst="rect">
            <a:avLst/>
          </a:prstGeom>
          <a:noFill/>
          <a:ln/>
        </p:spPr>
        <p:txBody>
          <a:bodyPr wrap="square" lIns="0" tIns="0" rIns="0" bIns="0" rtlCol="0" anchor="ctr"/>
          <a:lstStyle/>
          <a:p>
            <a:pPr algn="ctr" indent="0" marL="0">
              <a:buNone/>
            </a:pPr>
            <a:r>
              <a:rPr lang="en-US" sz="1300" b="1" dirty="0">
                <a:solidFill>
                  <a:srgbClr val="34D399"/>
                </a:solidFill>
                <a:latin typeface="Calibri" pitchFamily="34" charset="0"/>
                <a:ea typeface="Calibri" pitchFamily="34" charset="-122"/>
                <a:cs typeface="Calibri" pitchFamily="34" charset="-120"/>
              </a:rPr>
              <a:t>Where retrieval lives</a:t>
            </a:r>
            <a:endParaRPr lang="en-US" sz="1300" dirty="0"/>
          </a:p>
        </p:txBody>
      </p:sp>
      <p:sp>
        <p:nvSpPr>
          <p:cNvPr id="19" name="Shape 16"/>
          <p:cNvSpPr/>
          <p:nvPr/>
        </p:nvSpPr>
        <p:spPr>
          <a:xfrm>
            <a:off x="8321040" y="2286000"/>
            <a:ext cx="3246120" cy="777240"/>
          </a:xfrm>
          <a:prstGeom prst="roundRect">
            <a:avLst>
              <a:gd name="adj" fmla="val 11765"/>
            </a:avLst>
          </a:prstGeom>
          <a:solidFill>
            <a:srgbClr val="262038"/>
          </a:solidFill>
          <a:ln w="12700">
            <a:solidFill>
              <a:srgbClr val="1B1526"/>
            </a:solidFill>
            <a:prstDash val="solid"/>
          </a:ln>
        </p:spPr>
      </p:sp>
      <p:sp>
        <p:nvSpPr>
          <p:cNvPr id="20" name="Text 17"/>
          <p:cNvSpPr/>
          <p:nvPr/>
        </p:nvSpPr>
        <p:spPr>
          <a:xfrm>
            <a:off x="8321040" y="2286000"/>
            <a:ext cx="3246120" cy="777240"/>
          </a:xfrm>
          <a:prstGeom prst="rect">
            <a:avLst/>
          </a:prstGeom>
          <a:noFill/>
          <a:ln/>
        </p:spPr>
        <p:txBody>
          <a:bodyPr wrap="square" lIns="0" tIns="0" rIns="0" bIns="0" rtlCol="0" anchor="ctr"/>
          <a:lstStyle/>
          <a:p>
            <a:pPr algn="ctr" indent="0" marL="0">
              <a:buNone/>
            </a:pPr>
            <a:r>
              <a:rPr lang="en-US" sz="1700" b="1" dirty="0">
                <a:solidFill>
                  <a:srgbClr val="34D399"/>
                </a:solidFill>
                <a:latin typeface="Arial" pitchFamily="34" charset="0"/>
                <a:ea typeface="Arial" pitchFamily="34" charset="-122"/>
                <a:cs typeface="Arial" pitchFamily="34" charset="-120"/>
              </a:rPr>
              <a:t>0.7 – 1.0</a:t>
            </a:r>
            <a:endParaRPr lang="en-US" sz="1700" dirty="0"/>
          </a:p>
        </p:txBody>
      </p:sp>
      <p:sp>
        <p:nvSpPr>
          <p:cNvPr id="21" name="Text 18"/>
          <p:cNvSpPr/>
          <p:nvPr/>
        </p:nvSpPr>
        <p:spPr>
          <a:xfrm>
            <a:off x="8321040" y="3182112"/>
            <a:ext cx="3246120" cy="274320"/>
          </a:xfrm>
          <a:prstGeom prst="rect">
            <a:avLst/>
          </a:prstGeom>
          <a:noFill/>
          <a:ln/>
        </p:spPr>
        <p:txBody>
          <a:bodyPr wrap="square" lIns="0" tIns="0" rIns="0" bIns="0" rtlCol="0" anchor="ctr"/>
          <a:lstStyle/>
          <a:p>
            <a:pPr algn="ctr" indent="0" marL="0">
              <a:buNone/>
            </a:pPr>
            <a:r>
              <a:rPr lang="en-US" sz="1300" dirty="0">
                <a:solidFill>
                  <a:srgbClr val="A79DBF"/>
                </a:solidFill>
                <a:latin typeface="Calibri" pitchFamily="34" charset="0"/>
                <a:ea typeface="Calibri" pitchFamily="34" charset="-122"/>
                <a:cs typeface="Calibri" pitchFamily="34" charset="-120"/>
              </a:rPr>
              <a:t>Nearly the same text</a:t>
            </a:r>
            <a:endParaRPr lang="en-US" sz="1300" dirty="0"/>
          </a:p>
        </p:txBody>
      </p:sp>
      <p:sp>
        <p:nvSpPr>
          <p:cNvPr id="22" name="Shape 19"/>
          <p:cNvSpPr/>
          <p:nvPr/>
        </p:nvSpPr>
        <p:spPr>
          <a:xfrm>
            <a:off x="548640" y="3977640"/>
            <a:ext cx="11091672" cy="1417320"/>
          </a:xfrm>
          <a:prstGeom prst="roundRect">
            <a:avLst>
              <a:gd name="adj" fmla="val 9032"/>
            </a:avLst>
          </a:prstGeom>
          <a:solidFill>
            <a:srgbClr val="262038"/>
          </a:solidFill>
          <a:ln w="12700">
            <a:solidFill>
              <a:srgbClr val="262038"/>
            </a:solidFill>
            <a:prstDash val="solid"/>
          </a:ln>
        </p:spPr>
      </p:sp>
      <p:sp>
        <p:nvSpPr>
          <p:cNvPr id="23" name="Shape 20"/>
          <p:cNvSpPr/>
          <p:nvPr/>
        </p:nvSpPr>
        <p:spPr>
          <a:xfrm>
            <a:off x="868680" y="4224528"/>
            <a:ext cx="566928" cy="566928"/>
          </a:xfrm>
          <a:prstGeom prst="ellipse">
            <a:avLst/>
          </a:prstGeom>
          <a:solidFill>
            <a:srgbClr val="2E2745"/>
          </a:solidFill>
          <a:ln w="12700">
            <a:solidFill>
              <a:srgbClr val="2E2745"/>
            </a:solidFill>
            <a:prstDash val="solid"/>
          </a:ln>
        </p:spPr>
      </p:sp>
      <p:pic>
        <p:nvPicPr>
          <p:cNvPr id="24" name="Image 1" descr="preencoded.png">    </p:cNvPr>
          <p:cNvPicPr>
            <a:picLocks noChangeAspect="1"/>
          </p:cNvPicPr>
          <p:nvPr/>
        </p:nvPicPr>
        <p:blipFill>
          <a:blip r:embed="rId2"/>
          <a:stretch>
            <a:fillRect/>
          </a:stretch>
        </p:blipFill>
        <p:spPr>
          <a:xfrm>
            <a:off x="1027420" y="4383268"/>
            <a:ext cx="249448" cy="249448"/>
          </a:xfrm>
          <a:prstGeom prst="rect">
            <a:avLst/>
          </a:prstGeom>
        </p:spPr>
      </p:pic>
      <p:sp>
        <p:nvSpPr>
          <p:cNvPr id="25" name="Text 21"/>
          <p:cNvSpPr/>
          <p:nvPr/>
        </p:nvSpPr>
        <p:spPr>
          <a:xfrm>
            <a:off x="1645920" y="4224528"/>
            <a:ext cx="9601200" cy="320040"/>
          </a:xfrm>
          <a:prstGeom prst="rect">
            <a:avLst/>
          </a:prstGeom>
          <a:noFill/>
          <a:ln/>
        </p:spPr>
        <p:txBody>
          <a:bodyPr wrap="square" lIns="0" tIns="0" rIns="0" bIns="0" rtlCol="0" anchor="ctr"/>
          <a:lstStyle/>
          <a:p>
            <a:pPr indent="0" marL="0">
              <a:buNone/>
            </a:pPr>
            <a:r>
              <a:rPr lang="en-US" sz="1800" b="1" dirty="0">
                <a:solidFill>
                  <a:srgbClr val="F5F2FA"/>
                </a:solidFill>
                <a:latin typeface="Arial" pitchFamily="34" charset="0"/>
                <a:ea typeface="Arial" pitchFamily="34" charset="-122"/>
                <a:cs typeface="Arial" pitchFamily="34" charset="-120"/>
              </a:rPr>
              <a:t>A score is not a percentage</a:t>
            </a:r>
            <a:endParaRPr lang="en-US" sz="1800" dirty="0"/>
          </a:p>
        </p:txBody>
      </p:sp>
      <p:sp>
        <p:nvSpPr>
          <p:cNvPr id="26" name="Text 22"/>
          <p:cNvSpPr/>
          <p:nvPr/>
        </p:nvSpPr>
        <p:spPr>
          <a:xfrm>
            <a:off x="1645920" y="4617720"/>
            <a:ext cx="9601200" cy="548640"/>
          </a:xfrm>
          <a:prstGeom prst="rect">
            <a:avLst/>
          </a:prstGeom>
          <a:noFill/>
          <a:ln/>
        </p:spPr>
        <p:txBody>
          <a:bodyPr wrap="square" lIns="0" tIns="0" rIns="0" bIns="0" rtlCol="0" anchor="ctr"/>
          <a:lstStyle/>
          <a:p>
            <a:pPr indent="0" marL="0">
              <a:buNone/>
            </a:pPr>
            <a:r>
              <a:rPr lang="en-US" sz="1450" dirty="0">
                <a:solidFill>
                  <a:srgbClr val="A79DBF"/>
                </a:solidFill>
                <a:latin typeface="Calibri" pitchFamily="34" charset="0"/>
                <a:ea typeface="Calibri" pitchFamily="34" charset="-122"/>
                <a:cs typeface="Calibri" pitchFamily="34" charset="-120"/>
              </a:rPr>
              <a:t>0.451 does not mean "45% the same". A score only means something next to another score.</a:t>
            </a:r>
            <a:endParaRPr lang="en-US" sz="1450" dirty="0"/>
          </a:p>
        </p:txBody>
      </p:sp>
      <p:sp>
        <p:nvSpPr>
          <p:cNvPr id="27" name="Text 23"/>
          <p:cNvSpPr/>
          <p:nvPr/>
        </p:nvSpPr>
        <p:spPr>
          <a:xfrm>
            <a:off x="548640" y="5623560"/>
            <a:ext cx="10058400" cy="274320"/>
          </a:xfrm>
          <a:prstGeom prst="rect">
            <a:avLst/>
          </a:prstGeom>
          <a:noFill/>
          <a:ln/>
        </p:spPr>
        <p:txBody>
          <a:bodyPr wrap="square" lIns="0" tIns="0" rIns="0" bIns="0" rtlCol="0" anchor="ctr"/>
          <a:lstStyle/>
          <a:p>
            <a:pPr indent="0" marL="0">
              <a:buNone/>
            </a:pPr>
            <a:r>
              <a:rPr lang="en-US" sz="1150" i="1" dirty="0">
                <a:solidFill>
                  <a:srgbClr val="A79DBF"/>
                </a:solidFill>
                <a:latin typeface="Calibri" pitchFamily="34" charset="0"/>
                <a:ea typeface="Calibri" pitchFamily="34" charset="-122"/>
                <a:cs typeface="Calibri" pitchFamily="34" charset="-120"/>
              </a:rPr>
              <a:t>OpenAI recommends cosine — its vectors already come out at length 1</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B1526"/>
        </a:solidFill>
      </p:bgPr>
    </p:bg>
    <p:spTree>
      <p:nvGrpSpPr>
        <p:cNvPr id="1" name=""/>
        <p:cNvGrpSpPr/>
        <p:nvPr/>
      </p:nvGrpSpPr>
      <p:grpSpPr>
        <a:xfrm>
          <a:off x="0" y="0"/>
          <a:ext cx="0" cy="0"/>
          <a:chOff x="0" y="0"/>
          <a:chExt cx="0" cy="0"/>
        </a:xfrm>
      </p:grpSpPr>
      <p:sp>
        <p:nvSpPr>
          <p:cNvPr id="2" name="Text 0"/>
          <p:cNvSpPr/>
          <p:nvPr/>
        </p:nvSpPr>
        <p:spPr>
          <a:xfrm>
            <a:off x="548640" y="6263640"/>
            <a:ext cx="3657600" cy="274320"/>
          </a:xfrm>
          <a:prstGeom prst="rect">
            <a:avLst/>
          </a:prstGeom>
          <a:noFill/>
          <a:ln/>
        </p:spPr>
        <p:txBody>
          <a:bodyPr wrap="square" lIns="0" tIns="0" rIns="0" bIns="0" rtlCol="0" anchor="ctr"/>
          <a:lstStyle/>
          <a:p>
            <a:pPr indent="0" marL="0">
              <a:buNone/>
            </a:pPr>
            <a:r>
              <a:rPr lang="en-US" sz="1000" dirty="0">
                <a:solidFill>
                  <a:srgbClr val="A79DBF"/>
                </a:solidFill>
                <a:latin typeface="Calibri" pitchFamily="34" charset="0"/>
                <a:ea typeface="Calibri" pitchFamily="34" charset="-122"/>
                <a:cs typeface="Calibri" pitchFamily="34" charset="-120"/>
              </a:rPr>
              <a:t>Agentive Solutions</a:t>
            </a:r>
            <a:endParaRPr lang="en-US" sz="1000" dirty="0"/>
          </a:p>
        </p:txBody>
      </p:sp>
      <p:sp>
        <p:nvSpPr>
          <p:cNvPr id="3" name="Text 1"/>
          <p:cNvSpPr/>
          <p:nvPr/>
        </p:nvSpPr>
        <p:spPr>
          <a:xfrm>
            <a:off x="7955280" y="6263640"/>
            <a:ext cx="3685032" cy="274320"/>
          </a:xfrm>
          <a:prstGeom prst="rect">
            <a:avLst/>
          </a:prstGeom>
          <a:noFill/>
          <a:ln/>
        </p:spPr>
        <p:txBody>
          <a:bodyPr wrap="square" lIns="0" tIns="0" rIns="0" bIns="0" rtlCol="0" anchor="ctr"/>
          <a:lstStyle/>
          <a:p>
            <a:pPr algn="r" indent="0" marL="0">
              <a:buNone/>
            </a:pPr>
            <a:r>
              <a:rPr lang="en-US" sz="1000" dirty="0">
                <a:solidFill>
                  <a:srgbClr val="A79DBF"/>
                </a:solidFill>
                <a:latin typeface="Calibri" pitchFamily="34" charset="0"/>
                <a:ea typeface="Calibri" pitchFamily="34" charset="-122"/>
                <a:cs typeface="Calibri" pitchFamily="34" charset="-120"/>
              </a:rPr>
              <a:t>RAG for Automation · Lesson 02</a:t>
            </a:r>
            <a:endParaRPr lang="en-US" sz="1000" dirty="0"/>
          </a:p>
        </p:txBody>
      </p:sp>
      <p:sp>
        <p:nvSpPr>
          <p:cNvPr id="4" name="Shape 2"/>
          <p:cNvSpPr/>
          <p:nvPr/>
        </p:nvSpPr>
        <p:spPr>
          <a:xfrm>
            <a:off x="548640" y="548640"/>
            <a:ext cx="566928" cy="566928"/>
          </a:xfrm>
          <a:prstGeom prst="ellipse">
            <a:avLst/>
          </a:prstGeom>
          <a:solidFill>
            <a:srgbClr val="2E2745"/>
          </a:solidFill>
          <a:ln w="12700">
            <a:solidFill>
              <a:srgbClr val="2E2745"/>
            </a:solidFill>
            <a:prstDash val="solid"/>
          </a:ln>
        </p:spPr>
      </p:sp>
      <p:pic>
        <p:nvPicPr>
          <p:cNvPr id="5" name="Image 0" descr="preencoded.png">    </p:cNvPr>
          <p:cNvPicPr>
            <a:picLocks noChangeAspect="1"/>
          </p:cNvPicPr>
          <p:nvPr/>
        </p:nvPicPr>
        <p:blipFill>
          <a:blip r:embed="rId1"/>
          <a:stretch>
            <a:fillRect/>
          </a:stretch>
        </p:blipFill>
        <p:spPr>
          <a:xfrm>
            <a:off x="707380" y="707380"/>
            <a:ext cx="249448" cy="249448"/>
          </a:xfrm>
          <a:prstGeom prst="rect">
            <a:avLst/>
          </a:prstGeom>
        </p:spPr>
      </p:pic>
      <p:sp>
        <p:nvSpPr>
          <p:cNvPr id="6" name="Text 3"/>
          <p:cNvSpPr/>
          <p:nvPr/>
        </p:nvSpPr>
        <p:spPr>
          <a:xfrm>
            <a:off x="1298448" y="530352"/>
            <a:ext cx="10058400" cy="603504"/>
          </a:xfrm>
          <a:prstGeom prst="rect">
            <a:avLst/>
          </a:prstGeom>
          <a:noFill/>
          <a:ln/>
        </p:spPr>
        <p:txBody>
          <a:bodyPr wrap="square" lIns="0" tIns="0" rIns="0" bIns="0" rtlCol="0" anchor="ctr"/>
          <a:lstStyle/>
          <a:p>
            <a:pPr indent="0" marL="0">
              <a:buNone/>
            </a:pPr>
            <a:r>
              <a:rPr lang="en-US" sz="3400" b="1" dirty="0">
                <a:solidFill>
                  <a:srgbClr val="F5F2FA"/>
                </a:solidFill>
                <a:latin typeface="Arial" pitchFamily="34" charset="0"/>
                <a:ea typeface="Arial" pitchFamily="34" charset="-122"/>
                <a:cs typeface="Arial" pitchFamily="34" charset="-120"/>
              </a:rPr>
              <a:t>The Same Score, Two Verdicts</a:t>
            </a:r>
            <a:endParaRPr lang="en-US" sz="3400" dirty="0"/>
          </a:p>
        </p:txBody>
      </p:sp>
      <p:sp>
        <p:nvSpPr>
          <p:cNvPr id="7" name="Text 4"/>
          <p:cNvSpPr/>
          <p:nvPr/>
        </p:nvSpPr>
        <p:spPr>
          <a:xfrm>
            <a:off x="548640" y="1207008"/>
            <a:ext cx="8503920" cy="320040"/>
          </a:xfrm>
          <a:prstGeom prst="rect">
            <a:avLst/>
          </a:prstGeom>
          <a:noFill/>
          <a:ln/>
        </p:spPr>
        <p:txBody>
          <a:bodyPr wrap="square" lIns="0" tIns="0" rIns="0" bIns="0" rtlCol="0" anchor="ctr"/>
          <a:lstStyle/>
          <a:p>
            <a:pPr indent="0" marL="0">
              <a:buNone/>
            </a:pPr>
            <a:r>
              <a:rPr lang="en-US" sz="1600" dirty="0">
                <a:solidFill>
                  <a:srgbClr val="A79DBF"/>
                </a:solidFill>
                <a:latin typeface="Calibri" pitchFamily="34" charset="0"/>
                <a:ea typeface="Calibri" pitchFamily="34" charset="-122"/>
                <a:cs typeface="Calibri" pitchFamily="34" charset="-120"/>
              </a:rPr>
              <a:t>A score only means something next to the other scores in your own data.</a:t>
            </a:r>
            <a:endParaRPr lang="en-US" sz="1600" dirty="0"/>
          </a:p>
        </p:txBody>
      </p:sp>
      <p:sp>
        <p:nvSpPr>
          <p:cNvPr id="8" name="Text 5"/>
          <p:cNvSpPr/>
          <p:nvPr/>
        </p:nvSpPr>
        <p:spPr>
          <a:xfrm>
            <a:off x="9171432" y="1152144"/>
            <a:ext cx="2468880" cy="365760"/>
          </a:xfrm>
          <a:prstGeom prst="roundRect">
            <a:avLst>
              <a:gd name="adj" fmla="val 20000"/>
            </a:avLst>
          </a:prstGeom>
          <a:solidFill>
            <a:srgbClr val="2E2745"/>
          </a:solidFill>
          <a:ln>
            <a:solidFill>
              <a:srgbClr val="2E2745"/>
            </a:solidFill>
          </a:ln>
        </p:spPr>
        <p:txBody>
          <a:bodyPr wrap="square" lIns="0" tIns="0" rIns="0" bIns="0" rtlCol="0" anchor="ctr"/>
          <a:lstStyle/>
          <a:p>
            <a:pPr algn="ctr" indent="0" marL="0">
              <a:buNone/>
            </a:pPr>
            <a:r>
              <a:rPr lang="en-US" sz="1000" b="1" spc="100" kern="0" dirty="0">
                <a:solidFill>
                  <a:srgbClr val="A79DBF"/>
                </a:solidFill>
                <a:latin typeface="Arial" pitchFamily="34" charset="0"/>
                <a:ea typeface="Arial" pitchFamily="34" charset="-122"/>
                <a:cs typeface="Arial" pitchFamily="34" charset="-120"/>
              </a:rPr>
              <a:t>ILLUSTRATION — NOT MEASURED</a:t>
            </a:r>
            <a:endParaRPr lang="en-US" sz="1000" dirty="0"/>
          </a:p>
        </p:txBody>
      </p:sp>
      <p:sp>
        <p:nvSpPr>
          <p:cNvPr id="9" name="Shape 6"/>
          <p:cNvSpPr/>
          <p:nvPr/>
        </p:nvSpPr>
        <p:spPr>
          <a:xfrm>
            <a:off x="548640" y="1691640"/>
            <a:ext cx="5394960" cy="3520440"/>
          </a:xfrm>
          <a:prstGeom prst="roundRect">
            <a:avLst>
              <a:gd name="adj" fmla="val 3636"/>
            </a:avLst>
          </a:prstGeom>
          <a:solidFill>
            <a:srgbClr val="262038"/>
          </a:solidFill>
          <a:ln w="12700">
            <a:solidFill>
              <a:srgbClr val="262038"/>
            </a:solidFill>
            <a:prstDash val="solid"/>
          </a:ln>
        </p:spPr>
      </p:sp>
      <p:sp>
        <p:nvSpPr>
          <p:cNvPr id="10" name="Text 7"/>
          <p:cNvSpPr/>
          <p:nvPr/>
        </p:nvSpPr>
        <p:spPr>
          <a:xfrm>
            <a:off x="868680" y="1920240"/>
            <a:ext cx="4754880" cy="274320"/>
          </a:xfrm>
          <a:prstGeom prst="rect">
            <a:avLst/>
          </a:prstGeom>
          <a:noFill/>
          <a:ln/>
        </p:spPr>
        <p:txBody>
          <a:bodyPr wrap="square" lIns="0" tIns="0" rIns="0" bIns="0" rtlCol="0" anchor="ctr"/>
          <a:lstStyle/>
          <a:p>
            <a:pPr indent="0" marL="0">
              <a:buNone/>
            </a:pPr>
            <a:r>
              <a:rPr lang="en-US" sz="1300" b="1" spc="150" kern="0" dirty="0">
                <a:solidFill>
                  <a:srgbClr val="F5F2FA"/>
                </a:solidFill>
                <a:latin typeface="Arial" pitchFamily="34" charset="0"/>
                <a:ea typeface="Arial" pitchFamily="34" charset="-122"/>
                <a:cs typeface="Arial" pitchFamily="34" charset="-120"/>
              </a:rPr>
              <a:t>NARROW DATA</a:t>
            </a:r>
            <a:endParaRPr lang="en-US" sz="1300" dirty="0"/>
          </a:p>
        </p:txBody>
      </p:sp>
      <p:sp>
        <p:nvSpPr>
          <p:cNvPr id="11" name="Text 8"/>
          <p:cNvSpPr/>
          <p:nvPr/>
        </p:nvSpPr>
        <p:spPr>
          <a:xfrm>
            <a:off x="868680" y="2212848"/>
            <a:ext cx="4754880" cy="274320"/>
          </a:xfrm>
          <a:prstGeom prst="rect">
            <a:avLst/>
          </a:prstGeom>
          <a:noFill/>
          <a:ln/>
        </p:spPr>
        <p:txBody>
          <a:bodyPr wrap="square" lIns="0" tIns="0" rIns="0" bIns="0" rtlCol="0" anchor="ctr"/>
          <a:lstStyle/>
          <a:p>
            <a:pPr indent="0" marL="0">
              <a:buNone/>
            </a:pPr>
            <a:r>
              <a:rPr lang="en-US" sz="1250" dirty="0">
                <a:solidFill>
                  <a:srgbClr val="A79DBF"/>
                </a:solidFill>
                <a:latin typeface="Calibri" pitchFamily="34" charset="0"/>
                <a:ea typeface="Calibri" pitchFamily="34" charset="-122"/>
                <a:cs typeface="Calibri" pitchFamily="34" charset="-120"/>
              </a:rPr>
              <a:t>One company · refund, returns, delivery</a:t>
            </a:r>
            <a:endParaRPr lang="en-US" sz="1250" dirty="0"/>
          </a:p>
        </p:txBody>
      </p:sp>
      <p:sp>
        <p:nvSpPr>
          <p:cNvPr id="12" name="Text 9"/>
          <p:cNvSpPr/>
          <p:nvPr/>
        </p:nvSpPr>
        <p:spPr>
          <a:xfrm>
            <a:off x="868680" y="2633472"/>
            <a:ext cx="3566160" cy="329184"/>
          </a:xfrm>
          <a:prstGeom prst="rect">
            <a:avLst/>
          </a:prstGeom>
          <a:noFill/>
          <a:ln/>
        </p:spPr>
        <p:txBody>
          <a:bodyPr wrap="square" lIns="0" tIns="0" rIns="0" bIns="0" rtlCol="0" anchor="ctr"/>
          <a:lstStyle/>
          <a:p>
            <a:pPr indent="0" marL="0">
              <a:buNone/>
            </a:pPr>
            <a:r>
              <a:rPr lang="en-US" sz="1350" dirty="0">
                <a:solidFill>
                  <a:srgbClr val="A79DBF"/>
                </a:solidFill>
                <a:latin typeface="Calibri" pitchFamily="34" charset="0"/>
                <a:ea typeface="Calibri" pitchFamily="34" charset="-122"/>
                <a:cs typeface="Calibri" pitchFamily="34" charset="-120"/>
              </a:rPr>
              <a:t>Refund policy</a:t>
            </a:r>
            <a:endParaRPr lang="en-US" sz="1350" dirty="0"/>
          </a:p>
        </p:txBody>
      </p:sp>
      <p:sp>
        <p:nvSpPr>
          <p:cNvPr id="13" name="Text 10"/>
          <p:cNvSpPr/>
          <p:nvPr/>
        </p:nvSpPr>
        <p:spPr>
          <a:xfrm>
            <a:off x="4480560" y="2633472"/>
            <a:ext cx="1143000" cy="329184"/>
          </a:xfrm>
          <a:prstGeom prst="rect">
            <a:avLst/>
          </a:prstGeom>
          <a:noFill/>
          <a:ln/>
        </p:spPr>
        <p:txBody>
          <a:bodyPr wrap="square" lIns="0" tIns="0" rIns="0" bIns="0" rtlCol="0" anchor="ctr"/>
          <a:lstStyle/>
          <a:p>
            <a:pPr algn="r" indent="0" marL="0">
              <a:buNone/>
            </a:pPr>
            <a:r>
              <a:rPr lang="en-US" sz="1500" b="1" dirty="0">
                <a:solidFill>
                  <a:srgbClr val="F5F2FA"/>
                </a:solidFill>
                <a:latin typeface="Arial" pitchFamily="34" charset="0"/>
                <a:ea typeface="Arial" pitchFamily="34" charset="-122"/>
                <a:cs typeface="Arial" pitchFamily="34" charset="-120"/>
              </a:rPr>
              <a:t>0.68</a:t>
            </a:r>
            <a:endParaRPr lang="en-US" sz="1500" dirty="0"/>
          </a:p>
        </p:txBody>
      </p:sp>
      <p:sp>
        <p:nvSpPr>
          <p:cNvPr id="14" name="Text 11"/>
          <p:cNvSpPr/>
          <p:nvPr/>
        </p:nvSpPr>
        <p:spPr>
          <a:xfrm>
            <a:off x="868680" y="3054096"/>
            <a:ext cx="3566160" cy="329184"/>
          </a:xfrm>
          <a:prstGeom prst="rect">
            <a:avLst/>
          </a:prstGeom>
          <a:noFill/>
          <a:ln/>
        </p:spPr>
        <p:txBody>
          <a:bodyPr wrap="square" lIns="0" tIns="0" rIns="0" bIns="0" rtlCol="0" anchor="ctr"/>
          <a:lstStyle/>
          <a:p>
            <a:pPr indent="0" marL="0">
              <a:buNone/>
            </a:pPr>
            <a:r>
              <a:rPr lang="en-US" sz="1350" dirty="0">
                <a:solidFill>
                  <a:srgbClr val="A79DBF"/>
                </a:solidFill>
                <a:latin typeface="Calibri" pitchFamily="34" charset="0"/>
                <a:ea typeface="Calibri" pitchFamily="34" charset="-122"/>
                <a:cs typeface="Calibri" pitchFamily="34" charset="-120"/>
              </a:rPr>
              <a:t>Return process</a:t>
            </a:r>
            <a:endParaRPr lang="en-US" sz="1350" dirty="0"/>
          </a:p>
        </p:txBody>
      </p:sp>
      <p:sp>
        <p:nvSpPr>
          <p:cNvPr id="15" name="Text 12"/>
          <p:cNvSpPr/>
          <p:nvPr/>
        </p:nvSpPr>
        <p:spPr>
          <a:xfrm>
            <a:off x="4480560" y="3054096"/>
            <a:ext cx="1143000" cy="329184"/>
          </a:xfrm>
          <a:prstGeom prst="rect">
            <a:avLst/>
          </a:prstGeom>
          <a:noFill/>
          <a:ln/>
        </p:spPr>
        <p:txBody>
          <a:bodyPr wrap="square" lIns="0" tIns="0" rIns="0" bIns="0" rtlCol="0" anchor="ctr"/>
          <a:lstStyle/>
          <a:p>
            <a:pPr algn="r" indent="0" marL="0">
              <a:buNone/>
            </a:pPr>
            <a:r>
              <a:rPr lang="en-US" sz="1500" b="1" dirty="0">
                <a:solidFill>
                  <a:srgbClr val="F5F2FA"/>
                </a:solidFill>
                <a:latin typeface="Arial" pitchFamily="34" charset="0"/>
                <a:ea typeface="Arial" pitchFamily="34" charset="-122"/>
                <a:cs typeface="Arial" pitchFamily="34" charset="-120"/>
              </a:rPr>
              <a:t>0.64</a:t>
            </a:r>
            <a:endParaRPr lang="en-US" sz="1500" dirty="0"/>
          </a:p>
        </p:txBody>
      </p:sp>
      <p:sp>
        <p:nvSpPr>
          <p:cNvPr id="16" name="Text 13"/>
          <p:cNvSpPr/>
          <p:nvPr/>
        </p:nvSpPr>
        <p:spPr>
          <a:xfrm>
            <a:off x="868680" y="3474720"/>
            <a:ext cx="3566160" cy="329184"/>
          </a:xfrm>
          <a:prstGeom prst="rect">
            <a:avLst/>
          </a:prstGeom>
          <a:noFill/>
          <a:ln/>
        </p:spPr>
        <p:txBody>
          <a:bodyPr wrap="square" lIns="0" tIns="0" rIns="0" bIns="0" rtlCol="0" anchor="ctr"/>
          <a:lstStyle/>
          <a:p>
            <a:pPr indent="0" marL="0">
              <a:buNone/>
            </a:pPr>
            <a:r>
              <a:rPr lang="en-US" sz="1350" dirty="0">
                <a:solidFill>
                  <a:srgbClr val="A79DBF"/>
                </a:solidFill>
                <a:latin typeface="Calibri" pitchFamily="34" charset="0"/>
                <a:ea typeface="Calibri" pitchFamily="34" charset="-122"/>
                <a:cs typeface="Calibri" pitchFamily="34" charset="-120"/>
              </a:rPr>
              <a:t>Delivery times</a:t>
            </a:r>
            <a:endParaRPr lang="en-US" sz="1350" dirty="0"/>
          </a:p>
        </p:txBody>
      </p:sp>
      <p:sp>
        <p:nvSpPr>
          <p:cNvPr id="17" name="Text 14"/>
          <p:cNvSpPr/>
          <p:nvPr/>
        </p:nvSpPr>
        <p:spPr>
          <a:xfrm>
            <a:off x="4480560" y="3474720"/>
            <a:ext cx="1143000" cy="329184"/>
          </a:xfrm>
          <a:prstGeom prst="rect">
            <a:avLst/>
          </a:prstGeom>
          <a:noFill/>
          <a:ln/>
        </p:spPr>
        <p:txBody>
          <a:bodyPr wrap="square" lIns="0" tIns="0" rIns="0" bIns="0" rtlCol="0" anchor="ctr"/>
          <a:lstStyle/>
          <a:p>
            <a:pPr algn="r" indent="0" marL="0">
              <a:buNone/>
            </a:pPr>
            <a:r>
              <a:rPr lang="en-US" sz="1500" b="1" dirty="0">
                <a:solidFill>
                  <a:srgbClr val="F5F2FA"/>
                </a:solidFill>
                <a:latin typeface="Arial" pitchFamily="34" charset="0"/>
                <a:ea typeface="Arial" pitchFamily="34" charset="-122"/>
                <a:cs typeface="Arial" pitchFamily="34" charset="-120"/>
              </a:rPr>
              <a:t>0.58</a:t>
            </a:r>
            <a:endParaRPr lang="en-US" sz="1500" dirty="0"/>
          </a:p>
        </p:txBody>
      </p:sp>
      <p:sp>
        <p:nvSpPr>
          <p:cNvPr id="18" name="Shape 15"/>
          <p:cNvSpPr/>
          <p:nvPr/>
        </p:nvSpPr>
        <p:spPr>
          <a:xfrm>
            <a:off x="731520" y="3867912"/>
            <a:ext cx="5029200" cy="384048"/>
          </a:xfrm>
          <a:prstGeom prst="rect">
            <a:avLst/>
          </a:prstGeom>
          <a:solidFill>
            <a:srgbClr val="EA4B71">
              <a:alpha val="14000"/>
            </a:srgbClr>
          </a:solidFill>
          <a:ln w="12700">
            <a:solidFill>
              <a:srgbClr val="262038"/>
            </a:solidFill>
            <a:prstDash val="solid"/>
          </a:ln>
        </p:spPr>
      </p:sp>
      <p:sp>
        <p:nvSpPr>
          <p:cNvPr id="19" name="Text 16"/>
          <p:cNvSpPr/>
          <p:nvPr/>
        </p:nvSpPr>
        <p:spPr>
          <a:xfrm>
            <a:off x="868680" y="3895344"/>
            <a:ext cx="3566160" cy="329184"/>
          </a:xfrm>
          <a:prstGeom prst="rect">
            <a:avLst/>
          </a:prstGeom>
          <a:noFill/>
          <a:ln/>
        </p:spPr>
        <p:txBody>
          <a:bodyPr wrap="square" lIns="0" tIns="0" rIns="0" bIns="0" rtlCol="0" anchor="ctr"/>
          <a:lstStyle/>
          <a:p>
            <a:pPr indent="0" marL="0">
              <a:buNone/>
            </a:pPr>
            <a:r>
              <a:rPr lang="en-US" sz="1350" dirty="0">
                <a:solidFill>
                  <a:srgbClr val="F5F2FA"/>
                </a:solidFill>
                <a:latin typeface="Calibri" pitchFamily="34" charset="0"/>
                <a:ea typeface="Calibri" pitchFamily="34" charset="-122"/>
                <a:cs typeface="Calibri" pitchFamily="34" charset="-120"/>
              </a:rPr>
              <a:t>Office hours</a:t>
            </a:r>
            <a:endParaRPr lang="en-US" sz="1350" dirty="0"/>
          </a:p>
        </p:txBody>
      </p:sp>
      <p:sp>
        <p:nvSpPr>
          <p:cNvPr id="20" name="Text 17"/>
          <p:cNvSpPr/>
          <p:nvPr/>
        </p:nvSpPr>
        <p:spPr>
          <a:xfrm>
            <a:off x="4480560" y="3895344"/>
            <a:ext cx="1143000" cy="329184"/>
          </a:xfrm>
          <a:prstGeom prst="rect">
            <a:avLst/>
          </a:prstGeom>
          <a:noFill/>
          <a:ln/>
        </p:spPr>
        <p:txBody>
          <a:bodyPr wrap="square" lIns="0" tIns="0" rIns="0" bIns="0" rtlCol="0" anchor="ctr"/>
          <a:lstStyle/>
          <a:p>
            <a:pPr algn="r" indent="0" marL="0">
              <a:buNone/>
            </a:pPr>
            <a:r>
              <a:rPr lang="en-US" sz="1500" b="1" dirty="0">
                <a:solidFill>
                  <a:srgbClr val="EA4B71"/>
                </a:solidFill>
                <a:latin typeface="Arial" pitchFamily="34" charset="0"/>
                <a:ea typeface="Arial" pitchFamily="34" charset="-122"/>
                <a:cs typeface="Arial" pitchFamily="34" charset="-120"/>
              </a:rPr>
              <a:t>0.49</a:t>
            </a:r>
            <a:endParaRPr lang="en-US" sz="1500" dirty="0"/>
          </a:p>
        </p:txBody>
      </p:sp>
      <p:sp>
        <p:nvSpPr>
          <p:cNvPr id="21" name="Text 18"/>
          <p:cNvSpPr/>
          <p:nvPr/>
        </p:nvSpPr>
        <p:spPr>
          <a:xfrm>
            <a:off x="868680" y="4553712"/>
            <a:ext cx="4754880" cy="365760"/>
          </a:xfrm>
          <a:prstGeom prst="rect">
            <a:avLst/>
          </a:prstGeom>
          <a:noFill/>
          <a:ln/>
        </p:spPr>
        <p:txBody>
          <a:bodyPr wrap="square" lIns="0" tIns="0" rIns="0" bIns="0" rtlCol="0" anchor="ctr"/>
          <a:lstStyle/>
          <a:p>
            <a:pPr indent="0" marL="0">
              <a:buNone/>
            </a:pPr>
            <a:r>
              <a:rPr lang="en-US" sz="1400" b="1" dirty="0">
                <a:solidFill>
                  <a:srgbClr val="EA4B71"/>
                </a:solidFill>
                <a:latin typeface="Arial" pitchFamily="34" charset="0"/>
                <a:ea typeface="Arial" pitchFamily="34" charset="-122"/>
                <a:cs typeface="Arial" pitchFamily="34" charset="-120"/>
              </a:rPr>
              <a:t>0.49 — and still the wrong chunk</a:t>
            </a:r>
            <a:endParaRPr lang="en-US" sz="1400" dirty="0"/>
          </a:p>
        </p:txBody>
      </p:sp>
      <p:sp>
        <p:nvSpPr>
          <p:cNvPr id="22" name="Shape 19"/>
          <p:cNvSpPr/>
          <p:nvPr/>
        </p:nvSpPr>
        <p:spPr>
          <a:xfrm>
            <a:off x="6245352" y="1691640"/>
            <a:ext cx="5394960" cy="3520440"/>
          </a:xfrm>
          <a:prstGeom prst="roundRect">
            <a:avLst>
              <a:gd name="adj" fmla="val 3636"/>
            </a:avLst>
          </a:prstGeom>
          <a:solidFill>
            <a:srgbClr val="262038"/>
          </a:solidFill>
          <a:ln w="12700">
            <a:solidFill>
              <a:srgbClr val="262038"/>
            </a:solidFill>
            <a:prstDash val="solid"/>
          </a:ln>
        </p:spPr>
      </p:sp>
      <p:sp>
        <p:nvSpPr>
          <p:cNvPr id="23" name="Text 20"/>
          <p:cNvSpPr/>
          <p:nvPr/>
        </p:nvSpPr>
        <p:spPr>
          <a:xfrm>
            <a:off x="6565392" y="1920240"/>
            <a:ext cx="4754880" cy="274320"/>
          </a:xfrm>
          <a:prstGeom prst="rect">
            <a:avLst/>
          </a:prstGeom>
          <a:noFill/>
          <a:ln/>
        </p:spPr>
        <p:txBody>
          <a:bodyPr wrap="square" lIns="0" tIns="0" rIns="0" bIns="0" rtlCol="0" anchor="ctr"/>
          <a:lstStyle/>
          <a:p>
            <a:pPr indent="0" marL="0">
              <a:buNone/>
            </a:pPr>
            <a:r>
              <a:rPr lang="en-US" sz="1300" b="1" spc="150" kern="0" dirty="0">
                <a:solidFill>
                  <a:srgbClr val="F5F2FA"/>
                </a:solidFill>
                <a:latin typeface="Arial" pitchFamily="34" charset="0"/>
                <a:ea typeface="Arial" pitchFamily="34" charset="-122"/>
                <a:cs typeface="Arial" pitchFamily="34" charset="-120"/>
              </a:rPr>
              <a:t>WIDE DATA</a:t>
            </a:r>
            <a:endParaRPr lang="en-US" sz="1300" dirty="0"/>
          </a:p>
        </p:txBody>
      </p:sp>
      <p:sp>
        <p:nvSpPr>
          <p:cNvPr id="24" name="Text 21"/>
          <p:cNvSpPr/>
          <p:nvPr/>
        </p:nvSpPr>
        <p:spPr>
          <a:xfrm>
            <a:off x="6565392" y="2212848"/>
            <a:ext cx="4754880" cy="274320"/>
          </a:xfrm>
          <a:prstGeom prst="rect">
            <a:avLst/>
          </a:prstGeom>
          <a:noFill/>
          <a:ln/>
        </p:spPr>
        <p:txBody>
          <a:bodyPr wrap="square" lIns="0" tIns="0" rIns="0" bIns="0" rtlCol="0" anchor="ctr"/>
          <a:lstStyle/>
          <a:p>
            <a:pPr indent="0" marL="0">
              <a:buNone/>
            </a:pPr>
            <a:r>
              <a:rPr lang="en-US" sz="1250" dirty="0">
                <a:solidFill>
                  <a:srgbClr val="A79DBF"/>
                </a:solidFill>
                <a:latin typeface="Calibri" pitchFamily="34" charset="0"/>
                <a:ea typeface="Calibri" pitchFamily="34" charset="-122"/>
                <a:cs typeface="Calibri" pitchFamily="34" charset="-120"/>
              </a:rPr>
              <a:t>Our book · n8n, RAG, Instagram, deploy</a:t>
            </a:r>
            <a:endParaRPr lang="en-US" sz="1250" dirty="0"/>
          </a:p>
        </p:txBody>
      </p:sp>
      <p:sp>
        <p:nvSpPr>
          <p:cNvPr id="25" name="Shape 22"/>
          <p:cNvSpPr/>
          <p:nvPr/>
        </p:nvSpPr>
        <p:spPr>
          <a:xfrm>
            <a:off x="6428232" y="2606040"/>
            <a:ext cx="5029200" cy="384048"/>
          </a:xfrm>
          <a:prstGeom prst="rect">
            <a:avLst/>
          </a:prstGeom>
          <a:solidFill>
            <a:srgbClr val="34D399">
              <a:alpha val="14000"/>
            </a:srgbClr>
          </a:solidFill>
          <a:ln w="12700">
            <a:solidFill>
              <a:srgbClr val="262038"/>
            </a:solidFill>
            <a:prstDash val="solid"/>
          </a:ln>
        </p:spPr>
      </p:sp>
      <p:sp>
        <p:nvSpPr>
          <p:cNvPr id="26" name="Text 23"/>
          <p:cNvSpPr/>
          <p:nvPr/>
        </p:nvSpPr>
        <p:spPr>
          <a:xfrm>
            <a:off x="6565392" y="2633472"/>
            <a:ext cx="3566160" cy="329184"/>
          </a:xfrm>
          <a:prstGeom prst="rect">
            <a:avLst/>
          </a:prstGeom>
          <a:noFill/>
          <a:ln/>
        </p:spPr>
        <p:txBody>
          <a:bodyPr wrap="square" lIns="0" tIns="0" rIns="0" bIns="0" rtlCol="0" anchor="ctr"/>
          <a:lstStyle/>
          <a:p>
            <a:pPr indent="0" marL="0">
              <a:buNone/>
            </a:pPr>
            <a:r>
              <a:rPr lang="en-US" sz="1350" dirty="0">
                <a:solidFill>
                  <a:srgbClr val="F5F2FA"/>
                </a:solidFill>
                <a:latin typeface="Calibri" pitchFamily="34" charset="0"/>
                <a:ea typeface="Calibri" pitchFamily="34" charset="-122"/>
                <a:cs typeface="Calibri" pitchFamily="34" charset="-120"/>
              </a:rPr>
              <a:t>Embeddings lesson</a:t>
            </a:r>
            <a:endParaRPr lang="en-US" sz="1350" dirty="0"/>
          </a:p>
        </p:txBody>
      </p:sp>
      <p:sp>
        <p:nvSpPr>
          <p:cNvPr id="27" name="Text 24"/>
          <p:cNvSpPr/>
          <p:nvPr/>
        </p:nvSpPr>
        <p:spPr>
          <a:xfrm>
            <a:off x="10177272" y="2633472"/>
            <a:ext cx="1143000" cy="329184"/>
          </a:xfrm>
          <a:prstGeom prst="rect">
            <a:avLst/>
          </a:prstGeom>
          <a:noFill/>
          <a:ln/>
        </p:spPr>
        <p:txBody>
          <a:bodyPr wrap="square" lIns="0" tIns="0" rIns="0" bIns="0" rtlCol="0" anchor="ctr"/>
          <a:lstStyle/>
          <a:p>
            <a:pPr algn="r" indent="0" marL="0">
              <a:buNone/>
            </a:pPr>
            <a:r>
              <a:rPr lang="en-US" sz="1500" b="1" dirty="0">
                <a:solidFill>
                  <a:srgbClr val="34D399"/>
                </a:solidFill>
                <a:latin typeface="Arial" pitchFamily="34" charset="0"/>
                <a:ea typeface="Arial" pitchFamily="34" charset="-122"/>
                <a:cs typeface="Arial" pitchFamily="34" charset="-120"/>
              </a:rPr>
              <a:t>0.41</a:t>
            </a:r>
            <a:endParaRPr lang="en-US" sz="1500" dirty="0"/>
          </a:p>
        </p:txBody>
      </p:sp>
      <p:sp>
        <p:nvSpPr>
          <p:cNvPr id="28" name="Text 25"/>
          <p:cNvSpPr/>
          <p:nvPr/>
        </p:nvSpPr>
        <p:spPr>
          <a:xfrm>
            <a:off x="6565392" y="3054096"/>
            <a:ext cx="3566160" cy="329184"/>
          </a:xfrm>
          <a:prstGeom prst="rect">
            <a:avLst/>
          </a:prstGeom>
          <a:noFill/>
          <a:ln/>
        </p:spPr>
        <p:txBody>
          <a:bodyPr wrap="square" lIns="0" tIns="0" rIns="0" bIns="0" rtlCol="0" anchor="ctr"/>
          <a:lstStyle/>
          <a:p>
            <a:pPr indent="0" marL="0">
              <a:buNone/>
            </a:pPr>
            <a:r>
              <a:rPr lang="en-US" sz="1350" dirty="0">
                <a:solidFill>
                  <a:srgbClr val="A79DBF"/>
                </a:solidFill>
                <a:latin typeface="Calibri" pitchFamily="34" charset="0"/>
                <a:ea typeface="Calibri" pitchFamily="34" charset="-122"/>
                <a:cs typeface="Calibri" pitchFamily="34" charset="-120"/>
              </a:rPr>
              <a:t>Vector database lesson</a:t>
            </a:r>
            <a:endParaRPr lang="en-US" sz="1350" dirty="0"/>
          </a:p>
        </p:txBody>
      </p:sp>
      <p:sp>
        <p:nvSpPr>
          <p:cNvPr id="29" name="Text 26"/>
          <p:cNvSpPr/>
          <p:nvPr/>
        </p:nvSpPr>
        <p:spPr>
          <a:xfrm>
            <a:off x="10177272" y="3054096"/>
            <a:ext cx="1143000" cy="329184"/>
          </a:xfrm>
          <a:prstGeom prst="rect">
            <a:avLst/>
          </a:prstGeom>
          <a:noFill/>
          <a:ln/>
        </p:spPr>
        <p:txBody>
          <a:bodyPr wrap="square" lIns="0" tIns="0" rIns="0" bIns="0" rtlCol="0" anchor="ctr"/>
          <a:lstStyle/>
          <a:p>
            <a:pPr algn="r" indent="0" marL="0">
              <a:buNone/>
            </a:pPr>
            <a:r>
              <a:rPr lang="en-US" sz="1500" b="1" dirty="0">
                <a:solidFill>
                  <a:srgbClr val="F5F2FA"/>
                </a:solidFill>
                <a:latin typeface="Arial" pitchFamily="34" charset="0"/>
                <a:ea typeface="Arial" pitchFamily="34" charset="-122"/>
                <a:cs typeface="Arial" pitchFamily="34" charset="-120"/>
              </a:rPr>
              <a:t>0.33</a:t>
            </a:r>
            <a:endParaRPr lang="en-US" sz="1500" dirty="0"/>
          </a:p>
        </p:txBody>
      </p:sp>
      <p:sp>
        <p:nvSpPr>
          <p:cNvPr id="30" name="Text 27"/>
          <p:cNvSpPr/>
          <p:nvPr/>
        </p:nvSpPr>
        <p:spPr>
          <a:xfrm>
            <a:off x="6565392" y="3474720"/>
            <a:ext cx="3566160" cy="329184"/>
          </a:xfrm>
          <a:prstGeom prst="rect">
            <a:avLst/>
          </a:prstGeom>
          <a:noFill/>
          <a:ln/>
        </p:spPr>
        <p:txBody>
          <a:bodyPr wrap="square" lIns="0" tIns="0" rIns="0" bIns="0" rtlCol="0" anchor="ctr"/>
          <a:lstStyle/>
          <a:p>
            <a:pPr indent="0" marL="0">
              <a:buNone/>
            </a:pPr>
            <a:r>
              <a:rPr lang="en-US" sz="1350" dirty="0">
                <a:solidFill>
                  <a:srgbClr val="A79DBF"/>
                </a:solidFill>
                <a:latin typeface="Calibri" pitchFamily="34" charset="0"/>
                <a:ea typeface="Calibri" pitchFamily="34" charset="-122"/>
                <a:cs typeface="Calibri" pitchFamily="34" charset="-120"/>
              </a:rPr>
              <a:t>n8n webhook lesson</a:t>
            </a:r>
            <a:endParaRPr lang="en-US" sz="1350" dirty="0"/>
          </a:p>
        </p:txBody>
      </p:sp>
      <p:sp>
        <p:nvSpPr>
          <p:cNvPr id="31" name="Text 28"/>
          <p:cNvSpPr/>
          <p:nvPr/>
        </p:nvSpPr>
        <p:spPr>
          <a:xfrm>
            <a:off x="10177272" y="3474720"/>
            <a:ext cx="1143000" cy="329184"/>
          </a:xfrm>
          <a:prstGeom prst="rect">
            <a:avLst/>
          </a:prstGeom>
          <a:noFill/>
          <a:ln/>
        </p:spPr>
        <p:txBody>
          <a:bodyPr wrap="square" lIns="0" tIns="0" rIns="0" bIns="0" rtlCol="0" anchor="ctr"/>
          <a:lstStyle/>
          <a:p>
            <a:pPr algn="r" indent="0" marL="0">
              <a:buNone/>
            </a:pPr>
            <a:r>
              <a:rPr lang="en-US" sz="1500" b="1" dirty="0">
                <a:solidFill>
                  <a:srgbClr val="F5F2FA"/>
                </a:solidFill>
                <a:latin typeface="Arial" pitchFamily="34" charset="0"/>
                <a:ea typeface="Arial" pitchFamily="34" charset="-122"/>
                <a:cs typeface="Arial" pitchFamily="34" charset="-120"/>
              </a:rPr>
              <a:t>0.07</a:t>
            </a:r>
            <a:endParaRPr lang="en-US" sz="1500" dirty="0"/>
          </a:p>
        </p:txBody>
      </p:sp>
      <p:sp>
        <p:nvSpPr>
          <p:cNvPr id="32" name="Text 29"/>
          <p:cNvSpPr/>
          <p:nvPr/>
        </p:nvSpPr>
        <p:spPr>
          <a:xfrm>
            <a:off x="6565392" y="3895344"/>
            <a:ext cx="3566160" cy="329184"/>
          </a:xfrm>
          <a:prstGeom prst="rect">
            <a:avLst/>
          </a:prstGeom>
          <a:noFill/>
          <a:ln/>
        </p:spPr>
        <p:txBody>
          <a:bodyPr wrap="square" lIns="0" tIns="0" rIns="0" bIns="0" rtlCol="0" anchor="ctr"/>
          <a:lstStyle/>
          <a:p>
            <a:pPr indent="0" marL="0">
              <a:buNone/>
            </a:pPr>
            <a:r>
              <a:rPr lang="en-US" sz="1350" dirty="0">
                <a:solidFill>
                  <a:srgbClr val="A79DBF"/>
                </a:solidFill>
                <a:latin typeface="Calibri" pitchFamily="34" charset="0"/>
                <a:ea typeface="Calibri" pitchFamily="34" charset="-122"/>
                <a:cs typeface="Calibri" pitchFamily="34" charset="-120"/>
              </a:rPr>
              <a:t>Instagram token lesson</a:t>
            </a:r>
            <a:endParaRPr lang="en-US" sz="1350" dirty="0"/>
          </a:p>
        </p:txBody>
      </p:sp>
      <p:sp>
        <p:nvSpPr>
          <p:cNvPr id="33" name="Text 30"/>
          <p:cNvSpPr/>
          <p:nvPr/>
        </p:nvSpPr>
        <p:spPr>
          <a:xfrm>
            <a:off x="10177272" y="3895344"/>
            <a:ext cx="1143000" cy="329184"/>
          </a:xfrm>
          <a:prstGeom prst="rect">
            <a:avLst/>
          </a:prstGeom>
          <a:noFill/>
          <a:ln/>
        </p:spPr>
        <p:txBody>
          <a:bodyPr wrap="square" lIns="0" tIns="0" rIns="0" bIns="0" rtlCol="0" anchor="ctr"/>
          <a:lstStyle/>
          <a:p>
            <a:pPr algn="r" indent="0" marL="0">
              <a:buNone/>
            </a:pPr>
            <a:r>
              <a:rPr lang="en-US" sz="1500" b="1" dirty="0">
                <a:solidFill>
                  <a:srgbClr val="F5F2FA"/>
                </a:solidFill>
                <a:latin typeface="Arial" pitchFamily="34" charset="0"/>
                <a:ea typeface="Arial" pitchFamily="34" charset="-122"/>
                <a:cs typeface="Arial" pitchFamily="34" charset="-120"/>
              </a:rPr>
              <a:t>0.05</a:t>
            </a:r>
            <a:endParaRPr lang="en-US" sz="1500" dirty="0"/>
          </a:p>
        </p:txBody>
      </p:sp>
      <p:sp>
        <p:nvSpPr>
          <p:cNvPr id="34" name="Text 31"/>
          <p:cNvSpPr/>
          <p:nvPr/>
        </p:nvSpPr>
        <p:spPr>
          <a:xfrm>
            <a:off x="6565392" y="4553712"/>
            <a:ext cx="4754880" cy="365760"/>
          </a:xfrm>
          <a:prstGeom prst="rect">
            <a:avLst/>
          </a:prstGeom>
          <a:noFill/>
          <a:ln/>
        </p:spPr>
        <p:txBody>
          <a:bodyPr wrap="square" lIns="0" tIns="0" rIns="0" bIns="0" rtlCol="0" anchor="ctr"/>
          <a:lstStyle/>
          <a:p>
            <a:pPr indent="0" marL="0">
              <a:buNone/>
            </a:pPr>
            <a:r>
              <a:rPr lang="en-US" sz="1400" b="1" dirty="0">
                <a:solidFill>
                  <a:srgbClr val="34D399"/>
                </a:solidFill>
                <a:latin typeface="Arial" pitchFamily="34" charset="0"/>
                <a:ea typeface="Arial" pitchFamily="34" charset="-122"/>
                <a:cs typeface="Arial" pitchFamily="34" charset="-120"/>
              </a:rPr>
              <a:t>0.41 — and clearly the right chunk</a:t>
            </a:r>
            <a:endParaRPr lang="en-US" sz="1400" dirty="0"/>
          </a:p>
        </p:txBody>
      </p:sp>
      <p:sp>
        <p:nvSpPr>
          <p:cNvPr id="35" name="Shape 32"/>
          <p:cNvSpPr/>
          <p:nvPr/>
        </p:nvSpPr>
        <p:spPr>
          <a:xfrm>
            <a:off x="548640" y="5440680"/>
            <a:ext cx="11091672" cy="566928"/>
          </a:xfrm>
          <a:prstGeom prst="roundRect">
            <a:avLst>
              <a:gd name="adj" fmla="val 19355"/>
            </a:avLst>
          </a:prstGeom>
          <a:solidFill>
            <a:srgbClr val="2E2745"/>
          </a:solidFill>
          <a:ln w="12700">
            <a:solidFill>
              <a:srgbClr val="2E2745"/>
            </a:solidFill>
            <a:prstDash val="solid"/>
          </a:ln>
        </p:spPr>
      </p:sp>
      <p:sp>
        <p:nvSpPr>
          <p:cNvPr id="36" name="Text 33"/>
          <p:cNvSpPr/>
          <p:nvPr/>
        </p:nvSpPr>
        <p:spPr>
          <a:xfrm>
            <a:off x="548640" y="5440680"/>
            <a:ext cx="11091672" cy="566928"/>
          </a:xfrm>
          <a:prstGeom prst="rect">
            <a:avLst/>
          </a:prstGeom>
          <a:noFill/>
          <a:ln/>
        </p:spPr>
        <p:txBody>
          <a:bodyPr wrap="square" lIns="0" tIns="0" rIns="0" bIns="0" rtlCol="0" anchor="ctr"/>
          <a:lstStyle/>
          <a:p>
            <a:pPr algn="ctr" indent="0" marL="0">
              <a:buNone/>
            </a:pPr>
            <a:r>
              <a:rPr lang="en-US" sz="1700" b="1" dirty="0">
                <a:solidFill>
                  <a:srgbClr val="F5F2FA"/>
                </a:solidFill>
                <a:latin typeface="Arial" pitchFamily="34" charset="0"/>
                <a:ea typeface="Arial" pitchFamily="34" charset="-122"/>
                <a:cs typeface="Arial" pitchFamily="34" charset="-120"/>
              </a:rPr>
              <a:t>The smaller number won. A percentage could never do that.</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B1526"/>
        </a:solidFill>
      </p:bgPr>
    </p:bg>
    <p:spTree>
      <p:nvGrpSpPr>
        <p:cNvPr id="1" name=""/>
        <p:cNvGrpSpPr/>
        <p:nvPr/>
      </p:nvGrpSpPr>
      <p:grpSpPr>
        <a:xfrm>
          <a:off x="0" y="0"/>
          <a:ext cx="0" cy="0"/>
          <a:chOff x="0" y="0"/>
          <a:chExt cx="0" cy="0"/>
        </a:xfrm>
      </p:grpSpPr>
      <p:sp>
        <p:nvSpPr>
          <p:cNvPr id="2" name="Text 0"/>
          <p:cNvSpPr/>
          <p:nvPr/>
        </p:nvSpPr>
        <p:spPr>
          <a:xfrm>
            <a:off x="548640" y="6263640"/>
            <a:ext cx="3657600" cy="274320"/>
          </a:xfrm>
          <a:prstGeom prst="rect">
            <a:avLst/>
          </a:prstGeom>
          <a:noFill/>
          <a:ln/>
        </p:spPr>
        <p:txBody>
          <a:bodyPr wrap="square" lIns="0" tIns="0" rIns="0" bIns="0" rtlCol="0" anchor="ctr"/>
          <a:lstStyle/>
          <a:p>
            <a:pPr indent="0" marL="0">
              <a:buNone/>
            </a:pPr>
            <a:r>
              <a:rPr lang="en-US" sz="1000" dirty="0">
                <a:solidFill>
                  <a:srgbClr val="A79DBF"/>
                </a:solidFill>
                <a:latin typeface="Calibri" pitchFamily="34" charset="0"/>
                <a:ea typeface="Calibri" pitchFamily="34" charset="-122"/>
                <a:cs typeface="Calibri" pitchFamily="34" charset="-120"/>
              </a:rPr>
              <a:t>Agentive Solutions</a:t>
            </a:r>
            <a:endParaRPr lang="en-US" sz="1000" dirty="0"/>
          </a:p>
        </p:txBody>
      </p:sp>
      <p:sp>
        <p:nvSpPr>
          <p:cNvPr id="3" name="Text 1"/>
          <p:cNvSpPr/>
          <p:nvPr/>
        </p:nvSpPr>
        <p:spPr>
          <a:xfrm>
            <a:off x="7955280" y="6263640"/>
            <a:ext cx="3685032" cy="274320"/>
          </a:xfrm>
          <a:prstGeom prst="rect">
            <a:avLst/>
          </a:prstGeom>
          <a:noFill/>
          <a:ln/>
        </p:spPr>
        <p:txBody>
          <a:bodyPr wrap="square" lIns="0" tIns="0" rIns="0" bIns="0" rtlCol="0" anchor="ctr"/>
          <a:lstStyle/>
          <a:p>
            <a:pPr algn="r" indent="0" marL="0">
              <a:buNone/>
            </a:pPr>
            <a:r>
              <a:rPr lang="en-US" sz="1000" dirty="0">
                <a:solidFill>
                  <a:srgbClr val="A79DBF"/>
                </a:solidFill>
                <a:latin typeface="Calibri" pitchFamily="34" charset="0"/>
                <a:ea typeface="Calibri" pitchFamily="34" charset="-122"/>
                <a:cs typeface="Calibri" pitchFamily="34" charset="-120"/>
              </a:rPr>
              <a:t>RAG for Automation · Lesson 02</a:t>
            </a:r>
            <a:endParaRPr lang="en-US" sz="1000" dirty="0"/>
          </a:p>
        </p:txBody>
      </p:sp>
      <p:sp>
        <p:nvSpPr>
          <p:cNvPr id="4" name="Shape 2"/>
          <p:cNvSpPr/>
          <p:nvPr/>
        </p:nvSpPr>
        <p:spPr>
          <a:xfrm>
            <a:off x="548640" y="548640"/>
            <a:ext cx="566928" cy="566928"/>
          </a:xfrm>
          <a:prstGeom prst="ellipse">
            <a:avLst/>
          </a:prstGeom>
          <a:solidFill>
            <a:srgbClr val="2E2745"/>
          </a:solidFill>
          <a:ln w="12700">
            <a:solidFill>
              <a:srgbClr val="2E2745"/>
            </a:solidFill>
            <a:prstDash val="solid"/>
          </a:ln>
        </p:spPr>
      </p:sp>
      <p:pic>
        <p:nvPicPr>
          <p:cNvPr id="5" name="Image 0" descr="preencoded.png">    </p:cNvPr>
          <p:cNvPicPr>
            <a:picLocks noChangeAspect="1"/>
          </p:cNvPicPr>
          <p:nvPr/>
        </p:nvPicPr>
        <p:blipFill>
          <a:blip r:embed="rId1"/>
          <a:stretch>
            <a:fillRect/>
          </a:stretch>
        </p:blipFill>
        <p:spPr>
          <a:xfrm>
            <a:off x="707380" y="707380"/>
            <a:ext cx="249448" cy="249448"/>
          </a:xfrm>
          <a:prstGeom prst="rect">
            <a:avLst/>
          </a:prstGeom>
        </p:spPr>
      </p:pic>
      <p:sp>
        <p:nvSpPr>
          <p:cNvPr id="6" name="Text 3"/>
          <p:cNvSpPr/>
          <p:nvPr/>
        </p:nvSpPr>
        <p:spPr>
          <a:xfrm>
            <a:off x="1298448" y="530352"/>
            <a:ext cx="10058400" cy="603504"/>
          </a:xfrm>
          <a:prstGeom prst="rect">
            <a:avLst/>
          </a:prstGeom>
          <a:noFill/>
          <a:ln/>
        </p:spPr>
        <p:txBody>
          <a:bodyPr wrap="square" lIns="0" tIns="0" rIns="0" bIns="0" rtlCol="0" anchor="ctr"/>
          <a:lstStyle/>
          <a:p>
            <a:pPr indent="0" marL="0">
              <a:buNone/>
            </a:pPr>
            <a:r>
              <a:rPr lang="en-US" sz="3400" b="1" dirty="0">
                <a:solidFill>
                  <a:srgbClr val="F5F2FA"/>
                </a:solidFill>
                <a:latin typeface="Arial" pitchFamily="34" charset="0"/>
                <a:ea typeface="Arial" pitchFamily="34" charset="-122"/>
                <a:cs typeface="Arial" pitchFamily="34" charset="-120"/>
              </a:rPr>
              <a:t>Five Phrases, Real Scores</a:t>
            </a:r>
            <a:endParaRPr lang="en-US" sz="3400" dirty="0"/>
          </a:p>
        </p:txBody>
      </p:sp>
      <p:pic>
        <p:nvPicPr>
          <p:cNvPr id="7" name="Image 1" descr="/tmp/build/assets/similarity-demo-terminal.png">    </p:cNvPr>
          <p:cNvPicPr>
            <a:picLocks noChangeAspect="1"/>
          </p:cNvPicPr>
          <p:nvPr/>
        </p:nvPicPr>
        <p:blipFill>
          <a:blip r:embed="rId2"/>
          <a:stretch>
            <a:fillRect/>
          </a:stretch>
        </p:blipFill>
        <p:spPr>
          <a:xfrm>
            <a:off x="548640" y="1554480"/>
            <a:ext cx="6336792" cy="3611880"/>
          </a:xfrm>
          <a:prstGeom prst="rect">
            <a:avLst/>
          </a:prstGeom>
        </p:spPr>
      </p:pic>
      <p:sp>
        <p:nvSpPr>
          <p:cNvPr id="8" name="Text 4"/>
          <p:cNvSpPr/>
          <p:nvPr/>
        </p:nvSpPr>
        <p:spPr>
          <a:xfrm>
            <a:off x="548640" y="5285232"/>
            <a:ext cx="6336792" cy="274320"/>
          </a:xfrm>
          <a:prstGeom prst="rect">
            <a:avLst/>
          </a:prstGeom>
          <a:noFill/>
          <a:ln/>
        </p:spPr>
        <p:txBody>
          <a:bodyPr wrap="square" lIns="0" tIns="0" rIns="0" bIns="0" rtlCol="0" anchor="ctr"/>
          <a:lstStyle/>
          <a:p>
            <a:pPr indent="0" marL="0">
              <a:buNone/>
            </a:pPr>
            <a:r>
              <a:rPr lang="en-US" sz="1150" i="1" dirty="0">
                <a:solidFill>
                  <a:srgbClr val="A79DBF"/>
                </a:solidFill>
                <a:latin typeface="Calibri" pitchFamily="34" charset="0"/>
                <a:ea typeface="Calibri" pitchFamily="34" charset="-122"/>
                <a:cs typeface="Calibri" pitchFamily="34" charset="-120"/>
              </a:rPr>
              <a:t>Our own run — 7 August 2026, both models</a:t>
            </a:r>
            <a:endParaRPr lang="en-US" sz="1150" dirty="0"/>
          </a:p>
        </p:txBody>
      </p:sp>
      <p:sp>
        <p:nvSpPr>
          <p:cNvPr id="9" name="Shape 5"/>
          <p:cNvSpPr/>
          <p:nvPr/>
        </p:nvSpPr>
        <p:spPr>
          <a:xfrm>
            <a:off x="7178040" y="1554480"/>
            <a:ext cx="4462272" cy="1691640"/>
          </a:xfrm>
          <a:prstGeom prst="roundRect">
            <a:avLst>
              <a:gd name="adj" fmla="val 7568"/>
            </a:avLst>
          </a:prstGeom>
          <a:solidFill>
            <a:srgbClr val="262038"/>
          </a:solidFill>
          <a:ln w="12700">
            <a:solidFill>
              <a:srgbClr val="262038"/>
            </a:solidFill>
            <a:prstDash val="solid"/>
          </a:ln>
        </p:spPr>
      </p:sp>
      <p:sp>
        <p:nvSpPr>
          <p:cNvPr id="10" name="Text 6"/>
          <p:cNvSpPr/>
          <p:nvPr/>
        </p:nvSpPr>
        <p:spPr>
          <a:xfrm>
            <a:off x="7498080" y="1755648"/>
            <a:ext cx="2011680" cy="548640"/>
          </a:xfrm>
          <a:prstGeom prst="rect">
            <a:avLst/>
          </a:prstGeom>
          <a:noFill/>
          <a:ln/>
        </p:spPr>
        <p:txBody>
          <a:bodyPr wrap="square" lIns="0" tIns="0" rIns="0" bIns="0" rtlCol="0" anchor="ctr"/>
          <a:lstStyle/>
          <a:p>
            <a:pPr indent="0" marL="0">
              <a:buNone/>
            </a:pPr>
            <a:r>
              <a:rPr lang="en-US" sz="3200" b="1" dirty="0">
                <a:solidFill>
                  <a:srgbClr val="EA4B71"/>
                </a:solidFill>
                <a:latin typeface="Arial" pitchFamily="34" charset="0"/>
                <a:ea typeface="Arial" pitchFamily="34" charset="-122"/>
                <a:cs typeface="Arial" pitchFamily="34" charset="-120"/>
              </a:rPr>
              <a:t>0.451</a:t>
            </a:r>
            <a:endParaRPr lang="en-US" sz="3200" dirty="0"/>
          </a:p>
        </p:txBody>
      </p:sp>
      <p:sp>
        <p:nvSpPr>
          <p:cNvPr id="11" name="Text 7"/>
          <p:cNvSpPr/>
          <p:nvPr/>
        </p:nvSpPr>
        <p:spPr>
          <a:xfrm>
            <a:off x="7498080" y="2340864"/>
            <a:ext cx="3840480" cy="292608"/>
          </a:xfrm>
          <a:prstGeom prst="rect">
            <a:avLst/>
          </a:prstGeom>
          <a:noFill/>
          <a:ln/>
        </p:spPr>
        <p:txBody>
          <a:bodyPr wrap="square" lIns="0" tIns="0" rIns="0" bIns="0" rtlCol="0" anchor="ctr"/>
          <a:lstStyle/>
          <a:p>
            <a:pPr indent="0" marL="0">
              <a:buNone/>
            </a:pPr>
            <a:r>
              <a:rPr lang="en-US" sz="1500" b="1" dirty="0">
                <a:solidFill>
                  <a:srgbClr val="F5F2FA"/>
                </a:solidFill>
                <a:latin typeface="Arial" pitchFamily="34" charset="0"/>
                <a:ea typeface="Arial" pitchFamily="34" charset="-122"/>
                <a:cs typeface="Arial" pitchFamily="34" charset="-120"/>
              </a:rPr>
              <a:t>No shared words</a:t>
            </a:r>
            <a:endParaRPr lang="en-US" sz="1500" dirty="0"/>
          </a:p>
        </p:txBody>
      </p:sp>
      <p:sp>
        <p:nvSpPr>
          <p:cNvPr id="12" name="Text 8"/>
          <p:cNvSpPr/>
          <p:nvPr/>
        </p:nvSpPr>
        <p:spPr>
          <a:xfrm>
            <a:off x="7498080" y="2651760"/>
            <a:ext cx="3840480" cy="502920"/>
          </a:xfrm>
          <a:prstGeom prst="rect">
            <a:avLst/>
          </a:prstGeom>
          <a:noFill/>
          <a:ln/>
        </p:spPr>
        <p:txBody>
          <a:bodyPr wrap="square" lIns="0" tIns="0" rIns="0" bIns="0" rtlCol="0" anchor="ctr"/>
          <a:lstStyle/>
          <a:p>
            <a:pPr indent="0" marL="0">
              <a:buNone/>
            </a:pPr>
            <a:r>
              <a:rPr lang="en-US" sz="1250" dirty="0">
                <a:solidFill>
                  <a:srgbClr val="A79DBF"/>
                </a:solidFill>
                <a:latin typeface="Calibri" pitchFamily="34" charset="0"/>
                <a:ea typeface="Calibri" pitchFamily="34" charset="-122"/>
                <a:cs typeface="Calibri" pitchFamily="34" charset="-120"/>
              </a:rPr>
              <a:t>Not one word in common — and still the highest score on the board.</a:t>
            </a:r>
            <a:endParaRPr lang="en-US" sz="1250" dirty="0"/>
          </a:p>
        </p:txBody>
      </p:sp>
      <p:sp>
        <p:nvSpPr>
          <p:cNvPr id="13" name="Shape 9"/>
          <p:cNvSpPr/>
          <p:nvPr/>
        </p:nvSpPr>
        <p:spPr>
          <a:xfrm>
            <a:off x="7178040" y="3474720"/>
            <a:ext cx="4462272" cy="1691640"/>
          </a:xfrm>
          <a:prstGeom prst="roundRect">
            <a:avLst>
              <a:gd name="adj" fmla="val 7568"/>
            </a:avLst>
          </a:prstGeom>
          <a:solidFill>
            <a:srgbClr val="262038"/>
          </a:solidFill>
          <a:ln w="12700">
            <a:solidFill>
              <a:srgbClr val="262038"/>
            </a:solidFill>
            <a:prstDash val="solid"/>
          </a:ln>
        </p:spPr>
      </p:sp>
      <p:sp>
        <p:nvSpPr>
          <p:cNvPr id="14" name="Text 10"/>
          <p:cNvSpPr/>
          <p:nvPr/>
        </p:nvSpPr>
        <p:spPr>
          <a:xfrm>
            <a:off x="7498080" y="3675888"/>
            <a:ext cx="2011680" cy="548640"/>
          </a:xfrm>
          <a:prstGeom prst="rect">
            <a:avLst/>
          </a:prstGeom>
          <a:noFill/>
          <a:ln/>
        </p:spPr>
        <p:txBody>
          <a:bodyPr wrap="square" lIns="0" tIns="0" rIns="0" bIns="0" rtlCol="0" anchor="ctr"/>
          <a:lstStyle/>
          <a:p>
            <a:pPr indent="0" marL="0">
              <a:buNone/>
            </a:pPr>
            <a:r>
              <a:rPr lang="en-US" sz="3200" b="1" dirty="0">
                <a:solidFill>
                  <a:srgbClr val="8B7FD7"/>
                </a:solidFill>
                <a:latin typeface="Arial" pitchFamily="34" charset="0"/>
                <a:ea typeface="Arial" pitchFamily="34" charset="-122"/>
                <a:cs typeface="Arial" pitchFamily="34" charset="-120"/>
              </a:rPr>
              <a:t>0.066</a:t>
            </a:r>
            <a:endParaRPr lang="en-US" sz="3200" dirty="0"/>
          </a:p>
        </p:txBody>
      </p:sp>
      <p:sp>
        <p:nvSpPr>
          <p:cNvPr id="15" name="Text 11"/>
          <p:cNvSpPr/>
          <p:nvPr/>
        </p:nvSpPr>
        <p:spPr>
          <a:xfrm>
            <a:off x="7498080" y="4261104"/>
            <a:ext cx="3840480" cy="292608"/>
          </a:xfrm>
          <a:prstGeom prst="rect">
            <a:avLst/>
          </a:prstGeom>
          <a:noFill/>
          <a:ln/>
        </p:spPr>
        <p:txBody>
          <a:bodyPr wrap="square" lIns="0" tIns="0" rIns="0" bIns="0" rtlCol="0" anchor="ctr"/>
          <a:lstStyle/>
          <a:p>
            <a:pPr indent="0" marL="0">
              <a:buNone/>
            </a:pPr>
            <a:r>
              <a:rPr lang="en-US" sz="1500" b="1" dirty="0">
                <a:solidFill>
                  <a:srgbClr val="F5F2FA"/>
                </a:solidFill>
                <a:latin typeface="Arial" pitchFamily="34" charset="0"/>
                <a:ea typeface="Arial" pitchFamily="34" charset="-122"/>
                <a:cs typeface="Arial" pitchFamily="34" charset="-120"/>
              </a:rPr>
              <a:t>Unrelated stays near zero</a:t>
            </a:r>
            <a:endParaRPr lang="en-US" sz="1500" dirty="0"/>
          </a:p>
        </p:txBody>
      </p:sp>
      <p:sp>
        <p:nvSpPr>
          <p:cNvPr id="16" name="Text 12"/>
          <p:cNvSpPr/>
          <p:nvPr/>
        </p:nvSpPr>
        <p:spPr>
          <a:xfrm>
            <a:off x="7498080" y="4572000"/>
            <a:ext cx="3840480" cy="502920"/>
          </a:xfrm>
          <a:prstGeom prst="rect">
            <a:avLst/>
          </a:prstGeom>
          <a:noFill/>
          <a:ln/>
        </p:spPr>
        <p:txBody>
          <a:bodyPr wrap="square" lIns="0" tIns="0" rIns="0" bIns="0" rtlCol="0" anchor="ctr"/>
          <a:lstStyle/>
          <a:p>
            <a:pPr indent="0" marL="0">
              <a:buNone/>
            </a:pPr>
            <a:r>
              <a:rPr lang="en-US" sz="1250" dirty="0">
                <a:solidFill>
                  <a:srgbClr val="A79DBF"/>
                </a:solidFill>
                <a:latin typeface="Calibri" pitchFamily="34" charset="0"/>
                <a:ea typeface="Calibri" pitchFamily="34" charset="-122"/>
                <a:cs typeface="Calibri" pitchFamily="34" charset="-120"/>
              </a:rPr>
              <a:t>The score is honest at both ends, not just the top.</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B1526"/>
        </a:solidFill>
      </p:bgPr>
    </p:bg>
    <p:spTree>
      <p:nvGrpSpPr>
        <p:cNvPr id="1" name=""/>
        <p:cNvGrpSpPr/>
        <p:nvPr/>
      </p:nvGrpSpPr>
      <p:grpSpPr>
        <a:xfrm>
          <a:off x="0" y="0"/>
          <a:ext cx="0" cy="0"/>
          <a:chOff x="0" y="0"/>
          <a:chExt cx="0" cy="0"/>
        </a:xfrm>
      </p:grpSpPr>
      <p:sp>
        <p:nvSpPr>
          <p:cNvPr id="2" name="Text 0"/>
          <p:cNvSpPr/>
          <p:nvPr/>
        </p:nvSpPr>
        <p:spPr>
          <a:xfrm>
            <a:off x="548640" y="6263640"/>
            <a:ext cx="3657600" cy="274320"/>
          </a:xfrm>
          <a:prstGeom prst="rect">
            <a:avLst/>
          </a:prstGeom>
          <a:noFill/>
          <a:ln/>
        </p:spPr>
        <p:txBody>
          <a:bodyPr wrap="square" lIns="0" tIns="0" rIns="0" bIns="0" rtlCol="0" anchor="ctr"/>
          <a:lstStyle/>
          <a:p>
            <a:pPr indent="0" marL="0">
              <a:buNone/>
            </a:pPr>
            <a:r>
              <a:rPr lang="en-US" sz="1000" dirty="0">
                <a:solidFill>
                  <a:srgbClr val="A79DBF"/>
                </a:solidFill>
                <a:latin typeface="Calibri" pitchFamily="34" charset="0"/>
                <a:ea typeface="Calibri" pitchFamily="34" charset="-122"/>
                <a:cs typeface="Calibri" pitchFamily="34" charset="-120"/>
              </a:rPr>
              <a:t>Agentive Solutions</a:t>
            </a:r>
            <a:endParaRPr lang="en-US" sz="1000" dirty="0"/>
          </a:p>
        </p:txBody>
      </p:sp>
      <p:sp>
        <p:nvSpPr>
          <p:cNvPr id="3" name="Text 1"/>
          <p:cNvSpPr/>
          <p:nvPr/>
        </p:nvSpPr>
        <p:spPr>
          <a:xfrm>
            <a:off x="7955280" y="6263640"/>
            <a:ext cx="3685032" cy="274320"/>
          </a:xfrm>
          <a:prstGeom prst="rect">
            <a:avLst/>
          </a:prstGeom>
          <a:noFill/>
          <a:ln/>
        </p:spPr>
        <p:txBody>
          <a:bodyPr wrap="square" lIns="0" tIns="0" rIns="0" bIns="0" rtlCol="0" anchor="ctr"/>
          <a:lstStyle/>
          <a:p>
            <a:pPr algn="r" indent="0" marL="0">
              <a:buNone/>
            </a:pPr>
            <a:r>
              <a:rPr lang="en-US" sz="1000" dirty="0">
                <a:solidFill>
                  <a:srgbClr val="A79DBF"/>
                </a:solidFill>
                <a:latin typeface="Calibri" pitchFamily="34" charset="0"/>
                <a:ea typeface="Calibri" pitchFamily="34" charset="-122"/>
                <a:cs typeface="Calibri" pitchFamily="34" charset="-120"/>
              </a:rPr>
              <a:t>RAG for Automation · Lesson 02</a:t>
            </a:r>
            <a:endParaRPr lang="en-US" sz="1000" dirty="0"/>
          </a:p>
        </p:txBody>
      </p:sp>
      <p:sp>
        <p:nvSpPr>
          <p:cNvPr id="4" name="Shape 2"/>
          <p:cNvSpPr/>
          <p:nvPr/>
        </p:nvSpPr>
        <p:spPr>
          <a:xfrm>
            <a:off x="548640" y="548640"/>
            <a:ext cx="566928" cy="566928"/>
          </a:xfrm>
          <a:prstGeom prst="ellipse">
            <a:avLst/>
          </a:prstGeom>
          <a:solidFill>
            <a:srgbClr val="2E2745"/>
          </a:solidFill>
          <a:ln w="12700">
            <a:solidFill>
              <a:srgbClr val="2E2745"/>
            </a:solidFill>
            <a:prstDash val="solid"/>
          </a:ln>
        </p:spPr>
      </p:sp>
      <p:pic>
        <p:nvPicPr>
          <p:cNvPr id="5" name="Image 0" descr="preencoded.png">    </p:cNvPr>
          <p:cNvPicPr>
            <a:picLocks noChangeAspect="1"/>
          </p:cNvPicPr>
          <p:nvPr/>
        </p:nvPicPr>
        <p:blipFill>
          <a:blip r:embed="rId1"/>
          <a:stretch>
            <a:fillRect/>
          </a:stretch>
        </p:blipFill>
        <p:spPr>
          <a:xfrm>
            <a:off x="707380" y="707380"/>
            <a:ext cx="249448" cy="249448"/>
          </a:xfrm>
          <a:prstGeom prst="rect">
            <a:avLst/>
          </a:prstGeom>
        </p:spPr>
      </p:pic>
      <p:sp>
        <p:nvSpPr>
          <p:cNvPr id="6" name="Text 3"/>
          <p:cNvSpPr/>
          <p:nvPr/>
        </p:nvSpPr>
        <p:spPr>
          <a:xfrm>
            <a:off x="1298448" y="530352"/>
            <a:ext cx="10058400" cy="603504"/>
          </a:xfrm>
          <a:prstGeom prst="rect">
            <a:avLst/>
          </a:prstGeom>
          <a:noFill/>
          <a:ln/>
        </p:spPr>
        <p:txBody>
          <a:bodyPr wrap="square" lIns="0" tIns="0" rIns="0" bIns="0" rtlCol="0" anchor="ctr"/>
          <a:lstStyle/>
          <a:p>
            <a:pPr indent="0" marL="0">
              <a:buNone/>
            </a:pPr>
            <a:r>
              <a:rPr lang="en-US" sz="3400" b="1" dirty="0">
                <a:solidFill>
                  <a:srgbClr val="F5F2FA"/>
                </a:solidFill>
                <a:latin typeface="Arial" pitchFamily="34" charset="0"/>
                <a:ea typeface="Arial" pitchFamily="34" charset="-122"/>
                <a:cs typeface="Arial" pitchFamily="34" charset="-120"/>
              </a:rPr>
              <a:t>When Language Beat Meaning</a:t>
            </a:r>
            <a:endParaRPr lang="en-US" sz="3400" dirty="0"/>
          </a:p>
        </p:txBody>
      </p:sp>
      <p:sp>
        <p:nvSpPr>
          <p:cNvPr id="7" name="Text 4"/>
          <p:cNvSpPr/>
          <p:nvPr/>
        </p:nvSpPr>
        <p:spPr>
          <a:xfrm>
            <a:off x="548640" y="1207008"/>
            <a:ext cx="10515600" cy="320040"/>
          </a:xfrm>
          <a:prstGeom prst="rect">
            <a:avLst/>
          </a:prstGeom>
          <a:noFill/>
          <a:ln/>
        </p:spPr>
        <p:txBody>
          <a:bodyPr wrap="square" lIns="0" tIns="0" rIns="0" bIns="0" rtlCol="0" anchor="ctr"/>
          <a:lstStyle/>
          <a:p>
            <a:pPr indent="0" marL="0">
              <a:buNone/>
            </a:pPr>
            <a:r>
              <a:rPr lang="en-US" sz="1600" dirty="0">
                <a:solidFill>
                  <a:srgbClr val="A79DBF"/>
                </a:solidFill>
                <a:latin typeface="Calibri" pitchFamily="34" charset="0"/>
                <a:ea typeface="Calibri" pitchFamily="34" charset="-122"/>
                <a:cs typeface="Calibri" pitchFamily="34" charset="-120"/>
              </a:rPr>
              <a:t>A higher score means the model thinks the two texts are closer.</a:t>
            </a:r>
            <a:endParaRPr lang="en-US" sz="1600" dirty="0"/>
          </a:p>
        </p:txBody>
      </p:sp>
      <p:sp>
        <p:nvSpPr>
          <p:cNvPr id="8" name="Shape 5"/>
          <p:cNvSpPr/>
          <p:nvPr/>
        </p:nvSpPr>
        <p:spPr>
          <a:xfrm>
            <a:off x="548640" y="1783080"/>
            <a:ext cx="5394960" cy="2468880"/>
          </a:xfrm>
          <a:prstGeom prst="roundRect">
            <a:avLst>
              <a:gd name="adj" fmla="val 5185"/>
            </a:avLst>
          </a:prstGeom>
          <a:solidFill>
            <a:srgbClr val="262038"/>
          </a:solidFill>
          <a:ln w="12700">
            <a:solidFill>
              <a:srgbClr val="262038"/>
            </a:solidFill>
            <a:prstDash val="solid"/>
          </a:ln>
        </p:spPr>
      </p:sp>
      <p:sp>
        <p:nvSpPr>
          <p:cNvPr id="9" name="Text 6"/>
          <p:cNvSpPr/>
          <p:nvPr/>
        </p:nvSpPr>
        <p:spPr>
          <a:xfrm>
            <a:off x="868680" y="2011680"/>
            <a:ext cx="4754880" cy="274320"/>
          </a:xfrm>
          <a:prstGeom prst="rect">
            <a:avLst/>
          </a:prstGeom>
          <a:noFill/>
          <a:ln/>
        </p:spPr>
        <p:txBody>
          <a:bodyPr wrap="square" lIns="0" tIns="0" rIns="0" bIns="0" rtlCol="0" anchor="ctr"/>
          <a:lstStyle/>
          <a:p>
            <a:pPr indent="0" marL="0">
              <a:buNone/>
            </a:pPr>
            <a:r>
              <a:rPr lang="en-US" sz="1200" b="1" spc="150" kern="0" dirty="0">
                <a:solidFill>
                  <a:srgbClr val="34D399"/>
                </a:solidFill>
                <a:latin typeface="Arial" pitchFamily="34" charset="0"/>
                <a:ea typeface="Arial" pitchFamily="34" charset="-122"/>
                <a:cs typeface="Arial" pitchFamily="34" charset="-120"/>
              </a:rPr>
              <a:t>SHOULD HAVE SCORED HIGHER</a:t>
            </a:r>
            <a:endParaRPr lang="en-US" sz="1200" dirty="0"/>
          </a:p>
        </p:txBody>
      </p:sp>
      <p:sp>
        <p:nvSpPr>
          <p:cNvPr id="10" name="Text 7"/>
          <p:cNvSpPr/>
          <p:nvPr/>
        </p:nvSpPr>
        <p:spPr>
          <a:xfrm>
            <a:off x="868680" y="2377440"/>
            <a:ext cx="4754880" cy="274320"/>
          </a:xfrm>
          <a:prstGeom prst="rect">
            <a:avLst/>
          </a:prstGeom>
          <a:noFill/>
          <a:ln/>
        </p:spPr>
        <p:txBody>
          <a:bodyPr wrap="square" lIns="0" tIns="0" rIns="0" bIns="0" rtlCol="0" anchor="ctr"/>
          <a:lstStyle/>
          <a:p>
            <a:pPr indent="0" marL="0">
              <a:buNone/>
            </a:pPr>
            <a:r>
              <a:rPr lang="en-US" sz="1300" dirty="0">
                <a:solidFill>
                  <a:srgbClr val="F5F2FA"/>
                </a:solidFill>
                <a:latin typeface="Courier New" pitchFamily="34" charset="0"/>
                <a:ea typeface="Courier New" pitchFamily="34" charset="-122"/>
                <a:cs typeface="Courier New" pitchFamily="34" charset="-120"/>
              </a:rPr>
              <a:t>"I want my money back"</a:t>
            </a:r>
            <a:endParaRPr lang="en-US" sz="1300" dirty="0"/>
          </a:p>
        </p:txBody>
      </p:sp>
      <p:sp>
        <p:nvSpPr>
          <p:cNvPr id="11" name="Text 8"/>
          <p:cNvSpPr/>
          <p:nvPr/>
        </p:nvSpPr>
        <p:spPr>
          <a:xfrm>
            <a:off x="868680" y="2651760"/>
            <a:ext cx="4754880" cy="274320"/>
          </a:xfrm>
          <a:prstGeom prst="rect">
            <a:avLst/>
          </a:prstGeom>
          <a:noFill/>
          <a:ln/>
        </p:spPr>
        <p:txBody>
          <a:bodyPr wrap="square" lIns="0" tIns="0" rIns="0" bIns="0" rtlCol="0" anchor="ctr"/>
          <a:lstStyle/>
          <a:p>
            <a:pPr indent="0" marL="0">
              <a:buNone/>
            </a:pPr>
            <a:r>
              <a:rPr lang="en-US" sz="1300" dirty="0">
                <a:solidFill>
                  <a:srgbClr val="F5F2FA"/>
                </a:solidFill>
                <a:latin typeface="Courier New" pitchFamily="34" charset="0"/>
                <a:ea typeface="Courier New" pitchFamily="34" charset="-122"/>
                <a:cs typeface="Courier New" pitchFamily="34" charset="-120"/>
              </a:rPr>
              <a:t>"paisa wapas chahiye"</a:t>
            </a:r>
            <a:endParaRPr lang="en-US" sz="1300" dirty="0"/>
          </a:p>
        </p:txBody>
      </p:sp>
      <p:sp>
        <p:nvSpPr>
          <p:cNvPr id="12" name="Text 9"/>
          <p:cNvSpPr/>
          <p:nvPr/>
        </p:nvSpPr>
        <p:spPr>
          <a:xfrm>
            <a:off x="868680" y="2980944"/>
            <a:ext cx="4754880" cy="274320"/>
          </a:xfrm>
          <a:prstGeom prst="rect">
            <a:avLst/>
          </a:prstGeom>
          <a:noFill/>
          <a:ln/>
        </p:spPr>
        <p:txBody>
          <a:bodyPr wrap="square" lIns="0" tIns="0" rIns="0" bIns="0" rtlCol="0" anchor="ctr"/>
          <a:lstStyle/>
          <a:p>
            <a:pPr indent="0" marL="0">
              <a:buNone/>
            </a:pPr>
            <a:r>
              <a:rPr lang="en-US" sz="1300" dirty="0">
                <a:solidFill>
                  <a:srgbClr val="A79DBF"/>
                </a:solidFill>
                <a:latin typeface="Calibri" pitchFamily="34" charset="0"/>
                <a:ea typeface="Calibri" pitchFamily="34" charset="-122"/>
                <a:cs typeface="Calibri" pitchFamily="34" charset="-120"/>
              </a:rPr>
              <a:t>Same meaning, different language</a:t>
            </a:r>
            <a:endParaRPr lang="en-US" sz="1300" dirty="0"/>
          </a:p>
        </p:txBody>
      </p:sp>
      <p:sp>
        <p:nvSpPr>
          <p:cNvPr id="13" name="Text 10"/>
          <p:cNvSpPr/>
          <p:nvPr/>
        </p:nvSpPr>
        <p:spPr>
          <a:xfrm>
            <a:off x="868680" y="3364992"/>
            <a:ext cx="1828800" cy="640080"/>
          </a:xfrm>
          <a:prstGeom prst="rect">
            <a:avLst/>
          </a:prstGeom>
          <a:noFill/>
          <a:ln/>
        </p:spPr>
        <p:txBody>
          <a:bodyPr wrap="square" lIns="0" tIns="0" rIns="0" bIns="0" rtlCol="0" anchor="ctr"/>
          <a:lstStyle/>
          <a:p>
            <a:pPr indent="0" marL="0">
              <a:buNone/>
            </a:pPr>
            <a:r>
              <a:rPr lang="en-US" sz="3600" b="1" dirty="0">
                <a:solidFill>
                  <a:srgbClr val="34D399"/>
                </a:solidFill>
                <a:latin typeface="Arial" pitchFamily="34" charset="0"/>
                <a:ea typeface="Arial" pitchFamily="34" charset="-122"/>
                <a:cs typeface="Arial" pitchFamily="34" charset="-120"/>
              </a:rPr>
              <a:t>0.245</a:t>
            </a:r>
            <a:endParaRPr lang="en-US" sz="3600" dirty="0"/>
          </a:p>
        </p:txBody>
      </p:sp>
      <p:sp>
        <p:nvSpPr>
          <p:cNvPr id="14" name="Shape 11"/>
          <p:cNvSpPr/>
          <p:nvPr/>
        </p:nvSpPr>
        <p:spPr>
          <a:xfrm>
            <a:off x="6245352" y="1783080"/>
            <a:ext cx="5394960" cy="2468880"/>
          </a:xfrm>
          <a:prstGeom prst="roundRect">
            <a:avLst>
              <a:gd name="adj" fmla="val 5185"/>
            </a:avLst>
          </a:prstGeom>
          <a:solidFill>
            <a:srgbClr val="262038"/>
          </a:solidFill>
          <a:ln w="12700">
            <a:solidFill>
              <a:srgbClr val="262038"/>
            </a:solidFill>
            <a:prstDash val="solid"/>
          </a:ln>
        </p:spPr>
      </p:sp>
      <p:sp>
        <p:nvSpPr>
          <p:cNvPr id="15" name="Text 12"/>
          <p:cNvSpPr/>
          <p:nvPr/>
        </p:nvSpPr>
        <p:spPr>
          <a:xfrm>
            <a:off x="6565392" y="2011680"/>
            <a:ext cx="4754880" cy="274320"/>
          </a:xfrm>
          <a:prstGeom prst="rect">
            <a:avLst/>
          </a:prstGeom>
          <a:noFill/>
          <a:ln/>
        </p:spPr>
        <p:txBody>
          <a:bodyPr wrap="square" lIns="0" tIns="0" rIns="0" bIns="0" rtlCol="0" anchor="ctr"/>
          <a:lstStyle/>
          <a:p>
            <a:pPr indent="0" marL="0">
              <a:buNone/>
            </a:pPr>
            <a:r>
              <a:rPr lang="en-US" sz="1200" b="1" spc="150" kern="0" dirty="0">
                <a:solidFill>
                  <a:srgbClr val="A79DBF"/>
                </a:solidFill>
                <a:latin typeface="Arial" pitchFamily="34" charset="0"/>
                <a:ea typeface="Arial" pitchFamily="34" charset="-122"/>
                <a:cs typeface="Arial" pitchFamily="34" charset="-120"/>
              </a:rPr>
              <a:t>SHOULD HAVE SCORED LOWER</a:t>
            </a:r>
            <a:endParaRPr lang="en-US" sz="1200" dirty="0"/>
          </a:p>
        </p:txBody>
      </p:sp>
      <p:sp>
        <p:nvSpPr>
          <p:cNvPr id="16" name="Text 13"/>
          <p:cNvSpPr/>
          <p:nvPr/>
        </p:nvSpPr>
        <p:spPr>
          <a:xfrm>
            <a:off x="6565392" y="2377440"/>
            <a:ext cx="4754880" cy="274320"/>
          </a:xfrm>
          <a:prstGeom prst="rect">
            <a:avLst/>
          </a:prstGeom>
          <a:noFill/>
          <a:ln/>
        </p:spPr>
        <p:txBody>
          <a:bodyPr wrap="square" lIns="0" tIns="0" rIns="0" bIns="0" rtlCol="0" anchor="ctr"/>
          <a:lstStyle/>
          <a:p>
            <a:pPr indent="0" marL="0">
              <a:buNone/>
            </a:pPr>
            <a:r>
              <a:rPr lang="en-US" sz="1300" dirty="0">
                <a:solidFill>
                  <a:srgbClr val="F5F2FA"/>
                </a:solidFill>
                <a:latin typeface="Courier New" pitchFamily="34" charset="0"/>
                <a:ea typeface="Courier New" pitchFamily="34" charset="-122"/>
                <a:cs typeface="Courier New" pitchFamily="34" charset="-120"/>
              </a:rPr>
              <a:t>"paisa wapas chahiye"</a:t>
            </a:r>
            <a:endParaRPr lang="en-US" sz="1300" dirty="0"/>
          </a:p>
        </p:txBody>
      </p:sp>
      <p:sp>
        <p:nvSpPr>
          <p:cNvPr id="17" name="Text 14"/>
          <p:cNvSpPr/>
          <p:nvPr/>
        </p:nvSpPr>
        <p:spPr>
          <a:xfrm>
            <a:off x="6565392" y="2651760"/>
            <a:ext cx="4754880" cy="274320"/>
          </a:xfrm>
          <a:prstGeom prst="rect">
            <a:avLst/>
          </a:prstGeom>
          <a:noFill/>
          <a:ln/>
        </p:spPr>
        <p:txBody>
          <a:bodyPr wrap="square" lIns="0" tIns="0" rIns="0" bIns="0" rtlCol="0" anchor="ctr"/>
          <a:lstStyle/>
          <a:p>
            <a:pPr indent="0" marL="0">
              <a:buNone/>
            </a:pPr>
            <a:r>
              <a:rPr lang="en-US" sz="1300" dirty="0">
                <a:solidFill>
                  <a:srgbClr val="F5F2FA"/>
                </a:solidFill>
                <a:latin typeface="Courier New" pitchFamily="34" charset="0"/>
                <a:ea typeface="Courier New" pitchFamily="34" charset="-122"/>
                <a:cs typeface="Courier New" pitchFamily="34" charset="-120"/>
              </a:rPr>
              <a:t>"aaj cricket ka match hai"</a:t>
            </a:r>
            <a:endParaRPr lang="en-US" sz="1300" dirty="0"/>
          </a:p>
        </p:txBody>
      </p:sp>
      <p:sp>
        <p:nvSpPr>
          <p:cNvPr id="18" name="Text 15"/>
          <p:cNvSpPr/>
          <p:nvPr/>
        </p:nvSpPr>
        <p:spPr>
          <a:xfrm>
            <a:off x="6565392" y="2980944"/>
            <a:ext cx="4754880" cy="274320"/>
          </a:xfrm>
          <a:prstGeom prst="rect">
            <a:avLst/>
          </a:prstGeom>
          <a:noFill/>
          <a:ln/>
        </p:spPr>
        <p:txBody>
          <a:bodyPr wrap="square" lIns="0" tIns="0" rIns="0" bIns="0" rtlCol="0" anchor="ctr"/>
          <a:lstStyle/>
          <a:p>
            <a:pPr indent="0" marL="0">
              <a:buNone/>
            </a:pPr>
            <a:r>
              <a:rPr lang="en-US" sz="1300" dirty="0">
                <a:solidFill>
                  <a:srgbClr val="A79DBF"/>
                </a:solidFill>
                <a:latin typeface="Calibri" pitchFamily="34" charset="0"/>
                <a:ea typeface="Calibri" pitchFamily="34" charset="-122"/>
                <a:cs typeface="Calibri" pitchFamily="34" charset="-120"/>
              </a:rPr>
              <a:t>No connection at all</a:t>
            </a:r>
            <a:endParaRPr lang="en-US" sz="1300" dirty="0"/>
          </a:p>
        </p:txBody>
      </p:sp>
      <p:sp>
        <p:nvSpPr>
          <p:cNvPr id="19" name="Text 16"/>
          <p:cNvSpPr/>
          <p:nvPr/>
        </p:nvSpPr>
        <p:spPr>
          <a:xfrm>
            <a:off x="6565392" y="3364992"/>
            <a:ext cx="1828800" cy="640080"/>
          </a:xfrm>
          <a:prstGeom prst="rect">
            <a:avLst/>
          </a:prstGeom>
          <a:noFill/>
          <a:ln/>
        </p:spPr>
        <p:txBody>
          <a:bodyPr wrap="square" lIns="0" tIns="0" rIns="0" bIns="0" rtlCol="0" anchor="ctr"/>
          <a:lstStyle/>
          <a:p>
            <a:pPr indent="0" marL="0">
              <a:buNone/>
            </a:pPr>
            <a:r>
              <a:rPr lang="en-US" sz="3600" b="1" dirty="0">
                <a:solidFill>
                  <a:srgbClr val="EA4B71"/>
                </a:solidFill>
                <a:latin typeface="Arial" pitchFamily="34" charset="0"/>
                <a:ea typeface="Arial" pitchFamily="34" charset="-122"/>
                <a:cs typeface="Arial" pitchFamily="34" charset="-120"/>
              </a:rPr>
              <a:t>0.272</a:t>
            </a:r>
            <a:endParaRPr lang="en-US" sz="3600" dirty="0"/>
          </a:p>
        </p:txBody>
      </p:sp>
      <p:sp>
        <p:nvSpPr>
          <p:cNvPr id="20" name="Text 17"/>
          <p:cNvSpPr/>
          <p:nvPr/>
        </p:nvSpPr>
        <p:spPr>
          <a:xfrm>
            <a:off x="8394192" y="3538728"/>
            <a:ext cx="1554480" cy="310896"/>
          </a:xfrm>
          <a:prstGeom prst="roundRect">
            <a:avLst>
              <a:gd name="adj" fmla="val 23529"/>
            </a:avLst>
          </a:prstGeom>
          <a:solidFill>
            <a:srgbClr val="EA4B71"/>
          </a:solidFill>
          <a:ln>
            <a:solidFill>
              <a:srgbClr val="EA4B71"/>
            </a:solidFill>
          </a:ln>
        </p:spPr>
        <p:txBody>
          <a:bodyPr wrap="square" lIns="0" tIns="0" rIns="0" bIns="0" rtlCol="0" anchor="ctr"/>
          <a:lstStyle/>
          <a:p>
            <a:pPr algn="ctr" indent="0" marL="0">
              <a:buNone/>
            </a:pPr>
            <a:r>
              <a:rPr lang="en-US" sz="1100" b="1" spc="100" kern="0" dirty="0">
                <a:solidFill>
                  <a:srgbClr val="1B1526"/>
                </a:solidFill>
                <a:latin typeface="Arial" pitchFamily="34" charset="0"/>
                <a:ea typeface="Arial" pitchFamily="34" charset="-122"/>
                <a:cs typeface="Arial" pitchFamily="34" charset="-120"/>
              </a:rPr>
              <a:t>BUT IT WON</a:t>
            </a:r>
            <a:endParaRPr lang="en-US" sz="1100" dirty="0"/>
          </a:p>
        </p:txBody>
      </p:sp>
      <p:sp>
        <p:nvSpPr>
          <p:cNvPr id="21" name="Shape 18"/>
          <p:cNvSpPr/>
          <p:nvPr/>
        </p:nvSpPr>
        <p:spPr>
          <a:xfrm>
            <a:off x="548640" y="4480560"/>
            <a:ext cx="11091672" cy="1097280"/>
          </a:xfrm>
          <a:prstGeom prst="roundRect">
            <a:avLst>
              <a:gd name="adj" fmla="val 11667"/>
            </a:avLst>
          </a:prstGeom>
          <a:solidFill>
            <a:srgbClr val="262038"/>
          </a:solidFill>
          <a:ln w="12700">
            <a:solidFill>
              <a:srgbClr val="262038"/>
            </a:solidFill>
            <a:prstDash val="solid"/>
          </a:ln>
        </p:spPr>
      </p:sp>
      <p:sp>
        <p:nvSpPr>
          <p:cNvPr id="22" name="Shape 19"/>
          <p:cNvSpPr/>
          <p:nvPr/>
        </p:nvSpPr>
        <p:spPr>
          <a:xfrm>
            <a:off x="868680" y="4745736"/>
            <a:ext cx="566928" cy="566928"/>
          </a:xfrm>
          <a:prstGeom prst="ellipse">
            <a:avLst/>
          </a:prstGeom>
          <a:solidFill>
            <a:srgbClr val="2E2745"/>
          </a:solidFill>
          <a:ln w="12700">
            <a:solidFill>
              <a:srgbClr val="2E2745"/>
            </a:solidFill>
            <a:prstDash val="solid"/>
          </a:ln>
        </p:spPr>
      </p:sp>
      <p:pic>
        <p:nvPicPr>
          <p:cNvPr id="23" name="Image 1" descr="preencoded.png">    </p:cNvPr>
          <p:cNvPicPr>
            <a:picLocks noChangeAspect="1"/>
          </p:cNvPicPr>
          <p:nvPr/>
        </p:nvPicPr>
        <p:blipFill>
          <a:blip r:embed="rId2"/>
          <a:stretch>
            <a:fillRect/>
          </a:stretch>
        </p:blipFill>
        <p:spPr>
          <a:xfrm>
            <a:off x="1027420" y="4904476"/>
            <a:ext cx="249448" cy="249448"/>
          </a:xfrm>
          <a:prstGeom prst="rect">
            <a:avLst/>
          </a:prstGeom>
        </p:spPr>
      </p:pic>
      <p:sp>
        <p:nvSpPr>
          <p:cNvPr id="24" name="Text 20"/>
          <p:cNvSpPr/>
          <p:nvPr/>
        </p:nvSpPr>
        <p:spPr>
          <a:xfrm>
            <a:off x="1645920" y="4590288"/>
            <a:ext cx="6766560" cy="320040"/>
          </a:xfrm>
          <a:prstGeom prst="rect">
            <a:avLst/>
          </a:prstGeom>
          <a:noFill/>
          <a:ln/>
        </p:spPr>
        <p:txBody>
          <a:bodyPr wrap="square" lIns="0" tIns="0" rIns="0" bIns="0" rtlCol="0" anchor="ctr"/>
          <a:lstStyle/>
          <a:p>
            <a:pPr indent="0" marL="0">
              <a:buNone/>
            </a:pPr>
            <a:r>
              <a:rPr lang="en-US" sz="1800" b="1" dirty="0">
                <a:solidFill>
                  <a:srgbClr val="F5F2FA"/>
                </a:solidFill>
                <a:latin typeface="Arial" pitchFamily="34" charset="0"/>
                <a:ea typeface="Arial" pitchFamily="34" charset="-122"/>
                <a:cs typeface="Arial" pitchFamily="34" charset="-120"/>
              </a:rPr>
              <a:t>The order came out backwards</a:t>
            </a:r>
            <a:endParaRPr lang="en-US" sz="1800" dirty="0"/>
          </a:p>
        </p:txBody>
      </p:sp>
      <p:sp>
        <p:nvSpPr>
          <p:cNvPr id="25" name="Text 21"/>
          <p:cNvSpPr/>
          <p:nvPr/>
        </p:nvSpPr>
        <p:spPr>
          <a:xfrm>
            <a:off x="1645920" y="4974336"/>
            <a:ext cx="6766560" cy="365760"/>
          </a:xfrm>
          <a:prstGeom prst="rect">
            <a:avLst/>
          </a:prstGeom>
          <a:noFill/>
          <a:ln/>
        </p:spPr>
        <p:txBody>
          <a:bodyPr wrap="square" lIns="0" tIns="0" rIns="0" bIns="0" rtlCol="0" anchor="ctr"/>
          <a:lstStyle/>
          <a:p>
            <a:pPr indent="0" marL="0">
              <a:buNone/>
            </a:pPr>
            <a:r>
              <a:rPr lang="en-US" sz="1450" dirty="0">
                <a:solidFill>
                  <a:srgbClr val="A79DBF"/>
                </a:solidFill>
                <a:latin typeface="Calibri" pitchFamily="34" charset="0"/>
                <a:ea typeface="Calibri" pitchFamily="34" charset="-122"/>
                <a:cs typeface="Calibri" pitchFamily="34" charset="-120"/>
              </a:rPr>
              <a:t>Sharing a language counted for more than sharing a meaning</a:t>
            </a:r>
            <a:endParaRPr lang="en-US" sz="1450" dirty="0"/>
          </a:p>
        </p:txBody>
      </p:sp>
      <p:sp>
        <p:nvSpPr>
          <p:cNvPr id="26" name="Text 22"/>
          <p:cNvSpPr/>
          <p:nvPr/>
        </p:nvSpPr>
        <p:spPr>
          <a:xfrm>
            <a:off x="8778240" y="4745736"/>
            <a:ext cx="2560320" cy="566928"/>
          </a:xfrm>
          <a:prstGeom prst="roundRect">
            <a:avLst>
              <a:gd name="adj" fmla="val 16129"/>
            </a:avLst>
          </a:prstGeom>
          <a:solidFill>
            <a:srgbClr val="EA4B71">
              <a:alpha val="18000"/>
            </a:srgbClr>
          </a:solidFill>
          <a:ln w="19050">
            <a:solidFill>
              <a:srgbClr val="EA4B71"/>
            </a:solidFill>
          </a:ln>
        </p:spPr>
        <p:txBody>
          <a:bodyPr wrap="square" lIns="0" tIns="0" rIns="0" bIns="0" rtlCol="0" anchor="ctr"/>
          <a:lstStyle/>
          <a:p>
            <a:pPr algn="ctr" indent="0" marL="0">
              <a:buNone/>
            </a:pPr>
            <a:r>
              <a:rPr lang="en-US" sz="1900" b="1" dirty="0">
                <a:solidFill>
                  <a:srgbClr val="EA4B71"/>
                </a:solidFill>
                <a:latin typeface="Arial" pitchFamily="34" charset="0"/>
                <a:ea typeface="Arial" pitchFamily="34" charset="-122"/>
                <a:cs typeface="Arial" pitchFamily="34" charset="-120"/>
              </a:rPr>
              <a:t>0.245  &lt;  0.272</a:t>
            </a:r>
            <a:endParaRPr lang="en-US" sz="1900" dirty="0"/>
          </a:p>
        </p:txBody>
      </p:sp>
      <p:sp>
        <p:nvSpPr>
          <p:cNvPr id="27" name="Text 23"/>
          <p:cNvSpPr/>
          <p:nvPr/>
        </p:nvSpPr>
        <p:spPr>
          <a:xfrm>
            <a:off x="548640" y="5705856"/>
            <a:ext cx="10058400" cy="274320"/>
          </a:xfrm>
          <a:prstGeom prst="rect">
            <a:avLst/>
          </a:prstGeom>
          <a:noFill/>
          <a:ln/>
        </p:spPr>
        <p:txBody>
          <a:bodyPr wrap="square" lIns="0" tIns="0" rIns="0" bIns="0" rtlCol="0" anchor="ctr"/>
          <a:lstStyle/>
          <a:p>
            <a:pPr indent="0" marL="0">
              <a:buNone/>
            </a:pPr>
            <a:r>
              <a:rPr lang="en-US" sz="1150" i="1" dirty="0">
                <a:solidFill>
                  <a:srgbClr val="A79DBF"/>
                </a:solidFill>
                <a:latin typeface="Calibri" pitchFamily="34" charset="0"/>
                <a:ea typeface="Calibri" pitchFamily="34" charset="-122"/>
                <a:cs typeface="Calibri" pitchFamily="34" charset="-120"/>
              </a:rPr>
              <a:t>Measured on text-embedding-3-small — our own run, 4 August 2026</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B1526"/>
        </a:solidFill>
      </p:bgPr>
    </p:bg>
    <p:spTree>
      <p:nvGrpSpPr>
        <p:cNvPr id="1" name=""/>
        <p:cNvGrpSpPr/>
        <p:nvPr/>
      </p:nvGrpSpPr>
      <p:grpSpPr>
        <a:xfrm>
          <a:off x="0" y="0"/>
          <a:ext cx="0" cy="0"/>
          <a:chOff x="0" y="0"/>
          <a:chExt cx="0" cy="0"/>
        </a:xfrm>
      </p:grpSpPr>
      <p:sp>
        <p:nvSpPr>
          <p:cNvPr id="2" name="Text 0"/>
          <p:cNvSpPr/>
          <p:nvPr/>
        </p:nvSpPr>
        <p:spPr>
          <a:xfrm>
            <a:off x="548640" y="6263640"/>
            <a:ext cx="3657600" cy="274320"/>
          </a:xfrm>
          <a:prstGeom prst="rect">
            <a:avLst/>
          </a:prstGeom>
          <a:noFill/>
          <a:ln/>
        </p:spPr>
        <p:txBody>
          <a:bodyPr wrap="square" lIns="0" tIns="0" rIns="0" bIns="0" rtlCol="0" anchor="ctr"/>
          <a:lstStyle/>
          <a:p>
            <a:pPr indent="0" marL="0">
              <a:buNone/>
            </a:pPr>
            <a:r>
              <a:rPr lang="en-US" sz="1000" dirty="0">
                <a:solidFill>
                  <a:srgbClr val="A79DBF"/>
                </a:solidFill>
                <a:latin typeface="Calibri" pitchFamily="34" charset="0"/>
                <a:ea typeface="Calibri" pitchFamily="34" charset="-122"/>
                <a:cs typeface="Calibri" pitchFamily="34" charset="-120"/>
              </a:rPr>
              <a:t>Agentive Solutions</a:t>
            </a:r>
            <a:endParaRPr lang="en-US" sz="1000" dirty="0"/>
          </a:p>
        </p:txBody>
      </p:sp>
      <p:sp>
        <p:nvSpPr>
          <p:cNvPr id="3" name="Text 1"/>
          <p:cNvSpPr/>
          <p:nvPr/>
        </p:nvSpPr>
        <p:spPr>
          <a:xfrm>
            <a:off x="7955280" y="6263640"/>
            <a:ext cx="3685032" cy="274320"/>
          </a:xfrm>
          <a:prstGeom prst="rect">
            <a:avLst/>
          </a:prstGeom>
          <a:noFill/>
          <a:ln/>
        </p:spPr>
        <p:txBody>
          <a:bodyPr wrap="square" lIns="0" tIns="0" rIns="0" bIns="0" rtlCol="0" anchor="ctr"/>
          <a:lstStyle/>
          <a:p>
            <a:pPr algn="r" indent="0" marL="0">
              <a:buNone/>
            </a:pPr>
            <a:r>
              <a:rPr lang="en-US" sz="1000" dirty="0">
                <a:solidFill>
                  <a:srgbClr val="A79DBF"/>
                </a:solidFill>
                <a:latin typeface="Calibri" pitchFamily="34" charset="0"/>
                <a:ea typeface="Calibri" pitchFamily="34" charset="-122"/>
                <a:cs typeface="Calibri" pitchFamily="34" charset="-120"/>
              </a:rPr>
              <a:t>RAG for Automation · Lesson 02</a:t>
            </a:r>
            <a:endParaRPr lang="en-US" sz="1000" dirty="0"/>
          </a:p>
        </p:txBody>
      </p:sp>
      <p:sp>
        <p:nvSpPr>
          <p:cNvPr id="4" name="Shape 2"/>
          <p:cNvSpPr/>
          <p:nvPr/>
        </p:nvSpPr>
        <p:spPr>
          <a:xfrm>
            <a:off x="548640" y="548640"/>
            <a:ext cx="566928" cy="566928"/>
          </a:xfrm>
          <a:prstGeom prst="ellipse">
            <a:avLst/>
          </a:prstGeom>
          <a:solidFill>
            <a:srgbClr val="2E2745"/>
          </a:solidFill>
          <a:ln w="12700">
            <a:solidFill>
              <a:srgbClr val="2E2745"/>
            </a:solidFill>
            <a:prstDash val="solid"/>
          </a:ln>
        </p:spPr>
      </p:sp>
      <p:pic>
        <p:nvPicPr>
          <p:cNvPr id="5" name="Image 0" descr="preencoded.png">    </p:cNvPr>
          <p:cNvPicPr>
            <a:picLocks noChangeAspect="1"/>
          </p:cNvPicPr>
          <p:nvPr/>
        </p:nvPicPr>
        <p:blipFill>
          <a:blip r:embed="rId1"/>
          <a:stretch>
            <a:fillRect/>
          </a:stretch>
        </p:blipFill>
        <p:spPr>
          <a:xfrm>
            <a:off x="707380" y="707380"/>
            <a:ext cx="249448" cy="249448"/>
          </a:xfrm>
          <a:prstGeom prst="rect">
            <a:avLst/>
          </a:prstGeom>
        </p:spPr>
      </p:pic>
      <p:sp>
        <p:nvSpPr>
          <p:cNvPr id="6" name="Text 3"/>
          <p:cNvSpPr/>
          <p:nvPr/>
        </p:nvSpPr>
        <p:spPr>
          <a:xfrm>
            <a:off x="1298448" y="530352"/>
            <a:ext cx="10058400" cy="603504"/>
          </a:xfrm>
          <a:prstGeom prst="rect">
            <a:avLst/>
          </a:prstGeom>
          <a:noFill/>
          <a:ln/>
        </p:spPr>
        <p:txBody>
          <a:bodyPr wrap="square" lIns="0" tIns="0" rIns="0" bIns="0" rtlCol="0" anchor="ctr"/>
          <a:lstStyle/>
          <a:p>
            <a:pPr indent="0" marL="0">
              <a:buNone/>
            </a:pPr>
            <a:r>
              <a:rPr lang="en-US" sz="3400" b="1" dirty="0">
                <a:solidFill>
                  <a:srgbClr val="F5F2FA"/>
                </a:solidFill>
                <a:latin typeface="Arial" pitchFamily="34" charset="0"/>
                <a:ea typeface="Arial" pitchFamily="34" charset="-122"/>
                <a:cs typeface="Arial" pitchFamily="34" charset="-120"/>
              </a:rPr>
              <a:t>3-small vs 3-large</a:t>
            </a:r>
            <a:endParaRPr lang="en-US" sz="3400" dirty="0"/>
          </a:p>
        </p:txBody>
      </p:sp>
      <p:sp>
        <p:nvSpPr>
          <p:cNvPr id="7" name="Shape 4"/>
          <p:cNvSpPr/>
          <p:nvPr/>
        </p:nvSpPr>
        <p:spPr>
          <a:xfrm>
            <a:off x="548640" y="1508760"/>
            <a:ext cx="11091672" cy="2971800"/>
          </a:xfrm>
          <a:prstGeom prst="roundRect">
            <a:avLst>
              <a:gd name="adj" fmla="val 4308"/>
            </a:avLst>
          </a:prstGeom>
          <a:solidFill>
            <a:srgbClr val="262038"/>
          </a:solidFill>
          <a:ln w="12700">
            <a:solidFill>
              <a:srgbClr val="262038"/>
            </a:solidFill>
            <a:prstDash val="solid"/>
          </a:ln>
        </p:spPr>
      </p:sp>
      <p:sp>
        <p:nvSpPr>
          <p:cNvPr id="8" name="Shape 5"/>
          <p:cNvSpPr/>
          <p:nvPr/>
        </p:nvSpPr>
        <p:spPr>
          <a:xfrm>
            <a:off x="548640" y="1508760"/>
            <a:ext cx="11091672" cy="457200"/>
          </a:xfrm>
          <a:prstGeom prst="roundRect">
            <a:avLst>
              <a:gd name="adj" fmla="val 28000"/>
            </a:avLst>
          </a:prstGeom>
          <a:solidFill>
            <a:srgbClr val="2E2745"/>
          </a:solidFill>
          <a:ln w="12700">
            <a:solidFill>
              <a:srgbClr val="2E2745"/>
            </a:solidFill>
            <a:prstDash val="solid"/>
          </a:ln>
        </p:spPr>
      </p:sp>
      <p:sp>
        <p:nvSpPr>
          <p:cNvPr id="9" name="Text 6"/>
          <p:cNvSpPr/>
          <p:nvPr/>
        </p:nvSpPr>
        <p:spPr>
          <a:xfrm>
            <a:off x="4434840" y="1508760"/>
            <a:ext cx="3383280" cy="457200"/>
          </a:xfrm>
          <a:prstGeom prst="rect">
            <a:avLst/>
          </a:prstGeom>
          <a:noFill/>
          <a:ln/>
        </p:spPr>
        <p:txBody>
          <a:bodyPr wrap="square" lIns="0" tIns="0" rIns="0" bIns="0" rtlCol="0" anchor="ctr"/>
          <a:lstStyle/>
          <a:p>
            <a:pPr algn="ctr" indent="0" marL="0">
              <a:buNone/>
            </a:pPr>
            <a:r>
              <a:rPr lang="en-US" sz="1400" b="1" dirty="0">
                <a:solidFill>
                  <a:srgbClr val="F5F2FA"/>
                </a:solidFill>
                <a:latin typeface="Arial" pitchFamily="34" charset="0"/>
                <a:ea typeface="Arial" pitchFamily="34" charset="-122"/>
                <a:cs typeface="Arial" pitchFamily="34" charset="-120"/>
              </a:rPr>
              <a:t>text-embedding-3-small</a:t>
            </a:r>
            <a:endParaRPr lang="en-US" sz="1400" dirty="0"/>
          </a:p>
        </p:txBody>
      </p:sp>
      <p:sp>
        <p:nvSpPr>
          <p:cNvPr id="10" name="Text 7"/>
          <p:cNvSpPr/>
          <p:nvPr/>
        </p:nvSpPr>
        <p:spPr>
          <a:xfrm>
            <a:off x="8001000" y="1508760"/>
            <a:ext cx="3383280" cy="457200"/>
          </a:xfrm>
          <a:prstGeom prst="rect">
            <a:avLst/>
          </a:prstGeom>
          <a:noFill/>
          <a:ln/>
        </p:spPr>
        <p:txBody>
          <a:bodyPr wrap="square" lIns="0" tIns="0" rIns="0" bIns="0" rtlCol="0" anchor="ctr"/>
          <a:lstStyle/>
          <a:p>
            <a:pPr algn="ctr" indent="0" marL="0">
              <a:buNone/>
            </a:pPr>
            <a:r>
              <a:rPr lang="en-US" sz="1400" b="1" dirty="0">
                <a:solidFill>
                  <a:srgbClr val="F5F2FA"/>
                </a:solidFill>
                <a:latin typeface="Arial" pitchFamily="34" charset="0"/>
                <a:ea typeface="Arial" pitchFamily="34" charset="-122"/>
                <a:cs typeface="Arial" pitchFamily="34" charset="-120"/>
              </a:rPr>
              <a:t>text-embedding-3-large</a:t>
            </a:r>
            <a:endParaRPr lang="en-US" sz="1400" dirty="0"/>
          </a:p>
        </p:txBody>
      </p:sp>
      <p:sp>
        <p:nvSpPr>
          <p:cNvPr id="11" name="Text 8"/>
          <p:cNvSpPr/>
          <p:nvPr/>
        </p:nvSpPr>
        <p:spPr>
          <a:xfrm>
            <a:off x="868680" y="1965960"/>
            <a:ext cx="3383280" cy="502920"/>
          </a:xfrm>
          <a:prstGeom prst="rect">
            <a:avLst/>
          </a:prstGeom>
          <a:noFill/>
          <a:ln/>
        </p:spPr>
        <p:txBody>
          <a:bodyPr wrap="square" lIns="0" tIns="0" rIns="0" bIns="0" rtlCol="0" anchor="ctr"/>
          <a:lstStyle/>
          <a:p>
            <a:pPr indent="0" marL="0">
              <a:buNone/>
            </a:pPr>
            <a:r>
              <a:rPr lang="en-US" sz="1450" dirty="0">
                <a:solidFill>
                  <a:srgbClr val="A79DBF"/>
                </a:solidFill>
                <a:latin typeface="Calibri" pitchFamily="34" charset="0"/>
                <a:ea typeface="Calibri" pitchFamily="34" charset="-122"/>
                <a:cs typeface="Calibri" pitchFamily="34" charset="-120"/>
              </a:rPr>
              <a:t>Dimensions</a:t>
            </a:r>
            <a:endParaRPr lang="en-US" sz="1450" dirty="0"/>
          </a:p>
        </p:txBody>
      </p:sp>
      <p:sp>
        <p:nvSpPr>
          <p:cNvPr id="12" name="Text 9"/>
          <p:cNvSpPr/>
          <p:nvPr/>
        </p:nvSpPr>
        <p:spPr>
          <a:xfrm>
            <a:off x="4434840" y="1965960"/>
            <a:ext cx="3383280" cy="502920"/>
          </a:xfrm>
          <a:prstGeom prst="rect">
            <a:avLst/>
          </a:prstGeom>
          <a:noFill/>
          <a:ln/>
        </p:spPr>
        <p:txBody>
          <a:bodyPr wrap="square" lIns="0" tIns="0" rIns="0" bIns="0" rtlCol="0" anchor="ctr"/>
          <a:lstStyle/>
          <a:p>
            <a:pPr algn="ctr" indent="0" marL="0">
              <a:buNone/>
            </a:pPr>
            <a:r>
              <a:rPr lang="en-US" sz="1600" b="1" dirty="0">
                <a:solidFill>
                  <a:srgbClr val="F5F2FA"/>
                </a:solidFill>
                <a:latin typeface="Arial" pitchFamily="34" charset="0"/>
                <a:ea typeface="Arial" pitchFamily="34" charset="-122"/>
                <a:cs typeface="Arial" pitchFamily="34" charset="-120"/>
              </a:rPr>
              <a:t>1,536</a:t>
            </a:r>
            <a:endParaRPr lang="en-US" sz="1600" dirty="0"/>
          </a:p>
        </p:txBody>
      </p:sp>
      <p:sp>
        <p:nvSpPr>
          <p:cNvPr id="13" name="Text 10"/>
          <p:cNvSpPr/>
          <p:nvPr/>
        </p:nvSpPr>
        <p:spPr>
          <a:xfrm>
            <a:off x="8001000" y="1965960"/>
            <a:ext cx="3383280" cy="502920"/>
          </a:xfrm>
          <a:prstGeom prst="rect">
            <a:avLst/>
          </a:prstGeom>
          <a:noFill/>
          <a:ln/>
        </p:spPr>
        <p:txBody>
          <a:bodyPr wrap="square" lIns="0" tIns="0" rIns="0" bIns="0" rtlCol="0" anchor="ctr"/>
          <a:lstStyle/>
          <a:p>
            <a:pPr algn="ctr" indent="0" marL="0">
              <a:buNone/>
            </a:pPr>
            <a:r>
              <a:rPr lang="en-US" sz="1600" b="1" dirty="0">
                <a:solidFill>
                  <a:srgbClr val="F5F2FA"/>
                </a:solidFill>
                <a:latin typeface="Arial" pitchFamily="34" charset="0"/>
                <a:ea typeface="Arial" pitchFamily="34" charset="-122"/>
                <a:cs typeface="Arial" pitchFamily="34" charset="-120"/>
              </a:rPr>
              <a:t>3,072</a:t>
            </a:r>
            <a:endParaRPr lang="en-US" sz="1600" dirty="0"/>
          </a:p>
        </p:txBody>
      </p:sp>
      <p:sp>
        <p:nvSpPr>
          <p:cNvPr id="14" name="Text 11"/>
          <p:cNvSpPr/>
          <p:nvPr/>
        </p:nvSpPr>
        <p:spPr>
          <a:xfrm>
            <a:off x="868680" y="2468880"/>
            <a:ext cx="3383280" cy="502920"/>
          </a:xfrm>
          <a:prstGeom prst="rect">
            <a:avLst/>
          </a:prstGeom>
          <a:noFill/>
          <a:ln/>
        </p:spPr>
        <p:txBody>
          <a:bodyPr wrap="square" lIns="0" tIns="0" rIns="0" bIns="0" rtlCol="0" anchor="ctr"/>
          <a:lstStyle/>
          <a:p>
            <a:pPr indent="0" marL="0">
              <a:buNone/>
            </a:pPr>
            <a:r>
              <a:rPr lang="en-US" sz="1450" dirty="0">
                <a:solidFill>
                  <a:srgbClr val="A79DBF"/>
                </a:solidFill>
                <a:latin typeface="Calibri" pitchFamily="34" charset="0"/>
                <a:ea typeface="Calibri" pitchFamily="34" charset="-122"/>
                <a:cs typeface="Calibri" pitchFamily="34" charset="-120"/>
              </a:rPr>
              <a:t>Price / 1M tokens</a:t>
            </a:r>
            <a:endParaRPr lang="en-US" sz="1450" dirty="0"/>
          </a:p>
        </p:txBody>
      </p:sp>
      <p:sp>
        <p:nvSpPr>
          <p:cNvPr id="15" name="Text 12"/>
          <p:cNvSpPr/>
          <p:nvPr/>
        </p:nvSpPr>
        <p:spPr>
          <a:xfrm>
            <a:off x="4434840" y="2468880"/>
            <a:ext cx="3383280" cy="502920"/>
          </a:xfrm>
          <a:prstGeom prst="rect">
            <a:avLst/>
          </a:prstGeom>
          <a:noFill/>
          <a:ln/>
        </p:spPr>
        <p:txBody>
          <a:bodyPr wrap="square" lIns="0" tIns="0" rIns="0" bIns="0" rtlCol="0" anchor="ctr"/>
          <a:lstStyle/>
          <a:p>
            <a:pPr algn="ctr" indent="0" marL="0">
              <a:buNone/>
            </a:pPr>
            <a:r>
              <a:rPr lang="en-US" sz="1600" b="1" dirty="0">
                <a:solidFill>
                  <a:srgbClr val="F5F2FA"/>
                </a:solidFill>
                <a:latin typeface="Arial" pitchFamily="34" charset="0"/>
                <a:ea typeface="Arial" pitchFamily="34" charset="-122"/>
                <a:cs typeface="Arial" pitchFamily="34" charset="-120"/>
              </a:rPr>
              <a:t>$0.02</a:t>
            </a:r>
            <a:endParaRPr lang="en-US" sz="1600" dirty="0"/>
          </a:p>
        </p:txBody>
      </p:sp>
      <p:sp>
        <p:nvSpPr>
          <p:cNvPr id="16" name="Text 13"/>
          <p:cNvSpPr/>
          <p:nvPr/>
        </p:nvSpPr>
        <p:spPr>
          <a:xfrm>
            <a:off x="8001000" y="2468880"/>
            <a:ext cx="3383280" cy="502920"/>
          </a:xfrm>
          <a:prstGeom prst="rect">
            <a:avLst/>
          </a:prstGeom>
          <a:noFill/>
          <a:ln/>
        </p:spPr>
        <p:txBody>
          <a:bodyPr wrap="square" lIns="0" tIns="0" rIns="0" bIns="0" rtlCol="0" anchor="ctr"/>
          <a:lstStyle/>
          <a:p>
            <a:pPr algn="ctr" indent="0" marL="0">
              <a:buNone/>
            </a:pPr>
            <a:r>
              <a:rPr lang="en-US" sz="1600" b="1" dirty="0">
                <a:solidFill>
                  <a:srgbClr val="F5F2FA"/>
                </a:solidFill>
                <a:latin typeface="Arial" pitchFamily="34" charset="0"/>
                <a:ea typeface="Arial" pitchFamily="34" charset="-122"/>
                <a:cs typeface="Arial" pitchFamily="34" charset="-120"/>
              </a:rPr>
              <a:t>$0.13</a:t>
            </a:r>
            <a:endParaRPr lang="en-US" sz="1600" dirty="0"/>
          </a:p>
        </p:txBody>
      </p:sp>
      <p:sp>
        <p:nvSpPr>
          <p:cNvPr id="17" name="Text 14"/>
          <p:cNvSpPr/>
          <p:nvPr/>
        </p:nvSpPr>
        <p:spPr>
          <a:xfrm>
            <a:off x="868680" y="2971800"/>
            <a:ext cx="3383280" cy="502920"/>
          </a:xfrm>
          <a:prstGeom prst="rect">
            <a:avLst/>
          </a:prstGeom>
          <a:noFill/>
          <a:ln/>
        </p:spPr>
        <p:txBody>
          <a:bodyPr wrap="square" lIns="0" tIns="0" rIns="0" bIns="0" rtlCol="0" anchor="ctr"/>
          <a:lstStyle/>
          <a:p>
            <a:pPr indent="0" marL="0">
              <a:buNone/>
            </a:pPr>
            <a:r>
              <a:rPr lang="en-US" sz="1450" dirty="0">
                <a:solidFill>
                  <a:srgbClr val="A79DBF"/>
                </a:solidFill>
                <a:latin typeface="Calibri" pitchFamily="34" charset="0"/>
                <a:ea typeface="Calibri" pitchFamily="34" charset="-122"/>
                <a:cs typeface="Calibri" pitchFamily="34" charset="-120"/>
              </a:rPr>
              <a:t>English test (MTEB)</a:t>
            </a:r>
            <a:endParaRPr lang="en-US" sz="1450" dirty="0"/>
          </a:p>
        </p:txBody>
      </p:sp>
      <p:sp>
        <p:nvSpPr>
          <p:cNvPr id="18" name="Text 15"/>
          <p:cNvSpPr/>
          <p:nvPr/>
        </p:nvSpPr>
        <p:spPr>
          <a:xfrm>
            <a:off x="4434840" y="2971800"/>
            <a:ext cx="3383280" cy="502920"/>
          </a:xfrm>
          <a:prstGeom prst="rect">
            <a:avLst/>
          </a:prstGeom>
          <a:noFill/>
          <a:ln/>
        </p:spPr>
        <p:txBody>
          <a:bodyPr wrap="square" lIns="0" tIns="0" rIns="0" bIns="0" rtlCol="0" anchor="ctr"/>
          <a:lstStyle/>
          <a:p>
            <a:pPr algn="ctr" indent="0" marL="0">
              <a:buNone/>
            </a:pPr>
            <a:r>
              <a:rPr lang="en-US" sz="1600" b="1" dirty="0">
                <a:solidFill>
                  <a:srgbClr val="F5F2FA"/>
                </a:solidFill>
                <a:latin typeface="Arial" pitchFamily="34" charset="0"/>
                <a:ea typeface="Arial" pitchFamily="34" charset="-122"/>
                <a:cs typeface="Arial" pitchFamily="34" charset="-120"/>
              </a:rPr>
              <a:t>62.3%</a:t>
            </a:r>
            <a:endParaRPr lang="en-US" sz="1600" dirty="0"/>
          </a:p>
        </p:txBody>
      </p:sp>
      <p:sp>
        <p:nvSpPr>
          <p:cNvPr id="19" name="Text 16"/>
          <p:cNvSpPr/>
          <p:nvPr/>
        </p:nvSpPr>
        <p:spPr>
          <a:xfrm>
            <a:off x="8001000" y="2971800"/>
            <a:ext cx="3383280" cy="502920"/>
          </a:xfrm>
          <a:prstGeom prst="rect">
            <a:avLst/>
          </a:prstGeom>
          <a:noFill/>
          <a:ln/>
        </p:spPr>
        <p:txBody>
          <a:bodyPr wrap="square" lIns="0" tIns="0" rIns="0" bIns="0" rtlCol="0" anchor="ctr"/>
          <a:lstStyle/>
          <a:p>
            <a:pPr algn="ctr" indent="0" marL="0">
              <a:buNone/>
            </a:pPr>
            <a:r>
              <a:rPr lang="en-US" sz="1600" b="1" dirty="0">
                <a:solidFill>
                  <a:srgbClr val="F5F2FA"/>
                </a:solidFill>
                <a:latin typeface="Arial" pitchFamily="34" charset="0"/>
                <a:ea typeface="Arial" pitchFamily="34" charset="-122"/>
                <a:cs typeface="Arial" pitchFamily="34" charset="-120"/>
              </a:rPr>
              <a:t>64.6%</a:t>
            </a:r>
            <a:endParaRPr lang="en-US" sz="1600" dirty="0"/>
          </a:p>
        </p:txBody>
      </p:sp>
      <p:sp>
        <p:nvSpPr>
          <p:cNvPr id="20" name="Shape 17"/>
          <p:cNvSpPr/>
          <p:nvPr/>
        </p:nvSpPr>
        <p:spPr>
          <a:xfrm>
            <a:off x="548640" y="3474720"/>
            <a:ext cx="11091672" cy="502920"/>
          </a:xfrm>
          <a:prstGeom prst="rect">
            <a:avLst/>
          </a:prstGeom>
          <a:solidFill>
            <a:srgbClr val="34D399">
              <a:alpha val="12000"/>
            </a:srgbClr>
          </a:solidFill>
          <a:ln w="12700">
            <a:solidFill>
              <a:srgbClr val="262038"/>
            </a:solidFill>
            <a:prstDash val="solid"/>
          </a:ln>
        </p:spPr>
      </p:sp>
      <p:sp>
        <p:nvSpPr>
          <p:cNvPr id="21" name="Text 18"/>
          <p:cNvSpPr/>
          <p:nvPr/>
        </p:nvSpPr>
        <p:spPr>
          <a:xfrm>
            <a:off x="868680" y="3474720"/>
            <a:ext cx="3383280" cy="502920"/>
          </a:xfrm>
          <a:prstGeom prst="rect">
            <a:avLst/>
          </a:prstGeom>
          <a:noFill/>
          <a:ln/>
        </p:spPr>
        <p:txBody>
          <a:bodyPr wrap="square" lIns="0" tIns="0" rIns="0" bIns="0" rtlCol="0" anchor="ctr"/>
          <a:lstStyle/>
          <a:p>
            <a:pPr indent="0" marL="0">
              <a:buNone/>
            </a:pPr>
            <a:r>
              <a:rPr lang="en-US" sz="1450" dirty="0">
                <a:solidFill>
                  <a:srgbClr val="F5F2FA"/>
                </a:solidFill>
                <a:latin typeface="Calibri" pitchFamily="34" charset="0"/>
                <a:ea typeface="Calibri" pitchFamily="34" charset="-122"/>
                <a:cs typeface="Calibri" pitchFamily="34" charset="-120"/>
              </a:rPr>
              <a:t>Multilingual test (MIRACL)</a:t>
            </a:r>
            <a:endParaRPr lang="en-US" sz="1450" dirty="0"/>
          </a:p>
        </p:txBody>
      </p:sp>
      <p:sp>
        <p:nvSpPr>
          <p:cNvPr id="22" name="Text 19"/>
          <p:cNvSpPr/>
          <p:nvPr/>
        </p:nvSpPr>
        <p:spPr>
          <a:xfrm>
            <a:off x="4434840" y="3474720"/>
            <a:ext cx="3383280" cy="502920"/>
          </a:xfrm>
          <a:prstGeom prst="rect">
            <a:avLst/>
          </a:prstGeom>
          <a:noFill/>
          <a:ln/>
        </p:spPr>
        <p:txBody>
          <a:bodyPr wrap="square" lIns="0" tIns="0" rIns="0" bIns="0" rtlCol="0" anchor="ctr"/>
          <a:lstStyle/>
          <a:p>
            <a:pPr algn="ctr" indent="0" marL="0">
              <a:buNone/>
            </a:pPr>
            <a:r>
              <a:rPr lang="en-US" sz="1600" b="1" dirty="0">
                <a:solidFill>
                  <a:srgbClr val="34D399"/>
                </a:solidFill>
                <a:latin typeface="Arial" pitchFamily="34" charset="0"/>
                <a:ea typeface="Arial" pitchFamily="34" charset="-122"/>
                <a:cs typeface="Arial" pitchFamily="34" charset="-120"/>
              </a:rPr>
              <a:t>44.0%</a:t>
            </a:r>
            <a:endParaRPr lang="en-US" sz="1600" dirty="0"/>
          </a:p>
        </p:txBody>
      </p:sp>
      <p:sp>
        <p:nvSpPr>
          <p:cNvPr id="23" name="Text 20"/>
          <p:cNvSpPr/>
          <p:nvPr/>
        </p:nvSpPr>
        <p:spPr>
          <a:xfrm>
            <a:off x="8001000" y="3474720"/>
            <a:ext cx="3383280" cy="502920"/>
          </a:xfrm>
          <a:prstGeom prst="rect">
            <a:avLst/>
          </a:prstGeom>
          <a:noFill/>
          <a:ln/>
        </p:spPr>
        <p:txBody>
          <a:bodyPr wrap="square" lIns="0" tIns="0" rIns="0" bIns="0" rtlCol="0" anchor="ctr"/>
          <a:lstStyle/>
          <a:p>
            <a:pPr algn="ctr" indent="0" marL="0">
              <a:buNone/>
            </a:pPr>
            <a:r>
              <a:rPr lang="en-US" sz="1600" b="1" dirty="0">
                <a:solidFill>
                  <a:srgbClr val="34D399"/>
                </a:solidFill>
                <a:latin typeface="Arial" pitchFamily="34" charset="0"/>
                <a:ea typeface="Arial" pitchFamily="34" charset="-122"/>
                <a:cs typeface="Arial" pitchFamily="34" charset="-120"/>
              </a:rPr>
              <a:t>54.9%</a:t>
            </a:r>
            <a:endParaRPr lang="en-US" sz="1600" dirty="0"/>
          </a:p>
        </p:txBody>
      </p:sp>
      <p:sp>
        <p:nvSpPr>
          <p:cNvPr id="24" name="Text 21"/>
          <p:cNvSpPr/>
          <p:nvPr/>
        </p:nvSpPr>
        <p:spPr>
          <a:xfrm>
            <a:off x="868680" y="3977640"/>
            <a:ext cx="3383280" cy="502920"/>
          </a:xfrm>
          <a:prstGeom prst="rect">
            <a:avLst/>
          </a:prstGeom>
          <a:noFill/>
          <a:ln/>
        </p:spPr>
        <p:txBody>
          <a:bodyPr wrap="square" lIns="0" tIns="0" rIns="0" bIns="0" rtlCol="0" anchor="ctr"/>
          <a:lstStyle/>
          <a:p>
            <a:pPr indent="0" marL="0">
              <a:buNone/>
            </a:pPr>
            <a:r>
              <a:rPr lang="en-US" sz="1450" dirty="0">
                <a:solidFill>
                  <a:srgbClr val="A79DBF"/>
                </a:solidFill>
                <a:latin typeface="Calibri" pitchFamily="34" charset="0"/>
                <a:ea typeface="Calibri" pitchFamily="34" charset="-122"/>
                <a:cs typeface="Calibri" pitchFamily="34" charset="-120"/>
              </a:rPr>
              <a:t>Storage per vector</a:t>
            </a:r>
            <a:endParaRPr lang="en-US" sz="1450" dirty="0"/>
          </a:p>
        </p:txBody>
      </p:sp>
      <p:sp>
        <p:nvSpPr>
          <p:cNvPr id="25" name="Text 22"/>
          <p:cNvSpPr/>
          <p:nvPr/>
        </p:nvSpPr>
        <p:spPr>
          <a:xfrm>
            <a:off x="4434840" y="3977640"/>
            <a:ext cx="3383280" cy="502920"/>
          </a:xfrm>
          <a:prstGeom prst="rect">
            <a:avLst/>
          </a:prstGeom>
          <a:noFill/>
          <a:ln/>
        </p:spPr>
        <p:txBody>
          <a:bodyPr wrap="square" lIns="0" tIns="0" rIns="0" bIns="0" rtlCol="0" anchor="ctr"/>
          <a:lstStyle/>
          <a:p>
            <a:pPr algn="ctr" indent="0" marL="0">
              <a:buNone/>
            </a:pPr>
            <a:r>
              <a:rPr lang="en-US" sz="1600" b="1" dirty="0">
                <a:solidFill>
                  <a:srgbClr val="F5F2FA"/>
                </a:solidFill>
                <a:latin typeface="Arial" pitchFamily="34" charset="0"/>
                <a:ea typeface="Arial" pitchFamily="34" charset="-122"/>
                <a:cs typeface="Arial" pitchFamily="34" charset="-120"/>
              </a:rPr>
              <a:t>1×</a:t>
            </a:r>
            <a:endParaRPr lang="en-US" sz="1600" dirty="0"/>
          </a:p>
        </p:txBody>
      </p:sp>
      <p:sp>
        <p:nvSpPr>
          <p:cNvPr id="26" name="Text 23"/>
          <p:cNvSpPr/>
          <p:nvPr/>
        </p:nvSpPr>
        <p:spPr>
          <a:xfrm>
            <a:off x="8001000" y="3977640"/>
            <a:ext cx="3383280" cy="502920"/>
          </a:xfrm>
          <a:prstGeom prst="rect">
            <a:avLst/>
          </a:prstGeom>
          <a:noFill/>
          <a:ln/>
        </p:spPr>
        <p:txBody>
          <a:bodyPr wrap="square" lIns="0" tIns="0" rIns="0" bIns="0" rtlCol="0" anchor="ctr"/>
          <a:lstStyle/>
          <a:p>
            <a:pPr algn="ctr" indent="0" marL="0">
              <a:buNone/>
            </a:pPr>
            <a:r>
              <a:rPr lang="en-US" sz="1600" b="1" dirty="0">
                <a:solidFill>
                  <a:srgbClr val="F5F2FA"/>
                </a:solidFill>
                <a:latin typeface="Arial" pitchFamily="34" charset="0"/>
                <a:ea typeface="Arial" pitchFamily="34" charset="-122"/>
                <a:cs typeface="Arial" pitchFamily="34" charset="-120"/>
              </a:rPr>
              <a:t>2×</a:t>
            </a:r>
            <a:endParaRPr lang="en-US" sz="1600" dirty="0"/>
          </a:p>
        </p:txBody>
      </p:sp>
      <p:sp>
        <p:nvSpPr>
          <p:cNvPr id="27" name="Shape 24"/>
          <p:cNvSpPr/>
          <p:nvPr/>
        </p:nvSpPr>
        <p:spPr>
          <a:xfrm>
            <a:off x="548640" y="4754880"/>
            <a:ext cx="5394960" cy="1051560"/>
          </a:xfrm>
          <a:prstGeom prst="roundRect">
            <a:avLst>
              <a:gd name="adj" fmla="val 12174"/>
            </a:avLst>
          </a:prstGeom>
          <a:solidFill>
            <a:srgbClr val="262038"/>
          </a:solidFill>
          <a:ln w="12700">
            <a:solidFill>
              <a:srgbClr val="262038"/>
            </a:solidFill>
            <a:prstDash val="solid"/>
          </a:ln>
        </p:spPr>
      </p:sp>
      <p:sp>
        <p:nvSpPr>
          <p:cNvPr id="28" name="Shape 25"/>
          <p:cNvSpPr/>
          <p:nvPr/>
        </p:nvSpPr>
        <p:spPr>
          <a:xfrm>
            <a:off x="868680" y="4992624"/>
            <a:ext cx="566928" cy="566928"/>
          </a:xfrm>
          <a:prstGeom prst="ellipse">
            <a:avLst/>
          </a:prstGeom>
          <a:solidFill>
            <a:srgbClr val="2E2745"/>
          </a:solidFill>
          <a:ln w="12700">
            <a:solidFill>
              <a:srgbClr val="2E2745"/>
            </a:solidFill>
            <a:prstDash val="solid"/>
          </a:ln>
        </p:spPr>
      </p:sp>
      <p:pic>
        <p:nvPicPr>
          <p:cNvPr id="29" name="Image 1" descr="preencoded.png">    </p:cNvPr>
          <p:cNvPicPr>
            <a:picLocks noChangeAspect="1"/>
          </p:cNvPicPr>
          <p:nvPr/>
        </p:nvPicPr>
        <p:blipFill>
          <a:blip r:embed="rId2"/>
          <a:stretch>
            <a:fillRect/>
          </a:stretch>
        </p:blipFill>
        <p:spPr>
          <a:xfrm>
            <a:off x="1027420" y="5151364"/>
            <a:ext cx="249448" cy="249448"/>
          </a:xfrm>
          <a:prstGeom prst="rect">
            <a:avLst/>
          </a:prstGeom>
        </p:spPr>
      </p:pic>
      <p:sp>
        <p:nvSpPr>
          <p:cNvPr id="30" name="Text 26"/>
          <p:cNvSpPr/>
          <p:nvPr/>
        </p:nvSpPr>
        <p:spPr>
          <a:xfrm>
            <a:off x="1600200" y="4956048"/>
            <a:ext cx="4023360" cy="292608"/>
          </a:xfrm>
          <a:prstGeom prst="rect">
            <a:avLst/>
          </a:prstGeom>
          <a:noFill/>
          <a:ln/>
        </p:spPr>
        <p:txBody>
          <a:bodyPr wrap="square" lIns="0" tIns="0" rIns="0" bIns="0" rtlCol="0" anchor="ctr"/>
          <a:lstStyle/>
          <a:p>
            <a:pPr indent="0" marL="0">
              <a:buNone/>
            </a:pPr>
            <a:r>
              <a:rPr lang="en-US" sz="1600" b="1" dirty="0">
                <a:solidFill>
                  <a:srgbClr val="F5F2FA"/>
                </a:solidFill>
                <a:latin typeface="Arial" pitchFamily="34" charset="0"/>
                <a:ea typeface="Arial" pitchFamily="34" charset="-122"/>
                <a:cs typeface="Arial" pitchFamily="34" charset="-120"/>
              </a:rPr>
              <a:t>English content and users</a:t>
            </a:r>
            <a:endParaRPr lang="en-US" sz="1600" dirty="0"/>
          </a:p>
        </p:txBody>
      </p:sp>
      <p:sp>
        <p:nvSpPr>
          <p:cNvPr id="31" name="Text 27"/>
          <p:cNvSpPr/>
          <p:nvPr/>
        </p:nvSpPr>
        <p:spPr>
          <a:xfrm>
            <a:off x="1600200" y="5285232"/>
            <a:ext cx="4114800" cy="411480"/>
          </a:xfrm>
          <a:prstGeom prst="rect">
            <a:avLst/>
          </a:prstGeom>
          <a:noFill/>
          <a:ln/>
        </p:spPr>
        <p:txBody>
          <a:bodyPr wrap="square" lIns="0" tIns="0" rIns="0" bIns="0" rtlCol="0" anchor="ctr"/>
          <a:lstStyle/>
          <a:p>
            <a:pPr indent="0" marL="0">
              <a:buNone/>
            </a:pPr>
            <a:r>
              <a:rPr lang="en-US" sz="1300" dirty="0">
                <a:solidFill>
                  <a:srgbClr val="A79DBF"/>
                </a:solidFill>
                <a:latin typeface="Calibri" pitchFamily="34" charset="0"/>
                <a:ea typeface="Calibri" pitchFamily="34" charset="-122"/>
                <a:cs typeface="Calibri" pitchFamily="34" charset="-120"/>
              </a:rPr>
              <a:t>Take 3-small. The quality gap is small — the price gap is not.</a:t>
            </a:r>
            <a:endParaRPr lang="en-US" sz="1300" dirty="0"/>
          </a:p>
        </p:txBody>
      </p:sp>
      <p:sp>
        <p:nvSpPr>
          <p:cNvPr id="32" name="Shape 28"/>
          <p:cNvSpPr/>
          <p:nvPr/>
        </p:nvSpPr>
        <p:spPr>
          <a:xfrm>
            <a:off x="6245352" y="4754880"/>
            <a:ext cx="5394960" cy="1051560"/>
          </a:xfrm>
          <a:prstGeom prst="roundRect">
            <a:avLst>
              <a:gd name="adj" fmla="val 12174"/>
            </a:avLst>
          </a:prstGeom>
          <a:solidFill>
            <a:srgbClr val="262038"/>
          </a:solidFill>
          <a:ln w="12700">
            <a:solidFill>
              <a:srgbClr val="262038"/>
            </a:solidFill>
            <a:prstDash val="solid"/>
          </a:ln>
        </p:spPr>
      </p:sp>
      <p:sp>
        <p:nvSpPr>
          <p:cNvPr id="33" name="Shape 29"/>
          <p:cNvSpPr/>
          <p:nvPr/>
        </p:nvSpPr>
        <p:spPr>
          <a:xfrm>
            <a:off x="6565392" y="4992624"/>
            <a:ext cx="566928" cy="566928"/>
          </a:xfrm>
          <a:prstGeom prst="ellipse">
            <a:avLst/>
          </a:prstGeom>
          <a:solidFill>
            <a:srgbClr val="2E2745"/>
          </a:solidFill>
          <a:ln w="12700">
            <a:solidFill>
              <a:srgbClr val="2E2745"/>
            </a:solidFill>
            <a:prstDash val="solid"/>
          </a:ln>
        </p:spPr>
      </p:sp>
      <p:pic>
        <p:nvPicPr>
          <p:cNvPr id="34" name="Image 2" descr="preencoded.png">    </p:cNvPr>
          <p:cNvPicPr>
            <a:picLocks noChangeAspect="1"/>
          </p:cNvPicPr>
          <p:nvPr/>
        </p:nvPicPr>
        <p:blipFill>
          <a:blip r:embed="rId3"/>
          <a:stretch>
            <a:fillRect/>
          </a:stretch>
        </p:blipFill>
        <p:spPr>
          <a:xfrm>
            <a:off x="6724132" y="5151364"/>
            <a:ext cx="249448" cy="249448"/>
          </a:xfrm>
          <a:prstGeom prst="rect">
            <a:avLst/>
          </a:prstGeom>
        </p:spPr>
      </p:pic>
      <p:sp>
        <p:nvSpPr>
          <p:cNvPr id="35" name="Text 30"/>
          <p:cNvSpPr/>
          <p:nvPr/>
        </p:nvSpPr>
        <p:spPr>
          <a:xfrm>
            <a:off x="7296912" y="4956048"/>
            <a:ext cx="4023360" cy="292608"/>
          </a:xfrm>
          <a:prstGeom prst="rect">
            <a:avLst/>
          </a:prstGeom>
          <a:noFill/>
          <a:ln/>
        </p:spPr>
        <p:txBody>
          <a:bodyPr wrap="square" lIns="0" tIns="0" rIns="0" bIns="0" rtlCol="0" anchor="ctr"/>
          <a:lstStyle/>
          <a:p>
            <a:pPr indent="0" marL="0">
              <a:buNone/>
            </a:pPr>
            <a:r>
              <a:rPr lang="en-US" sz="1600" b="1" dirty="0">
                <a:solidFill>
                  <a:srgbClr val="F5F2FA"/>
                </a:solidFill>
                <a:latin typeface="Arial" pitchFamily="34" charset="0"/>
                <a:ea typeface="Arial" pitchFamily="34" charset="-122"/>
                <a:cs typeface="Arial" pitchFamily="34" charset="-120"/>
              </a:rPr>
              <a:t>Mixed languages</a:t>
            </a:r>
            <a:endParaRPr lang="en-US" sz="1600" dirty="0"/>
          </a:p>
        </p:txBody>
      </p:sp>
      <p:sp>
        <p:nvSpPr>
          <p:cNvPr id="36" name="Text 31"/>
          <p:cNvSpPr/>
          <p:nvPr/>
        </p:nvSpPr>
        <p:spPr>
          <a:xfrm>
            <a:off x="7296912" y="5285232"/>
            <a:ext cx="4114800" cy="411480"/>
          </a:xfrm>
          <a:prstGeom prst="rect">
            <a:avLst/>
          </a:prstGeom>
          <a:noFill/>
          <a:ln/>
        </p:spPr>
        <p:txBody>
          <a:bodyPr wrap="square" lIns="0" tIns="0" rIns="0" bIns="0" rtlCol="0" anchor="ctr"/>
          <a:lstStyle/>
          <a:p>
            <a:pPr indent="0" marL="0">
              <a:buNone/>
            </a:pPr>
            <a:r>
              <a:rPr lang="en-US" sz="1300" dirty="0">
                <a:solidFill>
                  <a:srgbClr val="A79DBF"/>
                </a:solidFill>
                <a:latin typeface="Calibri" pitchFamily="34" charset="0"/>
                <a:ea typeface="Calibri" pitchFamily="34" charset="-122"/>
                <a:cs typeface="Calibri" pitchFamily="34" charset="-120"/>
              </a:rPr>
              <a:t>3-large is the candidate. Your own queries decide it.</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B1526"/>
        </a:solidFill>
      </p:bgPr>
    </p:bg>
    <p:spTree>
      <p:nvGrpSpPr>
        <p:cNvPr id="1" name=""/>
        <p:cNvGrpSpPr/>
        <p:nvPr/>
      </p:nvGrpSpPr>
      <p:grpSpPr>
        <a:xfrm>
          <a:off x="0" y="0"/>
          <a:ext cx="0" cy="0"/>
          <a:chOff x="0" y="0"/>
          <a:chExt cx="0" cy="0"/>
        </a:xfrm>
      </p:grpSpPr>
      <p:sp>
        <p:nvSpPr>
          <p:cNvPr id="2" name="Text 0"/>
          <p:cNvSpPr/>
          <p:nvPr/>
        </p:nvSpPr>
        <p:spPr>
          <a:xfrm>
            <a:off x="548640" y="6263640"/>
            <a:ext cx="3657600" cy="274320"/>
          </a:xfrm>
          <a:prstGeom prst="rect">
            <a:avLst/>
          </a:prstGeom>
          <a:noFill/>
          <a:ln/>
        </p:spPr>
        <p:txBody>
          <a:bodyPr wrap="square" lIns="0" tIns="0" rIns="0" bIns="0" rtlCol="0" anchor="ctr"/>
          <a:lstStyle/>
          <a:p>
            <a:pPr indent="0" marL="0">
              <a:buNone/>
            </a:pPr>
            <a:r>
              <a:rPr lang="en-US" sz="1000" dirty="0">
                <a:solidFill>
                  <a:srgbClr val="A79DBF"/>
                </a:solidFill>
                <a:latin typeface="Calibri" pitchFamily="34" charset="0"/>
                <a:ea typeface="Calibri" pitchFamily="34" charset="-122"/>
                <a:cs typeface="Calibri" pitchFamily="34" charset="-120"/>
              </a:rPr>
              <a:t>Agentive Solutions</a:t>
            </a:r>
            <a:endParaRPr lang="en-US" sz="1000" dirty="0"/>
          </a:p>
        </p:txBody>
      </p:sp>
      <p:sp>
        <p:nvSpPr>
          <p:cNvPr id="3" name="Text 1"/>
          <p:cNvSpPr/>
          <p:nvPr/>
        </p:nvSpPr>
        <p:spPr>
          <a:xfrm>
            <a:off x="7955280" y="6263640"/>
            <a:ext cx="3685032" cy="274320"/>
          </a:xfrm>
          <a:prstGeom prst="rect">
            <a:avLst/>
          </a:prstGeom>
          <a:noFill/>
          <a:ln/>
        </p:spPr>
        <p:txBody>
          <a:bodyPr wrap="square" lIns="0" tIns="0" rIns="0" bIns="0" rtlCol="0" anchor="ctr"/>
          <a:lstStyle/>
          <a:p>
            <a:pPr algn="r" indent="0" marL="0">
              <a:buNone/>
            </a:pPr>
            <a:r>
              <a:rPr lang="en-US" sz="1000" dirty="0">
                <a:solidFill>
                  <a:srgbClr val="A79DBF"/>
                </a:solidFill>
                <a:latin typeface="Calibri" pitchFamily="34" charset="0"/>
                <a:ea typeface="Calibri" pitchFamily="34" charset="-122"/>
                <a:cs typeface="Calibri" pitchFamily="34" charset="-120"/>
              </a:rPr>
              <a:t>RAG for Automation · Lesson 02</a:t>
            </a:r>
            <a:endParaRPr lang="en-US" sz="1000" dirty="0"/>
          </a:p>
        </p:txBody>
      </p:sp>
      <p:sp>
        <p:nvSpPr>
          <p:cNvPr id="4" name="Shape 2"/>
          <p:cNvSpPr/>
          <p:nvPr/>
        </p:nvSpPr>
        <p:spPr>
          <a:xfrm>
            <a:off x="548640" y="548640"/>
            <a:ext cx="566928" cy="566928"/>
          </a:xfrm>
          <a:prstGeom prst="ellipse">
            <a:avLst/>
          </a:prstGeom>
          <a:solidFill>
            <a:srgbClr val="2E2745"/>
          </a:solidFill>
          <a:ln w="12700">
            <a:solidFill>
              <a:srgbClr val="2E2745"/>
            </a:solidFill>
            <a:prstDash val="solid"/>
          </a:ln>
        </p:spPr>
      </p:sp>
      <p:pic>
        <p:nvPicPr>
          <p:cNvPr id="5" name="Image 0" descr="preencoded.png">    </p:cNvPr>
          <p:cNvPicPr>
            <a:picLocks noChangeAspect="1"/>
          </p:cNvPicPr>
          <p:nvPr/>
        </p:nvPicPr>
        <p:blipFill>
          <a:blip r:embed="rId1"/>
          <a:stretch>
            <a:fillRect/>
          </a:stretch>
        </p:blipFill>
        <p:spPr>
          <a:xfrm>
            <a:off x="707380" y="707380"/>
            <a:ext cx="249448" cy="249448"/>
          </a:xfrm>
          <a:prstGeom prst="rect">
            <a:avLst/>
          </a:prstGeom>
        </p:spPr>
      </p:pic>
      <p:sp>
        <p:nvSpPr>
          <p:cNvPr id="6" name="Text 3"/>
          <p:cNvSpPr/>
          <p:nvPr/>
        </p:nvSpPr>
        <p:spPr>
          <a:xfrm>
            <a:off x="1298448" y="530352"/>
            <a:ext cx="10058400" cy="603504"/>
          </a:xfrm>
          <a:prstGeom prst="rect">
            <a:avLst/>
          </a:prstGeom>
          <a:noFill/>
          <a:ln/>
        </p:spPr>
        <p:txBody>
          <a:bodyPr wrap="square" lIns="0" tIns="0" rIns="0" bIns="0" rtlCol="0" anchor="ctr"/>
          <a:lstStyle/>
          <a:p>
            <a:pPr indent="0" marL="0">
              <a:buNone/>
            </a:pPr>
            <a:r>
              <a:rPr lang="en-US" sz="3400" b="1" dirty="0">
                <a:solidFill>
                  <a:srgbClr val="F5F2FA"/>
                </a:solidFill>
                <a:latin typeface="Arial" pitchFamily="34" charset="0"/>
                <a:ea typeface="Arial" pitchFamily="34" charset="-122"/>
                <a:cs typeface="Arial" pitchFamily="34" charset="-120"/>
              </a:rPr>
              <a:t>One Rule You Can't Break</a:t>
            </a:r>
            <a:endParaRPr lang="en-US" sz="3400" dirty="0"/>
          </a:p>
        </p:txBody>
      </p:sp>
      <p:sp>
        <p:nvSpPr>
          <p:cNvPr id="7" name="Text 4"/>
          <p:cNvSpPr/>
          <p:nvPr/>
        </p:nvSpPr>
        <p:spPr>
          <a:xfrm>
            <a:off x="548640" y="1207008"/>
            <a:ext cx="10515600" cy="320040"/>
          </a:xfrm>
          <a:prstGeom prst="rect">
            <a:avLst/>
          </a:prstGeom>
          <a:noFill/>
          <a:ln/>
        </p:spPr>
        <p:txBody>
          <a:bodyPr wrap="square" lIns="0" tIns="0" rIns="0" bIns="0" rtlCol="0" anchor="ctr"/>
          <a:lstStyle/>
          <a:p>
            <a:pPr indent="0" marL="0">
              <a:buNone/>
            </a:pPr>
            <a:r>
              <a:rPr lang="en-US" sz="1600" dirty="0">
                <a:solidFill>
                  <a:srgbClr val="A79DBF"/>
                </a:solidFill>
                <a:latin typeface="Calibri" pitchFamily="34" charset="0"/>
                <a:ea typeface="Calibri" pitchFamily="34" charset="-122"/>
                <a:cs typeface="Calibri" pitchFamily="34" charset="-120"/>
              </a:rPr>
              <a:t>Index and query must come from the same model — always.</a:t>
            </a:r>
            <a:endParaRPr lang="en-US" sz="1600" dirty="0"/>
          </a:p>
        </p:txBody>
      </p:sp>
      <p:sp>
        <p:nvSpPr>
          <p:cNvPr id="8" name="Shape 5"/>
          <p:cNvSpPr/>
          <p:nvPr/>
        </p:nvSpPr>
        <p:spPr>
          <a:xfrm>
            <a:off x="548640" y="1691640"/>
            <a:ext cx="11091672" cy="1417320"/>
          </a:xfrm>
          <a:prstGeom prst="roundRect">
            <a:avLst>
              <a:gd name="adj" fmla="val 9032"/>
            </a:avLst>
          </a:prstGeom>
          <a:solidFill>
            <a:srgbClr val="262038"/>
          </a:solidFill>
          <a:ln w="12700">
            <a:solidFill>
              <a:srgbClr val="262038"/>
            </a:solidFill>
            <a:prstDash val="solid"/>
          </a:ln>
        </p:spPr>
      </p:sp>
      <p:sp>
        <p:nvSpPr>
          <p:cNvPr id="9" name="Shape 6"/>
          <p:cNvSpPr/>
          <p:nvPr/>
        </p:nvSpPr>
        <p:spPr>
          <a:xfrm>
            <a:off x="868680" y="1874520"/>
            <a:ext cx="3383280" cy="1051560"/>
          </a:xfrm>
          <a:prstGeom prst="roundRect">
            <a:avLst>
              <a:gd name="adj" fmla="val 10435"/>
            </a:avLst>
          </a:prstGeom>
          <a:solidFill>
            <a:srgbClr val="2E2745"/>
          </a:solidFill>
          <a:ln w="12700">
            <a:solidFill>
              <a:srgbClr val="2E2745"/>
            </a:solidFill>
            <a:prstDash val="solid"/>
          </a:ln>
        </p:spPr>
      </p:sp>
      <p:sp>
        <p:nvSpPr>
          <p:cNvPr id="10" name="Text 7"/>
          <p:cNvSpPr/>
          <p:nvPr/>
        </p:nvSpPr>
        <p:spPr>
          <a:xfrm>
            <a:off x="1097280" y="2002536"/>
            <a:ext cx="2926080" cy="237744"/>
          </a:xfrm>
          <a:prstGeom prst="rect">
            <a:avLst/>
          </a:prstGeom>
          <a:noFill/>
          <a:ln/>
        </p:spPr>
        <p:txBody>
          <a:bodyPr wrap="square" lIns="0" tIns="0" rIns="0" bIns="0" rtlCol="0" anchor="ctr"/>
          <a:lstStyle/>
          <a:p>
            <a:pPr indent="0" marL="0">
              <a:buNone/>
            </a:pPr>
            <a:r>
              <a:rPr lang="en-US" sz="1050" b="1" spc="150" kern="0" dirty="0">
                <a:solidFill>
                  <a:srgbClr val="A79DBF"/>
                </a:solidFill>
                <a:latin typeface="Arial" pitchFamily="34" charset="0"/>
                <a:ea typeface="Arial" pitchFamily="34" charset="-122"/>
                <a:cs typeface="Arial" pitchFamily="34" charset="-120"/>
              </a:rPr>
              <a:t>STORED</a:t>
            </a:r>
            <a:endParaRPr lang="en-US" sz="1050" dirty="0"/>
          </a:p>
        </p:txBody>
      </p:sp>
      <p:sp>
        <p:nvSpPr>
          <p:cNvPr id="11" name="Text 8"/>
          <p:cNvSpPr/>
          <p:nvPr/>
        </p:nvSpPr>
        <p:spPr>
          <a:xfrm>
            <a:off x="1097280" y="2276856"/>
            <a:ext cx="2926080" cy="256032"/>
          </a:xfrm>
          <a:prstGeom prst="rect">
            <a:avLst/>
          </a:prstGeom>
          <a:noFill/>
          <a:ln/>
        </p:spPr>
        <p:txBody>
          <a:bodyPr wrap="square" lIns="0" tIns="0" rIns="0" bIns="0" rtlCol="0" anchor="ctr"/>
          <a:lstStyle/>
          <a:p>
            <a:pPr indent="0" marL="0">
              <a:buNone/>
            </a:pPr>
            <a:r>
              <a:rPr lang="en-US" sz="1200" dirty="0">
                <a:solidFill>
                  <a:srgbClr val="F5F2FA"/>
                </a:solidFill>
                <a:latin typeface="Courier New" pitchFamily="34" charset="0"/>
                <a:ea typeface="Courier New" pitchFamily="34" charset="-122"/>
                <a:cs typeface="Courier New" pitchFamily="34" charset="-120"/>
              </a:rPr>
              <a:t>text-embedding-3-small</a:t>
            </a:r>
            <a:endParaRPr lang="en-US" sz="1200" dirty="0"/>
          </a:p>
        </p:txBody>
      </p:sp>
      <p:sp>
        <p:nvSpPr>
          <p:cNvPr id="12" name="Text 9"/>
          <p:cNvSpPr/>
          <p:nvPr/>
        </p:nvSpPr>
        <p:spPr>
          <a:xfrm>
            <a:off x="1097280" y="2569464"/>
            <a:ext cx="2926080" cy="237744"/>
          </a:xfrm>
          <a:prstGeom prst="rect">
            <a:avLst/>
          </a:prstGeom>
          <a:noFill/>
          <a:ln/>
        </p:spPr>
        <p:txBody>
          <a:bodyPr wrap="square" lIns="0" tIns="0" rIns="0" bIns="0" rtlCol="0" anchor="ctr"/>
          <a:lstStyle/>
          <a:p>
            <a:pPr indent="0" marL="0">
              <a:buNone/>
            </a:pPr>
            <a:r>
              <a:rPr lang="en-US" sz="1250" dirty="0">
                <a:solidFill>
                  <a:srgbClr val="A79DBF"/>
                </a:solidFill>
                <a:latin typeface="Calibri" pitchFamily="34" charset="0"/>
                <a:ea typeface="Calibri" pitchFamily="34" charset="-122"/>
                <a:cs typeface="Calibri" pitchFamily="34" charset="-120"/>
              </a:rPr>
              <a:t>1,536 numbers</a:t>
            </a:r>
            <a:endParaRPr lang="en-US" sz="1250" dirty="0"/>
          </a:p>
        </p:txBody>
      </p:sp>
      <p:sp>
        <p:nvSpPr>
          <p:cNvPr id="13" name="Shape 10"/>
          <p:cNvSpPr/>
          <p:nvPr/>
        </p:nvSpPr>
        <p:spPr>
          <a:xfrm>
            <a:off x="5532120" y="1874520"/>
            <a:ext cx="3383280" cy="1051560"/>
          </a:xfrm>
          <a:prstGeom prst="roundRect">
            <a:avLst>
              <a:gd name="adj" fmla="val 10435"/>
            </a:avLst>
          </a:prstGeom>
          <a:solidFill>
            <a:srgbClr val="2E2745"/>
          </a:solidFill>
          <a:ln w="12700">
            <a:solidFill>
              <a:srgbClr val="2E2745"/>
            </a:solidFill>
            <a:prstDash val="solid"/>
          </a:ln>
        </p:spPr>
      </p:sp>
      <p:sp>
        <p:nvSpPr>
          <p:cNvPr id="14" name="Text 11"/>
          <p:cNvSpPr/>
          <p:nvPr/>
        </p:nvSpPr>
        <p:spPr>
          <a:xfrm>
            <a:off x="5760720" y="2002536"/>
            <a:ext cx="2926080" cy="237744"/>
          </a:xfrm>
          <a:prstGeom prst="rect">
            <a:avLst/>
          </a:prstGeom>
          <a:noFill/>
          <a:ln/>
        </p:spPr>
        <p:txBody>
          <a:bodyPr wrap="square" lIns="0" tIns="0" rIns="0" bIns="0" rtlCol="0" anchor="ctr"/>
          <a:lstStyle/>
          <a:p>
            <a:pPr indent="0" marL="0">
              <a:buNone/>
            </a:pPr>
            <a:r>
              <a:rPr lang="en-US" sz="1050" b="1" spc="150" kern="0" dirty="0">
                <a:solidFill>
                  <a:srgbClr val="A79DBF"/>
                </a:solidFill>
                <a:latin typeface="Arial" pitchFamily="34" charset="0"/>
                <a:ea typeface="Arial" pitchFamily="34" charset="-122"/>
                <a:cs typeface="Arial" pitchFamily="34" charset="-120"/>
              </a:rPr>
              <a:t>QUERY</a:t>
            </a:r>
            <a:endParaRPr lang="en-US" sz="1050" dirty="0"/>
          </a:p>
        </p:txBody>
      </p:sp>
      <p:sp>
        <p:nvSpPr>
          <p:cNvPr id="15" name="Text 12"/>
          <p:cNvSpPr/>
          <p:nvPr/>
        </p:nvSpPr>
        <p:spPr>
          <a:xfrm>
            <a:off x="5760720" y="2276856"/>
            <a:ext cx="2926080" cy="256032"/>
          </a:xfrm>
          <a:prstGeom prst="rect">
            <a:avLst/>
          </a:prstGeom>
          <a:noFill/>
          <a:ln/>
        </p:spPr>
        <p:txBody>
          <a:bodyPr wrap="square" lIns="0" tIns="0" rIns="0" bIns="0" rtlCol="0" anchor="ctr"/>
          <a:lstStyle/>
          <a:p>
            <a:pPr indent="0" marL="0">
              <a:buNone/>
            </a:pPr>
            <a:r>
              <a:rPr lang="en-US" sz="1200" dirty="0">
                <a:solidFill>
                  <a:srgbClr val="F5F2FA"/>
                </a:solidFill>
                <a:latin typeface="Courier New" pitchFamily="34" charset="0"/>
                <a:ea typeface="Courier New" pitchFamily="34" charset="-122"/>
                <a:cs typeface="Courier New" pitchFamily="34" charset="-120"/>
              </a:rPr>
              <a:t>text-embedding-3-small</a:t>
            </a:r>
            <a:endParaRPr lang="en-US" sz="1200" dirty="0"/>
          </a:p>
        </p:txBody>
      </p:sp>
      <p:sp>
        <p:nvSpPr>
          <p:cNvPr id="16" name="Text 13"/>
          <p:cNvSpPr/>
          <p:nvPr/>
        </p:nvSpPr>
        <p:spPr>
          <a:xfrm>
            <a:off x="5760720" y="2569464"/>
            <a:ext cx="2926080" cy="237744"/>
          </a:xfrm>
          <a:prstGeom prst="rect">
            <a:avLst/>
          </a:prstGeom>
          <a:noFill/>
          <a:ln/>
        </p:spPr>
        <p:txBody>
          <a:bodyPr wrap="square" lIns="0" tIns="0" rIns="0" bIns="0" rtlCol="0" anchor="ctr"/>
          <a:lstStyle/>
          <a:p>
            <a:pPr indent="0" marL="0">
              <a:buNone/>
            </a:pPr>
            <a:r>
              <a:rPr lang="en-US" sz="1250" dirty="0">
                <a:solidFill>
                  <a:srgbClr val="A79DBF"/>
                </a:solidFill>
                <a:latin typeface="Calibri" pitchFamily="34" charset="0"/>
                <a:ea typeface="Calibri" pitchFamily="34" charset="-122"/>
                <a:cs typeface="Calibri" pitchFamily="34" charset="-120"/>
              </a:rPr>
              <a:t>1,536 numbers</a:t>
            </a:r>
            <a:endParaRPr lang="en-US" sz="1250" dirty="0"/>
          </a:p>
        </p:txBody>
      </p:sp>
      <p:sp>
        <p:nvSpPr>
          <p:cNvPr id="17" name="Shape 14"/>
          <p:cNvSpPr/>
          <p:nvPr/>
        </p:nvSpPr>
        <p:spPr>
          <a:xfrm>
            <a:off x="4389120" y="2404872"/>
            <a:ext cx="1051560" cy="0"/>
          </a:xfrm>
          <a:prstGeom prst="line">
            <a:avLst/>
          </a:prstGeom>
          <a:noFill/>
          <a:ln w="31750">
            <a:solidFill>
              <a:srgbClr val="34D399"/>
            </a:solidFill>
            <a:prstDash val="solid"/>
            <a:headEnd type="triangle"/>
            <a:tailEnd type="triangle"/>
          </a:ln>
        </p:spPr>
      </p:sp>
      <p:sp>
        <p:nvSpPr>
          <p:cNvPr id="18" name="Text 15"/>
          <p:cNvSpPr/>
          <p:nvPr/>
        </p:nvSpPr>
        <p:spPr>
          <a:xfrm>
            <a:off x="9281160" y="2176272"/>
            <a:ext cx="1965960" cy="438912"/>
          </a:xfrm>
          <a:prstGeom prst="roundRect">
            <a:avLst>
              <a:gd name="adj" fmla="val 18750"/>
            </a:avLst>
          </a:prstGeom>
          <a:solidFill>
            <a:srgbClr val="34D399"/>
          </a:solidFill>
          <a:ln>
            <a:solidFill>
              <a:srgbClr val="34D399"/>
            </a:solidFill>
          </a:ln>
        </p:spPr>
        <p:txBody>
          <a:bodyPr wrap="square" lIns="0" tIns="0" rIns="0" bIns="0" rtlCol="0" anchor="ctr"/>
          <a:lstStyle/>
          <a:p>
            <a:pPr algn="ctr" indent="0" marL="0">
              <a:buNone/>
            </a:pPr>
            <a:r>
              <a:rPr lang="en-US" sz="1300" b="1" spc="100" kern="0" dirty="0">
                <a:solidFill>
                  <a:srgbClr val="1B1526"/>
                </a:solidFill>
                <a:latin typeface="Arial" pitchFamily="34" charset="0"/>
                <a:ea typeface="Arial" pitchFamily="34" charset="-122"/>
                <a:cs typeface="Arial" pitchFamily="34" charset="-120"/>
              </a:rPr>
              <a:t>MATCHES</a:t>
            </a:r>
            <a:endParaRPr lang="en-US" sz="1300" dirty="0"/>
          </a:p>
        </p:txBody>
      </p:sp>
      <p:sp>
        <p:nvSpPr>
          <p:cNvPr id="19" name="Shape 16"/>
          <p:cNvSpPr/>
          <p:nvPr/>
        </p:nvSpPr>
        <p:spPr>
          <a:xfrm>
            <a:off x="548640" y="3291840"/>
            <a:ext cx="11091672" cy="1417320"/>
          </a:xfrm>
          <a:prstGeom prst="roundRect">
            <a:avLst>
              <a:gd name="adj" fmla="val 9032"/>
            </a:avLst>
          </a:prstGeom>
          <a:solidFill>
            <a:srgbClr val="262038"/>
          </a:solidFill>
          <a:ln w="12700">
            <a:solidFill>
              <a:srgbClr val="262038"/>
            </a:solidFill>
            <a:prstDash val="solid"/>
          </a:ln>
        </p:spPr>
      </p:sp>
      <p:sp>
        <p:nvSpPr>
          <p:cNvPr id="20" name="Shape 17"/>
          <p:cNvSpPr/>
          <p:nvPr/>
        </p:nvSpPr>
        <p:spPr>
          <a:xfrm>
            <a:off x="868680" y="3474720"/>
            <a:ext cx="3383280" cy="1051560"/>
          </a:xfrm>
          <a:prstGeom prst="roundRect">
            <a:avLst>
              <a:gd name="adj" fmla="val 10435"/>
            </a:avLst>
          </a:prstGeom>
          <a:solidFill>
            <a:srgbClr val="2E2745"/>
          </a:solidFill>
          <a:ln w="12700">
            <a:solidFill>
              <a:srgbClr val="2E2745"/>
            </a:solidFill>
            <a:prstDash val="solid"/>
          </a:ln>
        </p:spPr>
      </p:sp>
      <p:sp>
        <p:nvSpPr>
          <p:cNvPr id="21" name="Text 18"/>
          <p:cNvSpPr/>
          <p:nvPr/>
        </p:nvSpPr>
        <p:spPr>
          <a:xfrm>
            <a:off x="1097280" y="3602736"/>
            <a:ext cx="2926080" cy="237744"/>
          </a:xfrm>
          <a:prstGeom prst="rect">
            <a:avLst/>
          </a:prstGeom>
          <a:noFill/>
          <a:ln/>
        </p:spPr>
        <p:txBody>
          <a:bodyPr wrap="square" lIns="0" tIns="0" rIns="0" bIns="0" rtlCol="0" anchor="ctr"/>
          <a:lstStyle/>
          <a:p>
            <a:pPr indent="0" marL="0">
              <a:buNone/>
            </a:pPr>
            <a:r>
              <a:rPr lang="en-US" sz="1050" b="1" spc="150" kern="0" dirty="0">
                <a:solidFill>
                  <a:srgbClr val="A79DBF"/>
                </a:solidFill>
                <a:latin typeface="Arial" pitchFamily="34" charset="0"/>
                <a:ea typeface="Arial" pitchFamily="34" charset="-122"/>
                <a:cs typeface="Arial" pitchFamily="34" charset="-120"/>
              </a:rPr>
              <a:t>STORED</a:t>
            </a:r>
            <a:endParaRPr lang="en-US" sz="1050" dirty="0"/>
          </a:p>
        </p:txBody>
      </p:sp>
      <p:sp>
        <p:nvSpPr>
          <p:cNvPr id="22" name="Text 19"/>
          <p:cNvSpPr/>
          <p:nvPr/>
        </p:nvSpPr>
        <p:spPr>
          <a:xfrm>
            <a:off x="1097280" y="3877056"/>
            <a:ext cx="2926080" cy="256032"/>
          </a:xfrm>
          <a:prstGeom prst="rect">
            <a:avLst/>
          </a:prstGeom>
          <a:noFill/>
          <a:ln/>
        </p:spPr>
        <p:txBody>
          <a:bodyPr wrap="square" lIns="0" tIns="0" rIns="0" bIns="0" rtlCol="0" anchor="ctr"/>
          <a:lstStyle/>
          <a:p>
            <a:pPr indent="0" marL="0">
              <a:buNone/>
            </a:pPr>
            <a:r>
              <a:rPr lang="en-US" sz="1200" dirty="0">
                <a:solidFill>
                  <a:srgbClr val="F5F2FA"/>
                </a:solidFill>
                <a:latin typeface="Courier New" pitchFamily="34" charset="0"/>
                <a:ea typeface="Courier New" pitchFamily="34" charset="-122"/>
                <a:cs typeface="Courier New" pitchFamily="34" charset="-120"/>
              </a:rPr>
              <a:t>text-embedding-3-small</a:t>
            </a:r>
            <a:endParaRPr lang="en-US" sz="1200" dirty="0"/>
          </a:p>
        </p:txBody>
      </p:sp>
      <p:sp>
        <p:nvSpPr>
          <p:cNvPr id="23" name="Text 20"/>
          <p:cNvSpPr/>
          <p:nvPr/>
        </p:nvSpPr>
        <p:spPr>
          <a:xfrm>
            <a:off x="1097280" y="4169664"/>
            <a:ext cx="2926080" cy="237744"/>
          </a:xfrm>
          <a:prstGeom prst="rect">
            <a:avLst/>
          </a:prstGeom>
          <a:noFill/>
          <a:ln/>
        </p:spPr>
        <p:txBody>
          <a:bodyPr wrap="square" lIns="0" tIns="0" rIns="0" bIns="0" rtlCol="0" anchor="ctr"/>
          <a:lstStyle/>
          <a:p>
            <a:pPr indent="0" marL="0">
              <a:buNone/>
            </a:pPr>
            <a:r>
              <a:rPr lang="en-US" sz="1250" dirty="0">
                <a:solidFill>
                  <a:srgbClr val="A79DBF"/>
                </a:solidFill>
                <a:latin typeface="Calibri" pitchFamily="34" charset="0"/>
                <a:ea typeface="Calibri" pitchFamily="34" charset="-122"/>
                <a:cs typeface="Calibri" pitchFamily="34" charset="-120"/>
              </a:rPr>
              <a:t>1,536 numbers</a:t>
            </a:r>
            <a:endParaRPr lang="en-US" sz="1250" dirty="0"/>
          </a:p>
        </p:txBody>
      </p:sp>
      <p:sp>
        <p:nvSpPr>
          <p:cNvPr id="24" name="Shape 21"/>
          <p:cNvSpPr/>
          <p:nvPr/>
        </p:nvSpPr>
        <p:spPr>
          <a:xfrm>
            <a:off x="5532120" y="3474720"/>
            <a:ext cx="3383280" cy="1051560"/>
          </a:xfrm>
          <a:prstGeom prst="roundRect">
            <a:avLst>
              <a:gd name="adj" fmla="val 10435"/>
            </a:avLst>
          </a:prstGeom>
          <a:solidFill>
            <a:srgbClr val="2E2745"/>
          </a:solidFill>
          <a:ln w="12700">
            <a:solidFill>
              <a:srgbClr val="2E2745"/>
            </a:solidFill>
            <a:prstDash val="solid"/>
          </a:ln>
        </p:spPr>
      </p:sp>
      <p:sp>
        <p:nvSpPr>
          <p:cNvPr id="25" name="Text 22"/>
          <p:cNvSpPr/>
          <p:nvPr/>
        </p:nvSpPr>
        <p:spPr>
          <a:xfrm>
            <a:off x="5760720" y="3602736"/>
            <a:ext cx="2926080" cy="237744"/>
          </a:xfrm>
          <a:prstGeom prst="rect">
            <a:avLst/>
          </a:prstGeom>
          <a:noFill/>
          <a:ln/>
        </p:spPr>
        <p:txBody>
          <a:bodyPr wrap="square" lIns="0" tIns="0" rIns="0" bIns="0" rtlCol="0" anchor="ctr"/>
          <a:lstStyle/>
          <a:p>
            <a:pPr indent="0" marL="0">
              <a:buNone/>
            </a:pPr>
            <a:r>
              <a:rPr lang="en-US" sz="1050" b="1" spc="150" kern="0" dirty="0">
                <a:solidFill>
                  <a:srgbClr val="A79DBF"/>
                </a:solidFill>
                <a:latin typeface="Arial" pitchFamily="34" charset="0"/>
                <a:ea typeface="Arial" pitchFamily="34" charset="-122"/>
                <a:cs typeface="Arial" pitchFamily="34" charset="-120"/>
              </a:rPr>
              <a:t>QUERY</a:t>
            </a:r>
            <a:endParaRPr lang="en-US" sz="1050" dirty="0"/>
          </a:p>
        </p:txBody>
      </p:sp>
      <p:sp>
        <p:nvSpPr>
          <p:cNvPr id="26" name="Text 23"/>
          <p:cNvSpPr/>
          <p:nvPr/>
        </p:nvSpPr>
        <p:spPr>
          <a:xfrm>
            <a:off x="5760720" y="3877056"/>
            <a:ext cx="2926080" cy="256032"/>
          </a:xfrm>
          <a:prstGeom prst="rect">
            <a:avLst/>
          </a:prstGeom>
          <a:noFill/>
          <a:ln/>
        </p:spPr>
        <p:txBody>
          <a:bodyPr wrap="square" lIns="0" tIns="0" rIns="0" bIns="0" rtlCol="0" anchor="ctr"/>
          <a:lstStyle/>
          <a:p>
            <a:pPr indent="0" marL="0">
              <a:buNone/>
            </a:pPr>
            <a:r>
              <a:rPr lang="en-US" sz="1200" dirty="0">
                <a:solidFill>
                  <a:srgbClr val="F5F2FA"/>
                </a:solidFill>
                <a:latin typeface="Courier New" pitchFamily="34" charset="0"/>
                <a:ea typeface="Courier New" pitchFamily="34" charset="-122"/>
                <a:cs typeface="Courier New" pitchFamily="34" charset="-120"/>
              </a:rPr>
              <a:t>text-embedding-3-large</a:t>
            </a:r>
            <a:endParaRPr lang="en-US" sz="1200" dirty="0"/>
          </a:p>
        </p:txBody>
      </p:sp>
      <p:sp>
        <p:nvSpPr>
          <p:cNvPr id="27" name="Text 24"/>
          <p:cNvSpPr/>
          <p:nvPr/>
        </p:nvSpPr>
        <p:spPr>
          <a:xfrm>
            <a:off x="5760720" y="4169664"/>
            <a:ext cx="2926080" cy="237744"/>
          </a:xfrm>
          <a:prstGeom prst="rect">
            <a:avLst/>
          </a:prstGeom>
          <a:noFill/>
          <a:ln/>
        </p:spPr>
        <p:txBody>
          <a:bodyPr wrap="square" lIns="0" tIns="0" rIns="0" bIns="0" rtlCol="0" anchor="ctr"/>
          <a:lstStyle/>
          <a:p>
            <a:pPr indent="0" marL="0">
              <a:buNone/>
            </a:pPr>
            <a:r>
              <a:rPr lang="en-US" sz="1250" dirty="0">
                <a:solidFill>
                  <a:srgbClr val="A79DBF"/>
                </a:solidFill>
                <a:latin typeface="Calibri" pitchFamily="34" charset="0"/>
                <a:ea typeface="Calibri" pitchFamily="34" charset="-122"/>
                <a:cs typeface="Calibri" pitchFamily="34" charset="-120"/>
              </a:rPr>
              <a:t>3,072 numbers</a:t>
            </a:r>
            <a:endParaRPr lang="en-US" sz="1250" dirty="0"/>
          </a:p>
        </p:txBody>
      </p:sp>
      <p:sp>
        <p:nvSpPr>
          <p:cNvPr id="28" name="Shape 25"/>
          <p:cNvSpPr/>
          <p:nvPr/>
        </p:nvSpPr>
        <p:spPr>
          <a:xfrm>
            <a:off x="4389120" y="4005072"/>
            <a:ext cx="347472" cy="0"/>
          </a:xfrm>
          <a:prstGeom prst="line">
            <a:avLst/>
          </a:prstGeom>
          <a:noFill/>
          <a:ln w="31750">
            <a:solidFill>
              <a:srgbClr val="EA4B71"/>
            </a:solidFill>
            <a:prstDash val="solid"/>
          </a:ln>
        </p:spPr>
      </p:sp>
      <p:sp>
        <p:nvSpPr>
          <p:cNvPr id="29" name="Shape 26"/>
          <p:cNvSpPr/>
          <p:nvPr/>
        </p:nvSpPr>
        <p:spPr>
          <a:xfrm>
            <a:off x="5093208" y="4005072"/>
            <a:ext cx="347472" cy="0"/>
          </a:xfrm>
          <a:prstGeom prst="line">
            <a:avLst/>
          </a:prstGeom>
          <a:noFill/>
          <a:ln w="31750">
            <a:solidFill>
              <a:srgbClr val="EA4B71"/>
            </a:solidFill>
            <a:prstDash val="solid"/>
          </a:ln>
        </p:spPr>
      </p:sp>
      <p:sp>
        <p:nvSpPr>
          <p:cNvPr id="30" name="Text 27"/>
          <p:cNvSpPr/>
          <p:nvPr/>
        </p:nvSpPr>
        <p:spPr>
          <a:xfrm>
            <a:off x="9281160" y="3776472"/>
            <a:ext cx="1965960" cy="438912"/>
          </a:xfrm>
          <a:prstGeom prst="roundRect">
            <a:avLst>
              <a:gd name="adj" fmla="val 18750"/>
            </a:avLst>
          </a:prstGeom>
          <a:solidFill>
            <a:srgbClr val="EA4B71"/>
          </a:solidFill>
          <a:ln>
            <a:solidFill>
              <a:srgbClr val="EA4B71"/>
            </a:solidFill>
          </a:ln>
        </p:spPr>
        <p:txBody>
          <a:bodyPr wrap="square" lIns="0" tIns="0" rIns="0" bIns="0" rtlCol="0" anchor="ctr"/>
          <a:lstStyle/>
          <a:p>
            <a:pPr algn="ctr" indent="0" marL="0">
              <a:buNone/>
            </a:pPr>
            <a:r>
              <a:rPr lang="en-US" sz="1300" b="1" spc="100" kern="0" dirty="0">
                <a:solidFill>
                  <a:srgbClr val="1B1526"/>
                </a:solidFill>
                <a:latin typeface="Arial" pitchFamily="34" charset="0"/>
                <a:ea typeface="Arial" pitchFamily="34" charset="-122"/>
                <a:cs typeface="Arial" pitchFamily="34" charset="-120"/>
              </a:rPr>
              <a:t>BREAKS</a:t>
            </a:r>
            <a:endParaRPr lang="en-US" sz="1300" dirty="0"/>
          </a:p>
        </p:txBody>
      </p:sp>
      <p:sp>
        <p:nvSpPr>
          <p:cNvPr id="31" name="Shape 28"/>
          <p:cNvSpPr/>
          <p:nvPr/>
        </p:nvSpPr>
        <p:spPr>
          <a:xfrm>
            <a:off x="548640" y="4892040"/>
            <a:ext cx="11091672" cy="960120"/>
          </a:xfrm>
          <a:prstGeom prst="roundRect">
            <a:avLst>
              <a:gd name="adj" fmla="val 13333"/>
            </a:avLst>
          </a:prstGeom>
          <a:solidFill>
            <a:srgbClr val="262038"/>
          </a:solidFill>
          <a:ln w="12700">
            <a:solidFill>
              <a:srgbClr val="262038"/>
            </a:solidFill>
            <a:prstDash val="solid"/>
          </a:ln>
        </p:spPr>
      </p:sp>
      <p:sp>
        <p:nvSpPr>
          <p:cNvPr id="32" name="Shape 29"/>
          <p:cNvSpPr/>
          <p:nvPr/>
        </p:nvSpPr>
        <p:spPr>
          <a:xfrm>
            <a:off x="868680" y="5084064"/>
            <a:ext cx="566928" cy="566928"/>
          </a:xfrm>
          <a:prstGeom prst="ellipse">
            <a:avLst/>
          </a:prstGeom>
          <a:solidFill>
            <a:srgbClr val="2E2745"/>
          </a:solidFill>
          <a:ln w="12700">
            <a:solidFill>
              <a:srgbClr val="2E2745"/>
            </a:solidFill>
            <a:prstDash val="solid"/>
          </a:ln>
        </p:spPr>
      </p:sp>
      <p:pic>
        <p:nvPicPr>
          <p:cNvPr id="33" name="Image 1" descr="preencoded.png">    </p:cNvPr>
          <p:cNvPicPr>
            <a:picLocks noChangeAspect="1"/>
          </p:cNvPicPr>
          <p:nvPr/>
        </p:nvPicPr>
        <p:blipFill>
          <a:blip r:embed="rId2"/>
          <a:stretch>
            <a:fillRect/>
          </a:stretch>
        </p:blipFill>
        <p:spPr>
          <a:xfrm>
            <a:off x="1027420" y="5242804"/>
            <a:ext cx="249448" cy="249448"/>
          </a:xfrm>
          <a:prstGeom prst="rect">
            <a:avLst/>
          </a:prstGeom>
        </p:spPr>
      </p:pic>
      <p:sp>
        <p:nvSpPr>
          <p:cNvPr id="34" name="Text 30"/>
          <p:cNvSpPr/>
          <p:nvPr/>
        </p:nvSpPr>
        <p:spPr>
          <a:xfrm>
            <a:off x="1645920" y="5047488"/>
            <a:ext cx="9601200" cy="301752"/>
          </a:xfrm>
          <a:prstGeom prst="rect">
            <a:avLst/>
          </a:prstGeom>
          <a:noFill/>
          <a:ln/>
        </p:spPr>
        <p:txBody>
          <a:bodyPr wrap="square" lIns="0" tIns="0" rIns="0" bIns="0" rtlCol="0" anchor="ctr"/>
          <a:lstStyle/>
          <a:p>
            <a:pPr indent="0" marL="0">
              <a:buNone/>
            </a:pPr>
            <a:r>
              <a:rPr lang="en-US" sz="1700" b="1" dirty="0">
                <a:solidFill>
                  <a:srgbClr val="F5F2FA"/>
                </a:solidFill>
                <a:latin typeface="Arial" pitchFamily="34" charset="0"/>
                <a:ea typeface="Arial" pitchFamily="34" charset="-122"/>
                <a:cs typeface="Arial" pitchFamily="34" charset="-120"/>
              </a:rPr>
              <a:t>Changing the model means re-embedding everything</a:t>
            </a:r>
            <a:endParaRPr lang="en-US" sz="1700" dirty="0"/>
          </a:p>
        </p:txBody>
      </p:sp>
      <p:sp>
        <p:nvSpPr>
          <p:cNvPr id="35" name="Text 31"/>
          <p:cNvSpPr/>
          <p:nvPr/>
        </p:nvSpPr>
        <p:spPr>
          <a:xfrm>
            <a:off x="1645920" y="5394960"/>
            <a:ext cx="9601200" cy="320040"/>
          </a:xfrm>
          <a:prstGeom prst="rect">
            <a:avLst/>
          </a:prstGeom>
          <a:noFill/>
          <a:ln/>
        </p:spPr>
        <p:txBody>
          <a:bodyPr wrap="square" lIns="0" tIns="0" rIns="0" bIns="0" rtlCol="0" anchor="ctr"/>
          <a:lstStyle/>
          <a:p>
            <a:pPr indent="0" marL="0">
              <a:buNone/>
            </a:pPr>
            <a:r>
              <a:rPr lang="en-US" sz="1350" dirty="0">
                <a:solidFill>
                  <a:srgbClr val="A79DBF"/>
                </a:solidFill>
                <a:latin typeface="Calibri" pitchFamily="34" charset="0"/>
                <a:ea typeface="Calibri" pitchFamily="34" charset="-122"/>
                <a:cs typeface="Calibri" pitchFamily="34" charset="-120"/>
              </a:rPr>
              <a:t>So write down which model built a collection — six months from now you will need to know.</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B1526"/>
        </a:solidFill>
      </p:bgPr>
    </p:bg>
    <p:spTree>
      <p:nvGrpSpPr>
        <p:cNvPr id="1" name=""/>
        <p:cNvGrpSpPr/>
        <p:nvPr/>
      </p:nvGrpSpPr>
      <p:grpSpPr>
        <a:xfrm>
          <a:off x="0" y="0"/>
          <a:ext cx="0" cy="0"/>
          <a:chOff x="0" y="0"/>
          <a:chExt cx="0" cy="0"/>
        </a:xfrm>
      </p:grpSpPr>
      <p:sp>
        <p:nvSpPr>
          <p:cNvPr id="2" name="Text 0"/>
          <p:cNvSpPr/>
          <p:nvPr/>
        </p:nvSpPr>
        <p:spPr>
          <a:xfrm>
            <a:off x="548640" y="6263640"/>
            <a:ext cx="3657600" cy="274320"/>
          </a:xfrm>
          <a:prstGeom prst="rect">
            <a:avLst/>
          </a:prstGeom>
          <a:noFill/>
          <a:ln/>
        </p:spPr>
        <p:txBody>
          <a:bodyPr wrap="square" lIns="0" tIns="0" rIns="0" bIns="0" rtlCol="0" anchor="ctr"/>
          <a:lstStyle/>
          <a:p>
            <a:pPr indent="0" marL="0">
              <a:buNone/>
            </a:pPr>
            <a:r>
              <a:rPr lang="en-US" sz="1000" dirty="0">
                <a:solidFill>
                  <a:srgbClr val="A79DBF"/>
                </a:solidFill>
                <a:latin typeface="Calibri" pitchFamily="34" charset="0"/>
                <a:ea typeface="Calibri" pitchFamily="34" charset="-122"/>
                <a:cs typeface="Calibri" pitchFamily="34" charset="-120"/>
              </a:rPr>
              <a:t>Agentive Solutions</a:t>
            </a:r>
            <a:endParaRPr lang="en-US" sz="1000" dirty="0"/>
          </a:p>
        </p:txBody>
      </p:sp>
      <p:sp>
        <p:nvSpPr>
          <p:cNvPr id="3" name="Text 1"/>
          <p:cNvSpPr/>
          <p:nvPr/>
        </p:nvSpPr>
        <p:spPr>
          <a:xfrm>
            <a:off x="7955280" y="6263640"/>
            <a:ext cx="3685032" cy="274320"/>
          </a:xfrm>
          <a:prstGeom prst="rect">
            <a:avLst/>
          </a:prstGeom>
          <a:noFill/>
          <a:ln/>
        </p:spPr>
        <p:txBody>
          <a:bodyPr wrap="square" lIns="0" tIns="0" rIns="0" bIns="0" rtlCol="0" anchor="ctr"/>
          <a:lstStyle/>
          <a:p>
            <a:pPr algn="r" indent="0" marL="0">
              <a:buNone/>
            </a:pPr>
            <a:r>
              <a:rPr lang="en-US" sz="1000" dirty="0">
                <a:solidFill>
                  <a:srgbClr val="A79DBF"/>
                </a:solidFill>
                <a:latin typeface="Calibri" pitchFamily="34" charset="0"/>
                <a:ea typeface="Calibri" pitchFamily="34" charset="-122"/>
                <a:cs typeface="Calibri" pitchFamily="34" charset="-120"/>
              </a:rPr>
              <a:t>RAG for Automation · Lesson 02</a:t>
            </a:r>
            <a:endParaRPr lang="en-US" sz="1000" dirty="0"/>
          </a:p>
        </p:txBody>
      </p:sp>
      <p:sp>
        <p:nvSpPr>
          <p:cNvPr id="4" name="Shape 2"/>
          <p:cNvSpPr/>
          <p:nvPr/>
        </p:nvSpPr>
        <p:spPr>
          <a:xfrm>
            <a:off x="548640" y="548640"/>
            <a:ext cx="566928" cy="566928"/>
          </a:xfrm>
          <a:prstGeom prst="ellipse">
            <a:avLst/>
          </a:prstGeom>
          <a:solidFill>
            <a:srgbClr val="2E2745"/>
          </a:solidFill>
          <a:ln w="12700">
            <a:solidFill>
              <a:srgbClr val="2E2745"/>
            </a:solidFill>
            <a:prstDash val="solid"/>
          </a:ln>
        </p:spPr>
      </p:sp>
      <p:pic>
        <p:nvPicPr>
          <p:cNvPr id="5" name="Image 0" descr="preencoded.png">    </p:cNvPr>
          <p:cNvPicPr>
            <a:picLocks noChangeAspect="1"/>
          </p:cNvPicPr>
          <p:nvPr/>
        </p:nvPicPr>
        <p:blipFill>
          <a:blip r:embed="rId1"/>
          <a:stretch>
            <a:fillRect/>
          </a:stretch>
        </p:blipFill>
        <p:spPr>
          <a:xfrm>
            <a:off x="707380" y="707380"/>
            <a:ext cx="249448" cy="249448"/>
          </a:xfrm>
          <a:prstGeom prst="rect">
            <a:avLst/>
          </a:prstGeom>
        </p:spPr>
      </p:pic>
      <p:sp>
        <p:nvSpPr>
          <p:cNvPr id="6" name="Text 3"/>
          <p:cNvSpPr/>
          <p:nvPr/>
        </p:nvSpPr>
        <p:spPr>
          <a:xfrm>
            <a:off x="1298448" y="530352"/>
            <a:ext cx="10058400" cy="603504"/>
          </a:xfrm>
          <a:prstGeom prst="rect">
            <a:avLst/>
          </a:prstGeom>
          <a:noFill/>
          <a:ln/>
        </p:spPr>
        <p:txBody>
          <a:bodyPr wrap="square" lIns="0" tIns="0" rIns="0" bIns="0" rtlCol="0" anchor="ctr"/>
          <a:lstStyle/>
          <a:p>
            <a:pPr indent="0" marL="0">
              <a:buNone/>
            </a:pPr>
            <a:r>
              <a:rPr lang="en-US" sz="3400" b="1" dirty="0">
                <a:solidFill>
                  <a:srgbClr val="F5F2FA"/>
                </a:solidFill>
                <a:latin typeface="Arial" pitchFamily="34" charset="0"/>
                <a:ea typeface="Arial" pitchFamily="34" charset="-122"/>
                <a:cs typeface="Arial" pitchFamily="34" charset="-120"/>
              </a:rPr>
              <a:t>Five Things to Remember</a:t>
            </a:r>
            <a:endParaRPr lang="en-US" sz="3400" dirty="0"/>
          </a:p>
        </p:txBody>
      </p:sp>
      <p:sp>
        <p:nvSpPr>
          <p:cNvPr id="7" name="Shape 4"/>
          <p:cNvSpPr/>
          <p:nvPr/>
        </p:nvSpPr>
        <p:spPr>
          <a:xfrm>
            <a:off x="777240" y="1600200"/>
            <a:ext cx="548640" cy="548640"/>
          </a:xfrm>
          <a:prstGeom prst="ellipse">
            <a:avLst/>
          </a:prstGeom>
          <a:solidFill>
            <a:srgbClr val="2E2745"/>
          </a:solidFill>
          <a:ln w="12700">
            <a:solidFill>
              <a:srgbClr val="2E2745"/>
            </a:solidFill>
            <a:prstDash val="solid"/>
          </a:ln>
        </p:spPr>
      </p:sp>
      <p:sp>
        <p:nvSpPr>
          <p:cNvPr id="8" name="Text 5"/>
          <p:cNvSpPr/>
          <p:nvPr/>
        </p:nvSpPr>
        <p:spPr>
          <a:xfrm>
            <a:off x="777240" y="1600200"/>
            <a:ext cx="548640" cy="548640"/>
          </a:xfrm>
          <a:prstGeom prst="rect">
            <a:avLst/>
          </a:prstGeom>
          <a:noFill/>
          <a:ln/>
        </p:spPr>
        <p:txBody>
          <a:bodyPr wrap="square" lIns="0" tIns="0" rIns="0" bIns="0" rtlCol="0" anchor="ctr"/>
          <a:lstStyle/>
          <a:p>
            <a:pPr algn="ctr" indent="0" marL="0">
              <a:buNone/>
            </a:pPr>
            <a:r>
              <a:rPr lang="en-US" sz="1600" b="1" dirty="0">
                <a:solidFill>
                  <a:srgbClr val="EA4B71"/>
                </a:solidFill>
                <a:latin typeface="Arial" pitchFamily="34" charset="0"/>
                <a:ea typeface="Arial" pitchFamily="34" charset="-122"/>
                <a:cs typeface="Arial" pitchFamily="34" charset="-120"/>
              </a:rPr>
              <a:t>01</a:t>
            </a:r>
            <a:endParaRPr lang="en-US" sz="1600" dirty="0"/>
          </a:p>
        </p:txBody>
      </p:sp>
      <p:sp>
        <p:nvSpPr>
          <p:cNvPr id="9" name="Text 6"/>
          <p:cNvSpPr/>
          <p:nvPr/>
        </p:nvSpPr>
        <p:spPr>
          <a:xfrm>
            <a:off x="1600200" y="1655064"/>
            <a:ext cx="9692640" cy="438912"/>
          </a:xfrm>
          <a:prstGeom prst="rect">
            <a:avLst/>
          </a:prstGeom>
          <a:noFill/>
          <a:ln/>
        </p:spPr>
        <p:txBody>
          <a:bodyPr wrap="square" lIns="0" tIns="0" rIns="0" bIns="0" rtlCol="0" anchor="ctr"/>
          <a:lstStyle/>
          <a:p>
            <a:pPr indent="0" marL="0">
              <a:buNone/>
            </a:pPr>
            <a:r>
              <a:rPr lang="en-US" sz="1900" b="1" dirty="0">
                <a:solidFill>
                  <a:srgbClr val="F5F2FA"/>
                </a:solidFill>
                <a:latin typeface="Arial" pitchFamily="34" charset="0"/>
                <a:ea typeface="Arial" pitchFamily="34" charset="-122"/>
                <a:cs typeface="Arial" pitchFamily="34" charset="-120"/>
              </a:rPr>
              <a:t>An embedding is meaning, written as numbers</a:t>
            </a:r>
            <a:endParaRPr lang="en-US" sz="1900" dirty="0"/>
          </a:p>
        </p:txBody>
      </p:sp>
      <p:sp>
        <p:nvSpPr>
          <p:cNvPr id="10" name="Shape 7"/>
          <p:cNvSpPr/>
          <p:nvPr/>
        </p:nvSpPr>
        <p:spPr>
          <a:xfrm>
            <a:off x="777240" y="2404872"/>
            <a:ext cx="548640" cy="548640"/>
          </a:xfrm>
          <a:prstGeom prst="ellipse">
            <a:avLst/>
          </a:prstGeom>
          <a:solidFill>
            <a:srgbClr val="2E2745"/>
          </a:solidFill>
          <a:ln w="12700">
            <a:solidFill>
              <a:srgbClr val="2E2745"/>
            </a:solidFill>
            <a:prstDash val="solid"/>
          </a:ln>
        </p:spPr>
      </p:sp>
      <p:sp>
        <p:nvSpPr>
          <p:cNvPr id="11" name="Text 8"/>
          <p:cNvSpPr/>
          <p:nvPr/>
        </p:nvSpPr>
        <p:spPr>
          <a:xfrm>
            <a:off x="777240" y="2404872"/>
            <a:ext cx="548640" cy="548640"/>
          </a:xfrm>
          <a:prstGeom prst="rect">
            <a:avLst/>
          </a:prstGeom>
          <a:noFill/>
          <a:ln/>
        </p:spPr>
        <p:txBody>
          <a:bodyPr wrap="square" lIns="0" tIns="0" rIns="0" bIns="0" rtlCol="0" anchor="ctr"/>
          <a:lstStyle/>
          <a:p>
            <a:pPr algn="ctr" indent="0" marL="0">
              <a:buNone/>
            </a:pPr>
            <a:r>
              <a:rPr lang="en-US" sz="1600" b="1" dirty="0">
                <a:solidFill>
                  <a:srgbClr val="EA4B71"/>
                </a:solidFill>
                <a:latin typeface="Arial" pitchFamily="34" charset="0"/>
                <a:ea typeface="Arial" pitchFamily="34" charset="-122"/>
                <a:cs typeface="Arial" pitchFamily="34" charset="-120"/>
              </a:rPr>
              <a:t>02</a:t>
            </a:r>
            <a:endParaRPr lang="en-US" sz="1600" dirty="0"/>
          </a:p>
        </p:txBody>
      </p:sp>
      <p:sp>
        <p:nvSpPr>
          <p:cNvPr id="12" name="Text 9"/>
          <p:cNvSpPr/>
          <p:nvPr/>
        </p:nvSpPr>
        <p:spPr>
          <a:xfrm>
            <a:off x="1600200" y="2459736"/>
            <a:ext cx="9692640" cy="438912"/>
          </a:xfrm>
          <a:prstGeom prst="rect">
            <a:avLst/>
          </a:prstGeom>
          <a:noFill/>
          <a:ln/>
        </p:spPr>
        <p:txBody>
          <a:bodyPr wrap="square" lIns="0" tIns="0" rIns="0" bIns="0" rtlCol="0" anchor="ctr"/>
          <a:lstStyle/>
          <a:p>
            <a:pPr indent="0" marL="0">
              <a:buNone/>
            </a:pPr>
            <a:r>
              <a:rPr lang="en-US" sz="1900" b="1" dirty="0">
                <a:solidFill>
                  <a:srgbClr val="F5F2FA"/>
                </a:solidFill>
                <a:latin typeface="Arial" pitchFamily="34" charset="0"/>
                <a:ea typeface="Arial" pitchFamily="34" charset="-122"/>
                <a:cs typeface="Arial" pitchFamily="34" charset="-120"/>
              </a:rPr>
              <a:t>Cosine compares direction, not words</a:t>
            </a:r>
            <a:endParaRPr lang="en-US" sz="1900" dirty="0"/>
          </a:p>
        </p:txBody>
      </p:sp>
      <p:sp>
        <p:nvSpPr>
          <p:cNvPr id="13" name="Shape 10"/>
          <p:cNvSpPr/>
          <p:nvPr/>
        </p:nvSpPr>
        <p:spPr>
          <a:xfrm>
            <a:off x="777240" y="3209544"/>
            <a:ext cx="548640" cy="548640"/>
          </a:xfrm>
          <a:prstGeom prst="ellipse">
            <a:avLst/>
          </a:prstGeom>
          <a:solidFill>
            <a:srgbClr val="2E2745"/>
          </a:solidFill>
          <a:ln w="12700">
            <a:solidFill>
              <a:srgbClr val="2E2745"/>
            </a:solidFill>
            <a:prstDash val="solid"/>
          </a:ln>
        </p:spPr>
      </p:sp>
      <p:sp>
        <p:nvSpPr>
          <p:cNvPr id="14" name="Text 11"/>
          <p:cNvSpPr/>
          <p:nvPr/>
        </p:nvSpPr>
        <p:spPr>
          <a:xfrm>
            <a:off x="777240" y="3209544"/>
            <a:ext cx="548640" cy="548640"/>
          </a:xfrm>
          <a:prstGeom prst="rect">
            <a:avLst/>
          </a:prstGeom>
          <a:noFill/>
          <a:ln/>
        </p:spPr>
        <p:txBody>
          <a:bodyPr wrap="square" lIns="0" tIns="0" rIns="0" bIns="0" rtlCol="0" anchor="ctr"/>
          <a:lstStyle/>
          <a:p>
            <a:pPr algn="ctr" indent="0" marL="0">
              <a:buNone/>
            </a:pPr>
            <a:r>
              <a:rPr lang="en-US" sz="1600" b="1" dirty="0">
                <a:solidFill>
                  <a:srgbClr val="EA4B71"/>
                </a:solidFill>
                <a:latin typeface="Arial" pitchFamily="34" charset="0"/>
                <a:ea typeface="Arial" pitchFamily="34" charset="-122"/>
                <a:cs typeface="Arial" pitchFamily="34" charset="-120"/>
              </a:rPr>
              <a:t>03</a:t>
            </a:r>
            <a:endParaRPr lang="en-US" sz="1600" dirty="0"/>
          </a:p>
        </p:txBody>
      </p:sp>
      <p:sp>
        <p:nvSpPr>
          <p:cNvPr id="15" name="Text 12"/>
          <p:cNvSpPr/>
          <p:nvPr/>
        </p:nvSpPr>
        <p:spPr>
          <a:xfrm>
            <a:off x="1600200" y="3264408"/>
            <a:ext cx="9692640" cy="438912"/>
          </a:xfrm>
          <a:prstGeom prst="rect">
            <a:avLst/>
          </a:prstGeom>
          <a:noFill/>
          <a:ln/>
        </p:spPr>
        <p:txBody>
          <a:bodyPr wrap="square" lIns="0" tIns="0" rIns="0" bIns="0" rtlCol="0" anchor="ctr"/>
          <a:lstStyle/>
          <a:p>
            <a:pPr indent="0" marL="0">
              <a:buNone/>
            </a:pPr>
            <a:r>
              <a:rPr lang="en-US" sz="1900" b="1" dirty="0">
                <a:solidFill>
                  <a:srgbClr val="F5F2FA"/>
                </a:solidFill>
                <a:latin typeface="Arial" pitchFamily="34" charset="0"/>
                <a:ea typeface="Arial" pitchFamily="34" charset="-122"/>
                <a:cs typeface="Arial" pitchFamily="34" charset="-120"/>
              </a:rPr>
              <a:t>A score is relative — never a percentage</a:t>
            </a:r>
            <a:endParaRPr lang="en-US" sz="1900" dirty="0"/>
          </a:p>
        </p:txBody>
      </p:sp>
      <p:sp>
        <p:nvSpPr>
          <p:cNvPr id="16" name="Shape 13"/>
          <p:cNvSpPr/>
          <p:nvPr/>
        </p:nvSpPr>
        <p:spPr>
          <a:xfrm>
            <a:off x="777240" y="4014216"/>
            <a:ext cx="548640" cy="548640"/>
          </a:xfrm>
          <a:prstGeom prst="ellipse">
            <a:avLst/>
          </a:prstGeom>
          <a:solidFill>
            <a:srgbClr val="2E2745"/>
          </a:solidFill>
          <a:ln w="12700">
            <a:solidFill>
              <a:srgbClr val="2E2745"/>
            </a:solidFill>
            <a:prstDash val="solid"/>
          </a:ln>
        </p:spPr>
      </p:sp>
      <p:sp>
        <p:nvSpPr>
          <p:cNvPr id="17" name="Text 14"/>
          <p:cNvSpPr/>
          <p:nvPr/>
        </p:nvSpPr>
        <p:spPr>
          <a:xfrm>
            <a:off x="777240" y="4014216"/>
            <a:ext cx="548640" cy="548640"/>
          </a:xfrm>
          <a:prstGeom prst="rect">
            <a:avLst/>
          </a:prstGeom>
          <a:noFill/>
          <a:ln/>
        </p:spPr>
        <p:txBody>
          <a:bodyPr wrap="square" lIns="0" tIns="0" rIns="0" bIns="0" rtlCol="0" anchor="ctr"/>
          <a:lstStyle/>
          <a:p>
            <a:pPr algn="ctr" indent="0" marL="0">
              <a:buNone/>
            </a:pPr>
            <a:r>
              <a:rPr lang="en-US" sz="1600" b="1" dirty="0">
                <a:solidFill>
                  <a:srgbClr val="EA4B71"/>
                </a:solidFill>
                <a:latin typeface="Arial" pitchFamily="34" charset="0"/>
                <a:ea typeface="Arial" pitchFamily="34" charset="-122"/>
                <a:cs typeface="Arial" pitchFamily="34" charset="-120"/>
              </a:rPr>
              <a:t>04</a:t>
            </a:r>
            <a:endParaRPr lang="en-US" sz="1600" dirty="0"/>
          </a:p>
        </p:txBody>
      </p:sp>
      <p:sp>
        <p:nvSpPr>
          <p:cNvPr id="18" name="Text 15"/>
          <p:cNvSpPr/>
          <p:nvPr/>
        </p:nvSpPr>
        <p:spPr>
          <a:xfrm>
            <a:off x="1600200" y="4069080"/>
            <a:ext cx="9692640" cy="438912"/>
          </a:xfrm>
          <a:prstGeom prst="rect">
            <a:avLst/>
          </a:prstGeom>
          <a:noFill/>
          <a:ln/>
        </p:spPr>
        <p:txBody>
          <a:bodyPr wrap="square" lIns="0" tIns="0" rIns="0" bIns="0" rtlCol="0" anchor="ctr"/>
          <a:lstStyle/>
          <a:p>
            <a:pPr indent="0" marL="0">
              <a:buNone/>
            </a:pPr>
            <a:r>
              <a:rPr lang="en-US" sz="1900" b="1" dirty="0">
                <a:solidFill>
                  <a:srgbClr val="F5F2FA"/>
                </a:solidFill>
                <a:latin typeface="Arial" pitchFamily="34" charset="0"/>
                <a:ea typeface="Arial" pitchFamily="34" charset="-122"/>
                <a:cs typeface="Arial" pitchFamily="34" charset="-120"/>
              </a:rPr>
              <a:t>A small model can miss another language</a:t>
            </a:r>
            <a:endParaRPr lang="en-US" sz="1900" dirty="0"/>
          </a:p>
        </p:txBody>
      </p:sp>
      <p:sp>
        <p:nvSpPr>
          <p:cNvPr id="19" name="Shape 16"/>
          <p:cNvSpPr/>
          <p:nvPr/>
        </p:nvSpPr>
        <p:spPr>
          <a:xfrm>
            <a:off x="777240" y="4818888"/>
            <a:ext cx="548640" cy="548640"/>
          </a:xfrm>
          <a:prstGeom prst="ellipse">
            <a:avLst/>
          </a:prstGeom>
          <a:solidFill>
            <a:srgbClr val="2E2745"/>
          </a:solidFill>
          <a:ln w="12700">
            <a:solidFill>
              <a:srgbClr val="2E2745"/>
            </a:solidFill>
            <a:prstDash val="solid"/>
          </a:ln>
        </p:spPr>
      </p:sp>
      <p:sp>
        <p:nvSpPr>
          <p:cNvPr id="20" name="Text 17"/>
          <p:cNvSpPr/>
          <p:nvPr/>
        </p:nvSpPr>
        <p:spPr>
          <a:xfrm>
            <a:off x="777240" y="4818888"/>
            <a:ext cx="548640" cy="548640"/>
          </a:xfrm>
          <a:prstGeom prst="rect">
            <a:avLst/>
          </a:prstGeom>
          <a:noFill/>
          <a:ln/>
        </p:spPr>
        <p:txBody>
          <a:bodyPr wrap="square" lIns="0" tIns="0" rIns="0" bIns="0" rtlCol="0" anchor="ctr"/>
          <a:lstStyle/>
          <a:p>
            <a:pPr algn="ctr" indent="0" marL="0">
              <a:buNone/>
            </a:pPr>
            <a:r>
              <a:rPr lang="en-US" sz="1600" b="1" dirty="0">
                <a:solidFill>
                  <a:srgbClr val="EA4B71"/>
                </a:solidFill>
                <a:latin typeface="Arial" pitchFamily="34" charset="0"/>
                <a:ea typeface="Arial" pitchFamily="34" charset="-122"/>
                <a:cs typeface="Arial" pitchFamily="34" charset="-120"/>
              </a:rPr>
              <a:t>05</a:t>
            </a:r>
            <a:endParaRPr lang="en-US" sz="1600" dirty="0"/>
          </a:p>
        </p:txBody>
      </p:sp>
      <p:sp>
        <p:nvSpPr>
          <p:cNvPr id="21" name="Text 18"/>
          <p:cNvSpPr/>
          <p:nvPr/>
        </p:nvSpPr>
        <p:spPr>
          <a:xfrm>
            <a:off x="1600200" y="4873752"/>
            <a:ext cx="9692640" cy="438912"/>
          </a:xfrm>
          <a:prstGeom prst="rect">
            <a:avLst/>
          </a:prstGeom>
          <a:noFill/>
          <a:ln/>
        </p:spPr>
        <p:txBody>
          <a:bodyPr wrap="square" lIns="0" tIns="0" rIns="0" bIns="0" rtlCol="0" anchor="ctr"/>
          <a:lstStyle/>
          <a:p>
            <a:pPr indent="0" marL="0">
              <a:buNone/>
            </a:pPr>
            <a:r>
              <a:rPr lang="en-US" sz="1900" b="1" dirty="0">
                <a:solidFill>
                  <a:srgbClr val="F5F2FA"/>
                </a:solidFill>
                <a:latin typeface="Arial" pitchFamily="34" charset="0"/>
                <a:ea typeface="Arial" pitchFamily="34" charset="-122"/>
                <a:cs typeface="Arial" pitchFamily="34" charset="-120"/>
              </a:rPr>
              <a:t>Same model for index and query — always</a:t>
            </a:r>
            <a:endParaRPr lang="en-US" sz="1900" dirty="0"/>
          </a:p>
        </p:txBody>
      </p:sp>
      <p:sp>
        <p:nvSpPr>
          <p:cNvPr id="22" name="Text 19"/>
          <p:cNvSpPr/>
          <p:nvPr/>
        </p:nvSpPr>
        <p:spPr>
          <a:xfrm>
            <a:off x="548640" y="5715000"/>
            <a:ext cx="7315200" cy="274320"/>
          </a:xfrm>
          <a:prstGeom prst="rect">
            <a:avLst/>
          </a:prstGeom>
          <a:noFill/>
          <a:ln/>
        </p:spPr>
        <p:txBody>
          <a:bodyPr wrap="square" lIns="0" tIns="0" rIns="0" bIns="0" rtlCol="0" anchor="ctr"/>
          <a:lstStyle/>
          <a:p>
            <a:pPr indent="0" marL="0">
              <a:buNone/>
            </a:pPr>
            <a:r>
              <a:rPr lang="en-US" sz="1300" dirty="0">
                <a:solidFill>
                  <a:srgbClr val="A79DBF"/>
                </a:solidFill>
                <a:latin typeface="Calibri" pitchFamily="34" charset="0"/>
                <a:ea typeface="Calibri" pitchFamily="34" charset="-122"/>
                <a:cs typeface="Calibri" pitchFamily="34" charset="-120"/>
              </a:rPr>
              <a:t>Next — Lesson 03: Vector Databases &amp; Qdrant</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B1526"/>
        </a:solidFill>
      </p:bgPr>
    </p:bg>
    <p:spTree>
      <p:nvGrpSpPr>
        <p:cNvPr id="1" name=""/>
        <p:cNvGrpSpPr/>
        <p:nvPr/>
      </p:nvGrpSpPr>
      <p:grpSpPr>
        <a:xfrm>
          <a:off x="0" y="0"/>
          <a:ext cx="0" cy="0"/>
          <a:chOff x="0" y="0"/>
          <a:chExt cx="0" cy="0"/>
        </a:xfrm>
      </p:grpSpPr>
      <p:sp>
        <p:nvSpPr>
          <p:cNvPr id="2" name="Text 0"/>
          <p:cNvSpPr/>
          <p:nvPr/>
        </p:nvSpPr>
        <p:spPr>
          <a:xfrm>
            <a:off x="548640" y="6263640"/>
            <a:ext cx="3657600" cy="274320"/>
          </a:xfrm>
          <a:prstGeom prst="rect">
            <a:avLst/>
          </a:prstGeom>
          <a:noFill/>
          <a:ln/>
        </p:spPr>
        <p:txBody>
          <a:bodyPr wrap="square" lIns="0" tIns="0" rIns="0" bIns="0" rtlCol="0" anchor="ctr"/>
          <a:lstStyle/>
          <a:p>
            <a:pPr indent="0" marL="0">
              <a:buNone/>
            </a:pPr>
            <a:r>
              <a:rPr lang="en-US" sz="1000" dirty="0">
                <a:solidFill>
                  <a:srgbClr val="A79DBF"/>
                </a:solidFill>
                <a:latin typeface="Calibri" pitchFamily="34" charset="0"/>
                <a:ea typeface="Calibri" pitchFamily="34" charset="-122"/>
                <a:cs typeface="Calibri" pitchFamily="34" charset="-120"/>
              </a:rPr>
              <a:t>Agentive Solutions</a:t>
            </a:r>
            <a:endParaRPr lang="en-US" sz="1000" dirty="0"/>
          </a:p>
        </p:txBody>
      </p:sp>
      <p:sp>
        <p:nvSpPr>
          <p:cNvPr id="3" name="Text 1"/>
          <p:cNvSpPr/>
          <p:nvPr/>
        </p:nvSpPr>
        <p:spPr>
          <a:xfrm>
            <a:off x="7955280" y="6263640"/>
            <a:ext cx="3685032" cy="274320"/>
          </a:xfrm>
          <a:prstGeom prst="rect">
            <a:avLst/>
          </a:prstGeom>
          <a:noFill/>
          <a:ln/>
        </p:spPr>
        <p:txBody>
          <a:bodyPr wrap="square" lIns="0" tIns="0" rIns="0" bIns="0" rtlCol="0" anchor="ctr"/>
          <a:lstStyle/>
          <a:p>
            <a:pPr algn="r" indent="0" marL="0">
              <a:buNone/>
            </a:pPr>
            <a:r>
              <a:rPr lang="en-US" sz="1000" dirty="0">
                <a:solidFill>
                  <a:srgbClr val="A79DBF"/>
                </a:solidFill>
                <a:latin typeface="Calibri" pitchFamily="34" charset="0"/>
                <a:ea typeface="Calibri" pitchFamily="34" charset="-122"/>
                <a:cs typeface="Calibri" pitchFamily="34" charset="-120"/>
              </a:rPr>
              <a:t>RAG for Automation · Lesson 02</a:t>
            </a:r>
            <a:endParaRPr lang="en-US" sz="1000" dirty="0"/>
          </a:p>
        </p:txBody>
      </p:sp>
      <p:sp>
        <p:nvSpPr>
          <p:cNvPr id="4" name="Shape 2"/>
          <p:cNvSpPr/>
          <p:nvPr/>
        </p:nvSpPr>
        <p:spPr>
          <a:xfrm>
            <a:off x="548640" y="548640"/>
            <a:ext cx="566928" cy="566928"/>
          </a:xfrm>
          <a:prstGeom prst="ellipse">
            <a:avLst/>
          </a:prstGeom>
          <a:solidFill>
            <a:srgbClr val="2E2745"/>
          </a:solidFill>
          <a:ln w="12700">
            <a:solidFill>
              <a:srgbClr val="2E2745"/>
            </a:solidFill>
            <a:prstDash val="solid"/>
          </a:ln>
        </p:spPr>
      </p:sp>
      <p:pic>
        <p:nvPicPr>
          <p:cNvPr id="5" name="Image 0" descr="preencoded.png">    </p:cNvPr>
          <p:cNvPicPr>
            <a:picLocks noChangeAspect="1"/>
          </p:cNvPicPr>
          <p:nvPr/>
        </p:nvPicPr>
        <p:blipFill>
          <a:blip r:embed="rId1"/>
          <a:stretch>
            <a:fillRect/>
          </a:stretch>
        </p:blipFill>
        <p:spPr>
          <a:xfrm>
            <a:off x="707380" y="707380"/>
            <a:ext cx="249448" cy="249448"/>
          </a:xfrm>
          <a:prstGeom prst="rect">
            <a:avLst/>
          </a:prstGeom>
        </p:spPr>
      </p:pic>
      <p:sp>
        <p:nvSpPr>
          <p:cNvPr id="6" name="Text 3"/>
          <p:cNvSpPr/>
          <p:nvPr/>
        </p:nvSpPr>
        <p:spPr>
          <a:xfrm>
            <a:off x="1298448" y="530352"/>
            <a:ext cx="10058400" cy="603504"/>
          </a:xfrm>
          <a:prstGeom prst="rect">
            <a:avLst/>
          </a:prstGeom>
          <a:noFill/>
          <a:ln/>
        </p:spPr>
        <p:txBody>
          <a:bodyPr wrap="square" lIns="0" tIns="0" rIns="0" bIns="0" rtlCol="0" anchor="ctr"/>
          <a:lstStyle/>
          <a:p>
            <a:pPr indent="0" marL="0">
              <a:buNone/>
            </a:pPr>
            <a:r>
              <a:rPr lang="en-US" sz="3400" b="1" dirty="0">
                <a:solidFill>
                  <a:srgbClr val="F5F2FA"/>
                </a:solidFill>
                <a:latin typeface="Arial" pitchFamily="34" charset="0"/>
                <a:ea typeface="Arial" pitchFamily="34" charset="-122"/>
                <a:cs typeface="Arial" pitchFamily="34" charset="-120"/>
              </a:rPr>
              <a:t>Two Questions for You</a:t>
            </a:r>
            <a:endParaRPr lang="en-US" sz="3400" dirty="0"/>
          </a:p>
        </p:txBody>
      </p:sp>
      <p:sp>
        <p:nvSpPr>
          <p:cNvPr id="7" name="Shape 4"/>
          <p:cNvSpPr/>
          <p:nvPr/>
        </p:nvSpPr>
        <p:spPr>
          <a:xfrm>
            <a:off x="548640" y="1737360"/>
            <a:ext cx="11091672" cy="1691640"/>
          </a:xfrm>
          <a:prstGeom prst="roundRect">
            <a:avLst>
              <a:gd name="adj" fmla="val 7568"/>
            </a:avLst>
          </a:prstGeom>
          <a:solidFill>
            <a:srgbClr val="262038"/>
          </a:solidFill>
          <a:ln w="12700">
            <a:solidFill>
              <a:srgbClr val="262038"/>
            </a:solidFill>
            <a:prstDash val="solid"/>
          </a:ln>
        </p:spPr>
      </p:sp>
      <p:sp>
        <p:nvSpPr>
          <p:cNvPr id="8" name="Shape 5"/>
          <p:cNvSpPr/>
          <p:nvPr/>
        </p:nvSpPr>
        <p:spPr>
          <a:xfrm>
            <a:off x="914400" y="2304288"/>
            <a:ext cx="566928" cy="566928"/>
          </a:xfrm>
          <a:prstGeom prst="ellipse">
            <a:avLst/>
          </a:prstGeom>
          <a:solidFill>
            <a:srgbClr val="2E2745"/>
          </a:solidFill>
          <a:ln w="12700">
            <a:solidFill>
              <a:srgbClr val="2E2745"/>
            </a:solidFill>
            <a:prstDash val="solid"/>
          </a:ln>
        </p:spPr>
      </p:sp>
      <p:sp>
        <p:nvSpPr>
          <p:cNvPr id="9" name="Text 6"/>
          <p:cNvSpPr/>
          <p:nvPr/>
        </p:nvSpPr>
        <p:spPr>
          <a:xfrm>
            <a:off x="914400" y="2304288"/>
            <a:ext cx="566928" cy="566928"/>
          </a:xfrm>
          <a:prstGeom prst="rect">
            <a:avLst/>
          </a:prstGeom>
          <a:noFill/>
          <a:ln/>
        </p:spPr>
        <p:txBody>
          <a:bodyPr wrap="square" lIns="0" tIns="0" rIns="0" bIns="0" rtlCol="0" anchor="ctr"/>
          <a:lstStyle/>
          <a:p>
            <a:pPr algn="ctr" indent="0" marL="0">
              <a:buNone/>
            </a:pPr>
            <a:r>
              <a:rPr lang="en-US" sz="1600" b="1" dirty="0">
                <a:solidFill>
                  <a:srgbClr val="EA4B71"/>
                </a:solidFill>
                <a:latin typeface="Arial" pitchFamily="34" charset="0"/>
                <a:ea typeface="Arial" pitchFamily="34" charset="-122"/>
                <a:cs typeface="Arial" pitchFamily="34" charset="-120"/>
              </a:rPr>
              <a:t>01</a:t>
            </a:r>
            <a:endParaRPr lang="en-US" sz="1600" dirty="0"/>
          </a:p>
        </p:txBody>
      </p:sp>
      <p:sp>
        <p:nvSpPr>
          <p:cNvPr id="10" name="Text 7"/>
          <p:cNvSpPr/>
          <p:nvPr/>
        </p:nvSpPr>
        <p:spPr>
          <a:xfrm>
            <a:off x="1783080" y="2057400"/>
            <a:ext cx="9326880" cy="1051560"/>
          </a:xfrm>
          <a:prstGeom prst="rect">
            <a:avLst/>
          </a:prstGeom>
          <a:noFill/>
          <a:ln/>
        </p:spPr>
        <p:txBody>
          <a:bodyPr wrap="square" lIns="0" tIns="0" rIns="0" bIns="0" rtlCol="0" anchor="ctr"/>
          <a:lstStyle/>
          <a:p>
            <a:pPr indent="0" marL="0">
              <a:lnSpc>
                <a:spcPct val="115000"/>
              </a:lnSpc>
              <a:buNone/>
            </a:pPr>
            <a:r>
              <a:rPr lang="en-US" sz="2200" b="1" dirty="0">
                <a:solidFill>
                  <a:srgbClr val="F5F2FA"/>
                </a:solidFill>
                <a:latin typeface="Arial" pitchFamily="34" charset="0"/>
                <a:ea typeface="Arial" pitchFamily="34" charset="-122"/>
                <a:cs typeface="Arial" pitchFamily="34" charset="-120"/>
              </a:rPr>
              <a:t>A chunk scores 0.55. Is that a good match — or not?</a:t>
            </a:r>
            <a:endParaRPr lang="en-US" sz="2200" dirty="0"/>
          </a:p>
        </p:txBody>
      </p:sp>
      <p:sp>
        <p:nvSpPr>
          <p:cNvPr id="11" name="Shape 8"/>
          <p:cNvSpPr/>
          <p:nvPr/>
        </p:nvSpPr>
        <p:spPr>
          <a:xfrm>
            <a:off x="548640" y="3657600"/>
            <a:ext cx="11091672" cy="1691640"/>
          </a:xfrm>
          <a:prstGeom prst="roundRect">
            <a:avLst>
              <a:gd name="adj" fmla="val 7568"/>
            </a:avLst>
          </a:prstGeom>
          <a:solidFill>
            <a:srgbClr val="262038"/>
          </a:solidFill>
          <a:ln w="12700">
            <a:solidFill>
              <a:srgbClr val="262038"/>
            </a:solidFill>
            <a:prstDash val="solid"/>
          </a:ln>
        </p:spPr>
      </p:sp>
      <p:sp>
        <p:nvSpPr>
          <p:cNvPr id="12" name="Shape 9"/>
          <p:cNvSpPr/>
          <p:nvPr/>
        </p:nvSpPr>
        <p:spPr>
          <a:xfrm>
            <a:off x="914400" y="4224528"/>
            <a:ext cx="566928" cy="566928"/>
          </a:xfrm>
          <a:prstGeom prst="ellipse">
            <a:avLst/>
          </a:prstGeom>
          <a:solidFill>
            <a:srgbClr val="2E2745"/>
          </a:solidFill>
          <a:ln w="12700">
            <a:solidFill>
              <a:srgbClr val="2E2745"/>
            </a:solidFill>
            <a:prstDash val="solid"/>
          </a:ln>
        </p:spPr>
      </p:sp>
      <p:sp>
        <p:nvSpPr>
          <p:cNvPr id="13" name="Text 10"/>
          <p:cNvSpPr/>
          <p:nvPr/>
        </p:nvSpPr>
        <p:spPr>
          <a:xfrm>
            <a:off x="914400" y="4224528"/>
            <a:ext cx="566928" cy="566928"/>
          </a:xfrm>
          <a:prstGeom prst="rect">
            <a:avLst/>
          </a:prstGeom>
          <a:noFill/>
          <a:ln/>
        </p:spPr>
        <p:txBody>
          <a:bodyPr wrap="square" lIns="0" tIns="0" rIns="0" bIns="0" rtlCol="0" anchor="ctr"/>
          <a:lstStyle/>
          <a:p>
            <a:pPr algn="ctr" indent="0" marL="0">
              <a:buNone/>
            </a:pPr>
            <a:r>
              <a:rPr lang="en-US" sz="1600" b="1" dirty="0">
                <a:solidFill>
                  <a:srgbClr val="EA4B71"/>
                </a:solidFill>
                <a:latin typeface="Arial" pitchFamily="34" charset="0"/>
                <a:ea typeface="Arial" pitchFamily="34" charset="-122"/>
                <a:cs typeface="Arial" pitchFamily="34" charset="-120"/>
              </a:rPr>
              <a:t>02</a:t>
            </a:r>
            <a:endParaRPr lang="en-US" sz="1600" dirty="0"/>
          </a:p>
        </p:txBody>
      </p:sp>
      <p:sp>
        <p:nvSpPr>
          <p:cNvPr id="14" name="Text 11"/>
          <p:cNvSpPr/>
          <p:nvPr/>
        </p:nvSpPr>
        <p:spPr>
          <a:xfrm>
            <a:off x="1783080" y="3977640"/>
            <a:ext cx="9326880" cy="1051560"/>
          </a:xfrm>
          <a:prstGeom prst="rect">
            <a:avLst/>
          </a:prstGeom>
          <a:noFill/>
          <a:ln/>
        </p:spPr>
        <p:txBody>
          <a:bodyPr wrap="square" lIns="0" tIns="0" rIns="0" bIns="0" rtlCol="0" anchor="ctr"/>
          <a:lstStyle/>
          <a:p>
            <a:pPr indent="0" marL="0">
              <a:lnSpc>
                <a:spcPct val="115000"/>
              </a:lnSpc>
              <a:buNone/>
            </a:pPr>
            <a:r>
              <a:rPr lang="en-US" sz="2200" b="1" dirty="0">
                <a:solidFill>
                  <a:srgbClr val="F5F2FA"/>
                </a:solidFill>
                <a:latin typeface="Arial" pitchFamily="34" charset="0"/>
                <a:ea typeface="Arial" pitchFamily="34" charset="-122"/>
                <a:cs typeface="Arial" pitchFamily="34" charset="-120"/>
              </a:rPr>
              <a:t>Your users write Roman Urdu, your documents are English. What would you test first?</a:t>
            </a:r>
            <a:endParaRPr lang="en-US" sz="2200" dirty="0"/>
          </a:p>
        </p:txBody>
      </p:sp>
      <p:sp>
        <p:nvSpPr>
          <p:cNvPr id="15" name="Text 12"/>
          <p:cNvSpPr/>
          <p:nvPr/>
        </p:nvSpPr>
        <p:spPr>
          <a:xfrm>
            <a:off x="548640" y="5623560"/>
            <a:ext cx="10058400" cy="320040"/>
          </a:xfrm>
          <a:prstGeom prst="rect">
            <a:avLst/>
          </a:prstGeom>
          <a:noFill/>
          <a:ln/>
        </p:spPr>
        <p:txBody>
          <a:bodyPr wrap="square" lIns="0" tIns="0" rIns="0" bIns="0" rtlCol="0" anchor="ctr"/>
          <a:lstStyle/>
          <a:p>
            <a:pPr indent="0" marL="0">
              <a:buNone/>
            </a:pPr>
            <a:r>
              <a:rPr lang="en-US" sz="1500" dirty="0">
                <a:solidFill>
                  <a:srgbClr val="A79DBF"/>
                </a:solidFill>
                <a:latin typeface="Calibri" pitchFamily="34" charset="0"/>
                <a:ea typeface="Calibri" pitchFamily="34" charset="-122"/>
                <a:cs typeface="Calibri" pitchFamily="34" charset="-120"/>
              </a:rPr>
              <a:t>Answer both in the comments — the best one opens the next lesson.</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B1526"/>
        </a:solidFill>
      </p:bgPr>
    </p:bg>
    <p:spTree>
      <p:nvGrpSpPr>
        <p:cNvPr id="1" name=""/>
        <p:cNvGrpSpPr/>
        <p:nvPr/>
      </p:nvGrpSpPr>
      <p:grpSpPr>
        <a:xfrm>
          <a:off x="0" y="0"/>
          <a:ext cx="0" cy="0"/>
          <a:chOff x="0" y="0"/>
          <a:chExt cx="0" cy="0"/>
        </a:xfrm>
      </p:grpSpPr>
      <p:sp>
        <p:nvSpPr>
          <p:cNvPr id="2" name="Shape 0"/>
          <p:cNvSpPr/>
          <p:nvPr/>
        </p:nvSpPr>
        <p:spPr>
          <a:xfrm>
            <a:off x="8869680" y="-1737360"/>
            <a:ext cx="5394960" cy="5394960"/>
          </a:xfrm>
          <a:prstGeom prst="ellipse">
            <a:avLst/>
          </a:prstGeom>
          <a:solidFill>
            <a:srgbClr val="8B7FD7">
              <a:alpha val="8000"/>
            </a:srgbClr>
          </a:solidFill>
          <a:ln w="12700">
            <a:solidFill>
              <a:srgbClr val="1B1526"/>
            </a:solidFill>
            <a:prstDash val="solid"/>
          </a:ln>
        </p:spPr>
      </p:sp>
      <p:sp>
        <p:nvSpPr>
          <p:cNvPr id="3" name="Shape 1"/>
          <p:cNvSpPr/>
          <p:nvPr/>
        </p:nvSpPr>
        <p:spPr>
          <a:xfrm>
            <a:off x="-1371600" y="4206240"/>
            <a:ext cx="3840480" cy="3840480"/>
          </a:xfrm>
          <a:prstGeom prst="ellipse">
            <a:avLst/>
          </a:prstGeom>
          <a:solidFill>
            <a:srgbClr val="EA4B71">
              <a:alpha val="6000"/>
            </a:srgbClr>
          </a:solidFill>
          <a:ln w="12700">
            <a:solidFill>
              <a:srgbClr val="1B1526"/>
            </a:solidFill>
            <a:prstDash val="solid"/>
          </a:ln>
        </p:spPr>
      </p:sp>
      <p:sp>
        <p:nvSpPr>
          <p:cNvPr id="4" name="Text 2"/>
          <p:cNvSpPr/>
          <p:nvPr/>
        </p:nvSpPr>
        <p:spPr>
          <a:xfrm>
            <a:off x="548640" y="1965960"/>
            <a:ext cx="11091672" cy="822960"/>
          </a:xfrm>
          <a:prstGeom prst="rect">
            <a:avLst/>
          </a:prstGeom>
          <a:noFill/>
          <a:ln/>
        </p:spPr>
        <p:txBody>
          <a:bodyPr wrap="square" lIns="0" tIns="0" rIns="0" bIns="0" rtlCol="0" anchor="ctr"/>
          <a:lstStyle/>
          <a:p>
            <a:pPr algn="ctr" indent="0" marL="0">
              <a:buNone/>
            </a:pPr>
            <a:r>
              <a:rPr lang="en-US" sz="4400" b="1" dirty="0">
                <a:solidFill>
                  <a:srgbClr val="F5F2FA"/>
                </a:solidFill>
                <a:latin typeface="Arial" pitchFamily="34" charset="0"/>
                <a:ea typeface="Arial" pitchFamily="34" charset="-122"/>
                <a:cs typeface="Arial" pitchFamily="34" charset="-120"/>
              </a:rPr>
              <a:t>Agentive Solutions</a:t>
            </a:r>
            <a:endParaRPr lang="en-US" sz="4400" dirty="0"/>
          </a:p>
        </p:txBody>
      </p:sp>
      <p:sp>
        <p:nvSpPr>
          <p:cNvPr id="5" name="Shape 3"/>
          <p:cNvSpPr/>
          <p:nvPr/>
        </p:nvSpPr>
        <p:spPr>
          <a:xfrm>
            <a:off x="1103224" y="3611880"/>
            <a:ext cx="658368" cy="658368"/>
          </a:xfrm>
          <a:prstGeom prst="ellipse">
            <a:avLst/>
          </a:prstGeom>
          <a:solidFill>
            <a:srgbClr val="2E2745"/>
          </a:solidFill>
          <a:ln w="12700">
            <a:solidFill>
              <a:srgbClr val="2E2745"/>
            </a:solidFill>
            <a:prstDash val="solid"/>
          </a:ln>
        </p:spPr>
      </p:sp>
      <p:pic>
        <p:nvPicPr>
          <p:cNvPr id="6" name="Image 0" descr="preencoded.png">    </p:cNvPr>
          <p:cNvPicPr>
            <a:picLocks noChangeAspect="1"/>
          </p:cNvPicPr>
          <p:nvPr/>
        </p:nvPicPr>
        <p:blipFill>
          <a:blip r:embed="rId1"/>
          <a:stretch>
            <a:fillRect/>
          </a:stretch>
        </p:blipFill>
        <p:spPr>
          <a:xfrm>
            <a:off x="1287567" y="3796223"/>
            <a:ext cx="289682" cy="289682"/>
          </a:xfrm>
          <a:prstGeom prst="rect">
            <a:avLst/>
          </a:prstGeom>
        </p:spPr>
      </p:pic>
      <p:sp>
        <p:nvSpPr>
          <p:cNvPr id="7" name="Text 4"/>
          <p:cNvSpPr/>
          <p:nvPr/>
        </p:nvSpPr>
        <p:spPr>
          <a:xfrm>
            <a:off x="357988" y="4407408"/>
            <a:ext cx="2148840" cy="274320"/>
          </a:xfrm>
          <a:prstGeom prst="rect">
            <a:avLst/>
          </a:prstGeom>
          <a:noFill/>
          <a:ln/>
        </p:spPr>
        <p:txBody>
          <a:bodyPr wrap="square" lIns="0" tIns="0" rIns="0" bIns="0" rtlCol="0" anchor="ctr"/>
          <a:lstStyle/>
          <a:p>
            <a:pPr algn="ctr" indent="0" marL="0">
              <a:buNone/>
            </a:pPr>
            <a:r>
              <a:rPr lang="en-US" sz="1300" b="1" dirty="0">
                <a:solidFill>
                  <a:srgbClr val="F5F2FA"/>
                </a:solidFill>
                <a:latin typeface="Arial" pitchFamily="34" charset="0"/>
                <a:ea typeface="Arial" pitchFamily="34" charset="-122"/>
                <a:cs typeface="Arial" pitchFamily="34" charset="-120"/>
              </a:rPr>
              <a:t>YouTube</a:t>
            </a:r>
            <a:endParaRPr lang="en-US" sz="1300" dirty="0"/>
          </a:p>
        </p:txBody>
      </p:sp>
      <p:sp>
        <p:nvSpPr>
          <p:cNvPr id="8" name="Text 5"/>
          <p:cNvSpPr/>
          <p:nvPr/>
        </p:nvSpPr>
        <p:spPr>
          <a:xfrm>
            <a:off x="357988" y="4700016"/>
            <a:ext cx="2148840" cy="274320"/>
          </a:xfrm>
          <a:prstGeom prst="rect">
            <a:avLst/>
          </a:prstGeom>
          <a:noFill/>
          <a:ln/>
        </p:spPr>
        <p:txBody>
          <a:bodyPr wrap="square" lIns="0" tIns="0" rIns="0" bIns="0" rtlCol="0" anchor="ctr"/>
          <a:lstStyle/>
          <a:p>
            <a:pPr algn="ctr" indent="0" marL="0">
              <a:buNone/>
            </a:pPr>
            <a:r>
              <a:rPr lang="en-US" sz="1150" dirty="0">
                <a:solidFill>
                  <a:srgbClr val="A79DBF"/>
                </a:solidFill>
                <a:latin typeface="Calibri" pitchFamily="34" charset="0"/>
                <a:ea typeface="Calibri" pitchFamily="34" charset="-122"/>
                <a:cs typeface="Calibri" pitchFamily="34" charset="-120"/>
              </a:rPr>
              <a:t>@SolutionsWithShahzain</a:t>
            </a:r>
            <a:endParaRPr lang="en-US" sz="1150" dirty="0"/>
          </a:p>
        </p:txBody>
      </p:sp>
      <p:sp>
        <p:nvSpPr>
          <p:cNvPr id="9" name="Shape 6"/>
          <p:cNvSpPr/>
          <p:nvPr/>
        </p:nvSpPr>
        <p:spPr>
          <a:xfrm>
            <a:off x="3434944" y="3611880"/>
            <a:ext cx="658368" cy="658368"/>
          </a:xfrm>
          <a:prstGeom prst="ellipse">
            <a:avLst/>
          </a:prstGeom>
          <a:solidFill>
            <a:srgbClr val="2E2745"/>
          </a:solidFill>
          <a:ln w="12700">
            <a:solidFill>
              <a:srgbClr val="2E2745"/>
            </a:solidFill>
            <a:prstDash val="solid"/>
          </a:ln>
        </p:spPr>
      </p:sp>
      <p:pic>
        <p:nvPicPr>
          <p:cNvPr id="10" name="Image 1" descr="preencoded.png">    </p:cNvPr>
          <p:cNvPicPr>
            <a:picLocks noChangeAspect="1"/>
          </p:cNvPicPr>
          <p:nvPr/>
        </p:nvPicPr>
        <p:blipFill>
          <a:blip r:embed="rId2"/>
          <a:stretch>
            <a:fillRect/>
          </a:stretch>
        </p:blipFill>
        <p:spPr>
          <a:xfrm>
            <a:off x="3619287" y="3796223"/>
            <a:ext cx="289682" cy="289682"/>
          </a:xfrm>
          <a:prstGeom prst="rect">
            <a:avLst/>
          </a:prstGeom>
        </p:spPr>
      </p:pic>
      <p:sp>
        <p:nvSpPr>
          <p:cNvPr id="11" name="Text 7"/>
          <p:cNvSpPr/>
          <p:nvPr/>
        </p:nvSpPr>
        <p:spPr>
          <a:xfrm>
            <a:off x="2689708" y="4407408"/>
            <a:ext cx="2148840" cy="274320"/>
          </a:xfrm>
          <a:prstGeom prst="rect">
            <a:avLst/>
          </a:prstGeom>
          <a:noFill/>
          <a:ln/>
        </p:spPr>
        <p:txBody>
          <a:bodyPr wrap="square" lIns="0" tIns="0" rIns="0" bIns="0" rtlCol="0" anchor="ctr"/>
          <a:lstStyle/>
          <a:p>
            <a:pPr algn="ctr" indent="0" marL="0">
              <a:buNone/>
            </a:pPr>
            <a:r>
              <a:rPr lang="en-US" sz="1300" b="1" dirty="0">
                <a:solidFill>
                  <a:srgbClr val="F5F2FA"/>
                </a:solidFill>
                <a:latin typeface="Arial" pitchFamily="34" charset="0"/>
                <a:ea typeface="Arial" pitchFamily="34" charset="-122"/>
                <a:cs typeface="Arial" pitchFamily="34" charset="-120"/>
              </a:rPr>
              <a:t>GitHub</a:t>
            </a:r>
            <a:endParaRPr lang="en-US" sz="1300" dirty="0"/>
          </a:p>
        </p:txBody>
      </p:sp>
      <p:sp>
        <p:nvSpPr>
          <p:cNvPr id="12" name="Text 8"/>
          <p:cNvSpPr/>
          <p:nvPr/>
        </p:nvSpPr>
        <p:spPr>
          <a:xfrm>
            <a:off x="2689708" y="4700016"/>
            <a:ext cx="2148840" cy="274320"/>
          </a:xfrm>
          <a:prstGeom prst="rect">
            <a:avLst/>
          </a:prstGeom>
          <a:noFill/>
          <a:ln/>
        </p:spPr>
        <p:txBody>
          <a:bodyPr wrap="square" lIns="0" tIns="0" rIns="0" bIns="0" rtlCol="0" anchor="ctr"/>
          <a:lstStyle/>
          <a:p>
            <a:pPr algn="ctr" indent="0" marL="0">
              <a:buNone/>
            </a:pPr>
            <a:r>
              <a:rPr lang="en-US" sz="1150" dirty="0">
                <a:solidFill>
                  <a:srgbClr val="A79DBF"/>
                </a:solidFill>
                <a:latin typeface="Calibri" pitchFamily="34" charset="0"/>
                <a:ea typeface="Calibri" pitchFamily="34" charset="-122"/>
                <a:cs typeface="Calibri" pitchFamily="34" charset="-120"/>
              </a:rPr>
              <a:t>Shahzain-Ali</a:t>
            </a:r>
            <a:endParaRPr lang="en-US" sz="1150" dirty="0"/>
          </a:p>
        </p:txBody>
      </p:sp>
      <p:sp>
        <p:nvSpPr>
          <p:cNvPr id="13" name="Shape 9"/>
          <p:cNvSpPr/>
          <p:nvPr/>
        </p:nvSpPr>
        <p:spPr>
          <a:xfrm>
            <a:off x="5766664" y="3611880"/>
            <a:ext cx="658368" cy="658368"/>
          </a:xfrm>
          <a:prstGeom prst="ellipse">
            <a:avLst/>
          </a:prstGeom>
          <a:solidFill>
            <a:srgbClr val="2E2745"/>
          </a:solidFill>
          <a:ln w="12700">
            <a:solidFill>
              <a:srgbClr val="2E2745"/>
            </a:solidFill>
            <a:prstDash val="solid"/>
          </a:ln>
        </p:spPr>
      </p:sp>
      <p:pic>
        <p:nvPicPr>
          <p:cNvPr id="14" name="Image 2" descr="preencoded.png">    </p:cNvPr>
          <p:cNvPicPr>
            <a:picLocks noChangeAspect="1"/>
          </p:cNvPicPr>
          <p:nvPr/>
        </p:nvPicPr>
        <p:blipFill>
          <a:blip r:embed="rId3"/>
          <a:stretch>
            <a:fillRect/>
          </a:stretch>
        </p:blipFill>
        <p:spPr>
          <a:xfrm>
            <a:off x="5951007" y="3796223"/>
            <a:ext cx="289682" cy="289682"/>
          </a:xfrm>
          <a:prstGeom prst="rect">
            <a:avLst/>
          </a:prstGeom>
        </p:spPr>
      </p:pic>
      <p:sp>
        <p:nvSpPr>
          <p:cNvPr id="15" name="Text 10"/>
          <p:cNvSpPr/>
          <p:nvPr/>
        </p:nvSpPr>
        <p:spPr>
          <a:xfrm>
            <a:off x="5021428" y="4407408"/>
            <a:ext cx="2148840" cy="274320"/>
          </a:xfrm>
          <a:prstGeom prst="rect">
            <a:avLst/>
          </a:prstGeom>
          <a:noFill/>
          <a:ln/>
        </p:spPr>
        <p:txBody>
          <a:bodyPr wrap="square" lIns="0" tIns="0" rIns="0" bIns="0" rtlCol="0" anchor="ctr"/>
          <a:lstStyle/>
          <a:p>
            <a:pPr algn="ctr" indent="0" marL="0">
              <a:buNone/>
            </a:pPr>
            <a:r>
              <a:rPr lang="en-US" sz="1300" b="1" dirty="0">
                <a:solidFill>
                  <a:srgbClr val="F5F2FA"/>
                </a:solidFill>
                <a:latin typeface="Arial" pitchFamily="34" charset="0"/>
                <a:ea typeface="Arial" pitchFamily="34" charset="-122"/>
                <a:cs typeface="Arial" pitchFamily="34" charset="-120"/>
              </a:rPr>
              <a:t>LinkedIn</a:t>
            </a:r>
            <a:endParaRPr lang="en-US" sz="1300" dirty="0"/>
          </a:p>
        </p:txBody>
      </p:sp>
      <p:sp>
        <p:nvSpPr>
          <p:cNvPr id="16" name="Text 11"/>
          <p:cNvSpPr/>
          <p:nvPr/>
        </p:nvSpPr>
        <p:spPr>
          <a:xfrm>
            <a:off x="5021428" y="4700016"/>
            <a:ext cx="2148840" cy="274320"/>
          </a:xfrm>
          <a:prstGeom prst="rect">
            <a:avLst/>
          </a:prstGeom>
          <a:noFill/>
          <a:ln/>
        </p:spPr>
        <p:txBody>
          <a:bodyPr wrap="square" lIns="0" tIns="0" rIns="0" bIns="0" rtlCol="0" anchor="ctr"/>
          <a:lstStyle/>
          <a:p>
            <a:pPr algn="ctr" indent="0" marL="0">
              <a:buNone/>
            </a:pPr>
            <a:r>
              <a:rPr lang="en-US" sz="1150" dirty="0">
                <a:solidFill>
                  <a:srgbClr val="A79DBF"/>
                </a:solidFill>
                <a:latin typeface="Calibri" pitchFamily="34" charset="0"/>
                <a:ea typeface="Calibri" pitchFamily="34" charset="-122"/>
                <a:cs typeface="Calibri" pitchFamily="34" charset="-120"/>
              </a:rPr>
              <a:t>shahzain-ali1</a:t>
            </a:r>
            <a:endParaRPr lang="en-US" sz="1150" dirty="0"/>
          </a:p>
        </p:txBody>
      </p:sp>
      <p:sp>
        <p:nvSpPr>
          <p:cNvPr id="17" name="Shape 12"/>
          <p:cNvSpPr/>
          <p:nvPr/>
        </p:nvSpPr>
        <p:spPr>
          <a:xfrm>
            <a:off x="8098384" y="3611880"/>
            <a:ext cx="658368" cy="658368"/>
          </a:xfrm>
          <a:prstGeom prst="ellipse">
            <a:avLst/>
          </a:prstGeom>
          <a:solidFill>
            <a:srgbClr val="2E2745"/>
          </a:solidFill>
          <a:ln w="12700">
            <a:solidFill>
              <a:srgbClr val="2E2745"/>
            </a:solidFill>
            <a:prstDash val="solid"/>
          </a:ln>
        </p:spPr>
      </p:sp>
      <p:pic>
        <p:nvPicPr>
          <p:cNvPr id="18" name="Image 3" descr="preencoded.png">    </p:cNvPr>
          <p:cNvPicPr>
            <a:picLocks noChangeAspect="1"/>
          </p:cNvPicPr>
          <p:nvPr/>
        </p:nvPicPr>
        <p:blipFill>
          <a:blip r:embed="rId4"/>
          <a:stretch>
            <a:fillRect/>
          </a:stretch>
        </p:blipFill>
        <p:spPr>
          <a:xfrm>
            <a:off x="8282727" y="3796223"/>
            <a:ext cx="289682" cy="289682"/>
          </a:xfrm>
          <a:prstGeom prst="rect">
            <a:avLst/>
          </a:prstGeom>
        </p:spPr>
      </p:pic>
      <p:sp>
        <p:nvSpPr>
          <p:cNvPr id="19" name="Text 13"/>
          <p:cNvSpPr/>
          <p:nvPr/>
        </p:nvSpPr>
        <p:spPr>
          <a:xfrm>
            <a:off x="7353148" y="4407408"/>
            <a:ext cx="2148840" cy="274320"/>
          </a:xfrm>
          <a:prstGeom prst="rect">
            <a:avLst/>
          </a:prstGeom>
          <a:noFill/>
          <a:ln/>
        </p:spPr>
        <p:txBody>
          <a:bodyPr wrap="square" lIns="0" tIns="0" rIns="0" bIns="0" rtlCol="0" anchor="ctr"/>
          <a:lstStyle/>
          <a:p>
            <a:pPr algn="ctr" indent="0" marL="0">
              <a:buNone/>
            </a:pPr>
            <a:r>
              <a:rPr lang="en-US" sz="1300" b="1" dirty="0">
                <a:solidFill>
                  <a:srgbClr val="F5F2FA"/>
                </a:solidFill>
                <a:latin typeface="Arial" pitchFamily="34" charset="0"/>
                <a:ea typeface="Arial" pitchFamily="34" charset="-122"/>
                <a:cs typeface="Arial" pitchFamily="34" charset="-120"/>
              </a:rPr>
              <a:t>Instagram</a:t>
            </a:r>
            <a:endParaRPr lang="en-US" sz="1300" dirty="0"/>
          </a:p>
        </p:txBody>
      </p:sp>
      <p:sp>
        <p:nvSpPr>
          <p:cNvPr id="20" name="Text 14"/>
          <p:cNvSpPr/>
          <p:nvPr/>
        </p:nvSpPr>
        <p:spPr>
          <a:xfrm>
            <a:off x="7353148" y="4700016"/>
            <a:ext cx="2148840" cy="274320"/>
          </a:xfrm>
          <a:prstGeom prst="rect">
            <a:avLst/>
          </a:prstGeom>
          <a:noFill/>
          <a:ln/>
        </p:spPr>
        <p:txBody>
          <a:bodyPr wrap="square" lIns="0" tIns="0" rIns="0" bIns="0" rtlCol="0" anchor="ctr"/>
          <a:lstStyle/>
          <a:p>
            <a:pPr algn="ctr" indent="0" marL="0">
              <a:buNone/>
            </a:pPr>
            <a:r>
              <a:rPr lang="en-US" sz="1150" dirty="0">
                <a:solidFill>
                  <a:srgbClr val="A79DBF"/>
                </a:solidFill>
                <a:latin typeface="Calibri" pitchFamily="34" charset="0"/>
                <a:ea typeface="Calibri" pitchFamily="34" charset="-122"/>
                <a:cs typeface="Calibri" pitchFamily="34" charset="-120"/>
              </a:rPr>
              <a:t>shahzainalibangash1</a:t>
            </a:r>
            <a:endParaRPr lang="en-US" sz="1150" dirty="0"/>
          </a:p>
        </p:txBody>
      </p:sp>
      <p:sp>
        <p:nvSpPr>
          <p:cNvPr id="21" name="Shape 15"/>
          <p:cNvSpPr/>
          <p:nvPr/>
        </p:nvSpPr>
        <p:spPr>
          <a:xfrm>
            <a:off x="10430104" y="3611880"/>
            <a:ext cx="658368" cy="658368"/>
          </a:xfrm>
          <a:prstGeom prst="ellipse">
            <a:avLst/>
          </a:prstGeom>
          <a:solidFill>
            <a:srgbClr val="2E2745"/>
          </a:solidFill>
          <a:ln w="12700">
            <a:solidFill>
              <a:srgbClr val="2E2745"/>
            </a:solidFill>
            <a:prstDash val="solid"/>
          </a:ln>
        </p:spPr>
      </p:sp>
      <p:pic>
        <p:nvPicPr>
          <p:cNvPr id="22" name="Image 4" descr="preencoded.png">    </p:cNvPr>
          <p:cNvPicPr>
            <a:picLocks noChangeAspect="1"/>
          </p:cNvPicPr>
          <p:nvPr/>
        </p:nvPicPr>
        <p:blipFill>
          <a:blip r:embed="rId5"/>
          <a:stretch>
            <a:fillRect/>
          </a:stretch>
        </p:blipFill>
        <p:spPr>
          <a:xfrm>
            <a:off x="10614447" y="3796223"/>
            <a:ext cx="289682" cy="289682"/>
          </a:xfrm>
          <a:prstGeom prst="rect">
            <a:avLst/>
          </a:prstGeom>
        </p:spPr>
      </p:pic>
      <p:sp>
        <p:nvSpPr>
          <p:cNvPr id="23" name="Text 16"/>
          <p:cNvSpPr/>
          <p:nvPr/>
        </p:nvSpPr>
        <p:spPr>
          <a:xfrm>
            <a:off x="9684868" y="4407408"/>
            <a:ext cx="2148840" cy="274320"/>
          </a:xfrm>
          <a:prstGeom prst="rect">
            <a:avLst/>
          </a:prstGeom>
          <a:noFill/>
          <a:ln/>
        </p:spPr>
        <p:txBody>
          <a:bodyPr wrap="square" lIns="0" tIns="0" rIns="0" bIns="0" rtlCol="0" anchor="ctr"/>
          <a:lstStyle/>
          <a:p>
            <a:pPr algn="ctr" indent="0" marL="0">
              <a:buNone/>
            </a:pPr>
            <a:r>
              <a:rPr lang="en-US" sz="1300" b="1" dirty="0">
                <a:solidFill>
                  <a:srgbClr val="F5F2FA"/>
                </a:solidFill>
                <a:latin typeface="Arial" pitchFamily="34" charset="0"/>
                <a:ea typeface="Arial" pitchFamily="34" charset="-122"/>
                <a:cs typeface="Arial" pitchFamily="34" charset="-120"/>
              </a:rPr>
              <a:t>Facebook</a:t>
            </a:r>
            <a:endParaRPr lang="en-US" sz="1300" dirty="0"/>
          </a:p>
        </p:txBody>
      </p:sp>
      <p:sp>
        <p:nvSpPr>
          <p:cNvPr id="24" name="Text 17"/>
          <p:cNvSpPr/>
          <p:nvPr/>
        </p:nvSpPr>
        <p:spPr>
          <a:xfrm>
            <a:off x="9684868" y="4700016"/>
            <a:ext cx="2148840" cy="274320"/>
          </a:xfrm>
          <a:prstGeom prst="rect">
            <a:avLst/>
          </a:prstGeom>
          <a:noFill/>
          <a:ln/>
        </p:spPr>
        <p:txBody>
          <a:bodyPr wrap="square" lIns="0" tIns="0" rIns="0" bIns="0" rtlCol="0" anchor="ctr"/>
          <a:lstStyle/>
          <a:p>
            <a:pPr algn="ctr" indent="0" marL="0">
              <a:buNone/>
            </a:pPr>
            <a:r>
              <a:rPr lang="en-US" sz="1150" dirty="0">
                <a:solidFill>
                  <a:srgbClr val="A79DBF"/>
                </a:solidFill>
                <a:latin typeface="Calibri" pitchFamily="34" charset="0"/>
                <a:ea typeface="Calibri" pitchFamily="34" charset="-122"/>
                <a:cs typeface="Calibri" pitchFamily="34" charset="-120"/>
              </a:rPr>
              <a:t>shahzainalibangash1</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2026-08-07T18:59:24Z</dcterms:created>
  <dcterms:modified xsi:type="dcterms:W3CDTF">2026-08-07T18:59:24Z</dcterms:modified>
</cp:coreProperties>
</file>