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Salam! Aaj hum teen lafz clear karenge jo har jagah sunte ho — Automation, AI Workflow, aur AI Agent. Log inhe ek doosre ki jagah use karte hain, aur wohi galti mehngi parti hai. Video ke end tak aap kisi bhi kaam ko dekh kar bata sakoge ke woh kaunsa tier hai. Koi prerequisite nahi — n8n account bhi zaroori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Yeh teen lafz log aese use karte hain jaise ek hi cheez hon. Nahi hain. Confusion ka nateeja do mein se ek hota hai. Ya to over-engineered — agent bana diya wahan jahan simple rule kaafi tha, ab 10 guna cost aur kam reliable. Ya under-powered — rigid script bana di wahan jahan sochne ki zaroorat thi, aur customer ne kuch alag likha to system toot gaya. Dono se bachna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 cheezein aap yahan se le kar jayenge. Ek: teeno ka farq ek line mein. Do: kisi bhi task ko dekh kar sahi tier chunna — iske liye teen sawal ka guide hai. Teen: teeno n8n mein bante hue dekhna, ek hi business per. Aur char: woh mistake jo har beginner karta hai — rule-based kaam ke liye agent banana.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Pehle buniyad rakh lete hain. Automation ka matlab hai: koi manual, repetitive kaam jo aap baar baar khud karte the, ab machine kare — har baar bilkul ek jaisa. Isme AI kahin nahi. Ab jab wohi kaam ho lekin process mein kahin AI shamil ho — parhna, samajhna, faisla karna — to usse AI Automation kehte hain. Aur yeh baat khaas taur pe yaad rakhein: AI Automation koi chauthi cheez nahi hai jiska muqabla ho raha ho. Yeh ek umbrella term hai — poori field ka naam. Jo teen tiers ab aap dekhne wale ho, unme se do isi umbrella term ke neeche aate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Poore video mein ek hi business use karenge — Karachi Kicks, ek online sneaker store. Yahan teen tarah ke messages aate hain: naye orders, shikayatein, aur refund ke sawal. Teeno tiers isi store per dekhenge, aur baad mein teeno solutions n8n mein live banayenge. Ek hi problem, teen hal — farq mehsoos hoga, yaad karna nahi parega.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Yeh poore video ki reedh ki haddi hai — teen seerhiyan. Sab se neeche Automation: bilkul wohi karo jo maine kaha, fixed rules. Beech mein AI Workflow: process maine banaya, lekin jahan zaroorat hai wahan AI use karo. Aur upar AI Agent: yeh goal hai, kaise karna hai tum khud decide karo. Jaise jaise upar jate ho, system ko zyada azadi milti hai aur aapka control kam hota hai. Aur yaad rakhein woh ek sawal jo hamesha kaam karta hai: steps kaun decide kar raha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Agar aaj ke video se sirf ek slide yaad rakhni ho, to yeh hai. Automation kehta hai: bilkul wohi karo jo maine kaha. AI Workflow kehta hai: mera process follow karo, aur jahan zaroorat ho wahan AI use karo. AI Agent kehta hai: yeh goal hai, steps tum khud decide karo. Ghor karein ke badal kya raha hai — aap kitna keh rahe ho, aur kitna system ke haath chhor rahe 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 teeno ko rozmarra ki misalon se joroon. ATM: card daalo, PIN do, cash lo — har baar wohi steps, ATM kabhi sochta nahi. Smart waiter: process to fixed hai — order lo, kitchen bhejo, serve karo — lekin woh aapki Urdu-English mili juli baat samajh leta hai. Aur event planner: aap sirf itna kehte ho ke shaadi achi honi chahiye aur budget paanch lakh hai — venue, khana, decoration, har faisla uska. Sab se zyada log waiter aur planner ke darmiyan wala farq galat samajhte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1 — Automation. Yeh aisa system hai jo pehle se tay-shuda fixed rules follow karta hai. Ek hi input do, har baar wohi output milega. Na samajhna, na faisla — sirf trigger aur uske steps. Iski taakat yeh hai ke poori tarah predictable hai, sasta hai, tez hai. Aur kamzori yeh ke fuzzy cheez bilkul handle nahi kar sakta — format zara badla, system toot gaya. Ek baat yaad rakhein: har automation ki shakal ek hi hoti hai — trigger plus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 dekhte hain Tier 1 n8n mein kaisa dikhta hai. Form Trigger — website ka order form. Phir Google Sheets — order ki row add ho jati hai. Phir WhatsApp — ek fixed template confirmation chala jata hai. Bas, teen node. Koi sochne wali cheez nahi. Aur dhyan rakhein: har order ko bilkul ek jaisa treatment milega — chahe usne message box mein likha ho ke size galat aaya. System ko farq hi nahi parta, kyunki usme samajhne wali cheez hai hi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2 — AI Workflow. Yeh woh process hai jo aap khud design karte ho aur poori tarah control karte ho. Farq sirf itna hai ke ek ya do steps mein LLM woh kaam karta hai jo fixed rule nahi kar sakta — classify karna, summarize karna, extract karna, dobara likhna. Raasta phir bhi aapka tay kiya hua hai; AI sirf ek step ko smart bana raha hai. Taakat: reliable bhi hai aur messy natural language bhi handle kar leta hai. Kamzori: AI plan nahi badal sakta — naya case aaya to naya raasta aapko banana parega.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 Tier 2. WhatsApp Trigger se customer ka message seedha aata hai — messy Urdu-English mila hua bhi. Phir LLM node use parh kar batata hai ke yeh kya hai: inquiry, complaint, ya refund. Phir Switch node usse sahi branch pe bhejta hai, aur teen mein se ek template reply chala jata hai. Yahan sab se ahem baat yeh hai: buckets aapne banaye, replies aapne likhe. AI ne sirf message parha hai — faisla aapke Switch node ne kiya hai. Path abhi bhi fixed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3 — AI Agent. Yahan aap system ko do cheezein dete ho: ek goal aur kuch tools. Ab LLM khud faisla karta hai ke kya karna hai, kaunsa tool call karna hai, aur kis tarteeb mein — aur goal poora hone tak loop karta rehta hai. Raasta pehle se tay nahi hota. Taakat: bohat flexible hai, open-ended kaam aur aise cases bhi handle kar leta hai jo aapne kabhi code hi nahi kiye. Kamzori: kam predictable hai, cost aur latency zyada hai, guardrails chahiye — aur simple kaam ke liye yeh sarasar overkill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Aur ab Tier 3. Yahan koi buckets nahi hain. Chat Trigger se customer ka koi bhi sawal aata hai. AI Agent node ke pass ek model hai, memory hai, aur do tools: ek Google Sheets se order status nikalta hai, doosra refund policy ka document parhta hai. Ab agent khud tay karta hai ke pehle kya karna hai — order dekhna hai, policy parhni hai, ya dono — aur kis tarteeb mein. Phir jawab khud likhta hai. Yahan aapne raasta nahi banaya, sirf goal aur tools diye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 ek zaroori baat. Jo teen-tier ladder humne dekha, woh mental model hai — yani samajhne ka tareeqa. Uska maqsad sirf itna hai ke aapko teeno ka farq clear ho jaye. Lekin asal duniya mein yeh tiers alag alag khaanon mein band nahi rehte. Ek hi workflow ke andar koi agent na ho, ek ho, ya kai ho sakte hain. Aur agent akela bhi chal sakta hai. To model ko architecture mat samajh lena — naqsha aur sarak do alag cheezein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Yeh dekhein. Email trigger se invoice aati hai, attachment extract hota hai, phir AI Agent usse parh kar faisla karta hai, phir CRM update hota hai, aur aakhir mein owner ko WhatsApp chala jata hai. Ab sawal: yeh poora system kya hai? Yeh AI Workflow hai — kyunki raasta developer ne fix kiya hai. Agent uska sirf ek intelligent step hai. Aur haan, agent akela bhi chal sakta hai — jahan customer seedha usi se baat karta hai, aas paas koi workflow hota hi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planner wali misaal yaad hai? Ab usse ek level aage le jate hain. Shaadi hall ka apna fixed process hota hai: booking, menu selection, aur event wale din setup. Yeh steps hall wale ke apne hain. Lekin decoration wale step pe woh ek event planner ko bula lete hain, jo theme, colors aur arrangement khud decide karta hai. Doosri surat yeh hai ke aap hall ko chhor kar seedha planner ko hire kar lein: paanch lakh budget, shaadi achi honi chahiye. Ab har faisla uska. Planner dono baar wohi hai — farq sirf itna hai ke woh ek step chala raha hai ya poora kaam.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 teeno ek sath. Pehli line sab se ahem hai: steps kaun decide karta hai. Automation mein aap, fixed rules ke zariye. AI Workflow mein bhi aap, fixed path ke zariye. Aur AI Agent mein LLM khud. Neeche dekhein: predictability upar se neeche girti hai, aur cost aur latency barhti hai. Jo cheez aap kharid rahe ho woh flexibility hai — aur uski qeemat paise aur bharose ke roop mein aati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Yeh slide is poore video ka nichor hai. Teen sawal, upar se neeche. Pehla: kya kaam hamesha same steps mein hota hai aur kahin koi judgment nahi chahiye? Agar haan — Automation. Doosra: steps to fixed hain, lekin ek hissa aisa hai jahan messy insani zubaan samajhni parti hai? Agar haan — AI Workflow. Teesra: kya steps sach mein har case mein badalte hain, aur system ko khud faisla karna parta hai? Tab — AI Agent. Aur usool yaad rakhein: sab se neeche wala tier chunein jo masla hal kar 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Aur yeh raha golden rule, aur yeh meri apni raye nahi — Anthropic ki apni guidance hai. Well-defined kaamon ke liye workflows predictability aur consistency dete hain; agents tab behtar hain jab sach mein flexibility aur model ka apna faisla chahiye ho, bare paimane pe. Har tier upar jane ka matlab teen cheezein hain: zyada paisa, zyada waqt, aur kam bharosa. Aur sab se mehngi ghalti wohi hai — agent banana us kaam ke liye jo AI workflow sasta aur reliably kar deta.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 asli imtihaan. Ek hi message teeno systems ko bhejte hain — aur dhyan rakhein, isme do sawal ek sath hain: order kahan hai, aur agar late hai to refund milega. Automation ne kya kiya? Fixed template bhej diya — usne sawal parha hi nahi, kyunki usme parhne wali cheez hai hi nahi. AI Workflow ne message samajh liya, lekin usse ek bucket chunna tha — do sawal aaye, ek hi branch chali. Aur AI Agent ne order 123 dekha, late hai ya nahi check kiya, refund policy parhi, aur dono baaton ka jawab ek sath diya. Bas — poora sabaq ek message mein.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sawal jo is waqt aapke zehan mein hain. Pehla: kya ChatGPT ek AI Agent hai? Jab aap sirf usse baat kar rahe ho — nahi. Woh ek LLM hai jo text ka jawab de raha hai; na tool calling ho rahi hai, na decision-making. Lekin jab wohi ChatGPT web search karta hai, code chalata hai, ya aapki files parhta hai — tab woh agent ki tarah kaam kar raha hai. Farq product ka nahi, architecture ka hai. Doosra sawal: agentic AI kya hai? Yeh sirf ek industry label hai, koi nayi technology nahi. Matlab itna ke system mein kahin agent jaisa behaviour mojood hai. Wohi Tier 3, naya sticker.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 asli duniya. Client aata hai aur kehta hai: mujhe AI Agent chahiye jo har order pe customer ko WhatsApp confirmation bheje. Ab aap jaante ho ke yeh Tier 1 automation hai — koi judgment nahi, fixed steps. Agar aap agent banate to das guna cost, slow, aur kam reliable — kyunki LLM kabhi kabhi wahan creative ho jata hai jahan nahi hona chahiye. Aapka jawab: iske liye agent ki zaroorat nahi, simple automation banaunga — sasta bhi aur reliable bhi. Agent hum wahan lagayenge jahan customer ke open-ended sawal aayenge. Yeh ek jumla aapko us AI expert se alag karta hai jo har cheez pe agent bechta hai. Clients yeh honesty yaad rakhte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Yeh woh galtiyan hain jo main baar baar dekhta hoon. Har cheez ko AI agent kehna — teeno alag cheezein hain, alag qeemat ke sath. Rule-based kaam ke liye agent banana — hamesha sab se neeche wala tier chunein jo kaam kar de. Agent ko set-and-forget samajhna — unhe guardrails aur monitoring chahiye. Automation ko purana aur boring samajh kar chhor dena — duniya ka assi feesad paid kaam Tier 1 hai, aur reliable hona hi billable hona hai. Aur aakhri — AI Workflow tier ko bhool jana. Yehi sab se underrated hai: messy input, predictable output ka sweet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Chalein samet lete hain. Ek: yeh teen alag auzaar hain, ek doosre ke synonyms nahi — aur test hamesha ek hi hai, steps kaun decide karta hai. Do: Automation matlab fixed rules, AI Workflow matlab fixed path jisme ek step pe AI hai, aur AI Agent matlab LLM khud raasta chunta hai. Teen: hamesha sab se neeche wale tier se shuru karein jo masla hal kar de. Char: n8n mein teeno ek hi editor mein bante hain — ek skill, teen products jo aap bech sakte ho. Aur paanch: AI Automation poori field ka naam hai, koi chautha tier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Aur ab aapki bari. GitHub notes mein chhe scenarios rakhe hain — har ek ko label karein: Automation, AI Workflow, ya AI Agent. Aur sirf label mat likhein, wajah bhi batayein — wohi ek sawal use karein, steps kaun decide kar raha hai. Apne jawab comments mein post karein, main khud parhunga. Aur agar aap yeh cheez sahi tarteeb se, shuru se seekhna chahte hain to poora structured n8n course bohat jald is channel pe aa raha hai — bayalis lessons, zero se AI automation tak. Channel subscribe kar lein taake pehli video miss na ho. Milte hain agle video mein.
[ RECORDING SE PEHLE: slide pe "[ book folder — fill in before publishing ]" wali line abhi placeholder hai. Book folder ka aakhri naam tay hone ke baad usse asli path se badal dena hai, warna woh bracket screen pe chala jayega.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IDNIGHT">
    <p:bg>
      <p:bgPr>
        <a:solidFill>
          <a:srgbClr val="1B152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2.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686800" y="-1371600"/>
            <a:ext cx="5120640" cy="5120640"/>
          </a:xfrm>
          <a:prstGeom prst="ellipse">
            <a:avLst/>
          </a:prstGeom>
          <a:solidFill>
            <a:srgbClr val="EA4B71">
              <a:alpha val="12000"/>
            </a:srgbClr>
          </a:solidFill>
          <a:ln/>
        </p:spPr>
      </p:sp>
      <p:sp>
        <p:nvSpPr>
          <p:cNvPr id="3" name="Shape 1"/>
          <p:cNvSpPr/>
          <p:nvPr/>
        </p:nvSpPr>
        <p:spPr>
          <a:xfrm>
            <a:off x="9966960" y="3108960"/>
            <a:ext cx="3657600" cy="3657600"/>
          </a:xfrm>
          <a:prstGeom prst="ellipse">
            <a:avLst/>
          </a:prstGeom>
          <a:solidFill>
            <a:srgbClr val="8B7FD7">
              <a:alpha val="10000"/>
            </a:srgbClr>
          </a:solidFill>
          <a:ln/>
        </p:spPr>
      </p:sp>
      <p:sp>
        <p:nvSpPr>
          <p:cNvPr id="4" name="Shape 2"/>
          <p:cNvSpPr/>
          <p:nvPr/>
        </p:nvSpPr>
        <p:spPr>
          <a:xfrm>
            <a:off x="-914400" y="4389120"/>
            <a:ext cx="3291840" cy="3291840"/>
          </a:xfrm>
          <a:prstGeom prst="ellipse">
            <a:avLst/>
          </a:prstGeom>
          <a:solidFill>
            <a:srgbClr val="34D399">
              <a:alpha val="7000"/>
            </a:srgbClr>
          </a:solidFill>
          <a:ln/>
        </p:spPr>
      </p:sp>
      <p:sp>
        <p:nvSpPr>
          <p:cNvPr id="5" name="Text 3"/>
          <p:cNvSpPr/>
          <p:nvPr/>
        </p:nvSpPr>
        <p:spPr>
          <a:xfrm>
            <a:off x="640080" y="1783080"/>
            <a:ext cx="8778240" cy="274320"/>
          </a:xfrm>
          <a:prstGeom prst="rect">
            <a:avLst/>
          </a:prstGeom>
          <a:noFill/>
          <a:ln/>
        </p:spPr>
        <p:txBody>
          <a:bodyPr wrap="square" lIns="0" tIns="0" rIns="0" bIns="0" rtlCol="0" anchor="ctr"/>
          <a:lstStyle/>
          <a:p>
            <a:pPr indent="0" marL="0">
              <a:buNone/>
            </a:pPr>
            <a:r>
              <a:rPr lang="en-US" sz="1300" b="1" spc="240" kern="0" dirty="0">
                <a:solidFill>
                  <a:srgbClr val="EA4B71"/>
                </a:solidFill>
                <a:latin typeface="Arial" pitchFamily="34" charset="0"/>
                <a:ea typeface="Arial" pitchFamily="34" charset="-122"/>
                <a:cs typeface="Arial" pitchFamily="34" charset="-120"/>
              </a:rPr>
              <a:t>N8N MASTERY   ·   STANDALONE GUIDE #00</a:t>
            </a:r>
            <a:endParaRPr lang="en-US" sz="1300" dirty="0"/>
          </a:p>
        </p:txBody>
      </p:sp>
      <p:sp>
        <p:nvSpPr>
          <p:cNvPr id="6" name="Text 4"/>
          <p:cNvSpPr/>
          <p:nvPr/>
        </p:nvSpPr>
        <p:spPr>
          <a:xfrm>
            <a:off x="640080" y="2176272"/>
            <a:ext cx="8961120" cy="1691640"/>
          </a:xfrm>
          <a:prstGeom prst="rect">
            <a:avLst/>
          </a:prstGeom>
          <a:noFill/>
          <a:ln/>
        </p:spPr>
        <p:txBody>
          <a:bodyPr wrap="square" lIns="0" tIns="0" rIns="0" bIns="0" rtlCol="0" anchor="ctr"/>
          <a:lstStyle/>
          <a:p>
            <a:pPr indent="0" marL="0">
              <a:lnSpc>
                <a:spcPts val="5000"/>
              </a:lnSpc>
              <a:buNone/>
            </a:pPr>
            <a:r>
              <a:rPr lang="en-US" sz="4400" b="1" dirty="0">
                <a:solidFill>
                  <a:srgbClr val="F5F2FA"/>
                </a:solidFill>
                <a:latin typeface="Arial" pitchFamily="34" charset="0"/>
                <a:ea typeface="Arial" pitchFamily="34" charset="-122"/>
                <a:cs typeface="Arial" pitchFamily="34" charset="-120"/>
              </a:rPr>
              <a:t>AI Automation vs</a:t>
            </a:r>
            <a:endParaRPr lang="en-US" sz="4400" dirty="0"/>
          </a:p>
          <a:p>
            <a:pPr indent="0" marL="0">
              <a:lnSpc>
                <a:spcPts val="5000"/>
              </a:lnSpc>
              <a:buNone/>
            </a:pPr>
            <a:r>
              <a:rPr lang="en-US" sz="4400" b="1" dirty="0">
                <a:solidFill>
                  <a:srgbClr val="F5F2FA"/>
                </a:solidFill>
                <a:latin typeface="Arial" pitchFamily="34" charset="0"/>
                <a:ea typeface="Arial" pitchFamily="34" charset="-122"/>
                <a:cs typeface="Arial" pitchFamily="34" charset="-120"/>
              </a:rPr>
              <a:t>AI Workflow vs AI Agent</a:t>
            </a:r>
            <a:endParaRPr lang="en-US" sz="4400" dirty="0"/>
          </a:p>
        </p:txBody>
      </p:sp>
      <p:sp>
        <p:nvSpPr>
          <p:cNvPr id="7" name="Text 5"/>
          <p:cNvSpPr/>
          <p:nvPr/>
        </p:nvSpPr>
        <p:spPr>
          <a:xfrm>
            <a:off x="640080" y="3950208"/>
            <a:ext cx="8229600" cy="365760"/>
          </a:xfrm>
          <a:prstGeom prst="rect">
            <a:avLst/>
          </a:prstGeom>
          <a:noFill/>
          <a:ln/>
        </p:spPr>
        <p:txBody>
          <a:bodyPr wrap="square" lIns="0" tIns="0" rIns="0" bIns="0" rtlCol="0" anchor="ctr"/>
          <a:lstStyle/>
          <a:p>
            <a:pPr indent="0" marL="0">
              <a:buNone/>
            </a:pPr>
            <a:r>
              <a:rPr lang="en-US" sz="1900" dirty="0">
                <a:solidFill>
                  <a:srgbClr val="A79DBF"/>
                </a:solidFill>
                <a:latin typeface="Calibri" pitchFamily="34" charset="0"/>
                <a:ea typeface="Calibri" pitchFamily="34" charset="-122"/>
                <a:cs typeface="Calibri" pitchFamily="34" charset="-120"/>
              </a:rPr>
              <a:t>The difference, finally clear.</a:t>
            </a:r>
            <a:endParaRPr lang="en-US" sz="1900" dirty="0"/>
          </a:p>
        </p:txBody>
      </p:sp>
      <p:sp>
        <p:nvSpPr>
          <p:cNvPr id="8" name="Shape 6"/>
          <p:cNvSpPr/>
          <p:nvPr/>
        </p:nvSpPr>
        <p:spPr>
          <a:xfrm>
            <a:off x="640080" y="4800600"/>
            <a:ext cx="2514600" cy="384048"/>
          </a:xfrm>
          <a:prstGeom prst="roundRect">
            <a:avLst>
              <a:gd name="adj" fmla="val 23810"/>
            </a:avLst>
          </a:prstGeom>
          <a:solidFill>
            <a:srgbClr val="2E2745"/>
          </a:solidFill>
          <a:ln/>
        </p:spPr>
      </p:sp>
      <p:sp>
        <p:nvSpPr>
          <p:cNvPr id="9" name="Text 7"/>
          <p:cNvSpPr/>
          <p:nvPr/>
        </p:nvSpPr>
        <p:spPr>
          <a:xfrm>
            <a:off x="640080" y="4800600"/>
            <a:ext cx="2514600" cy="384048"/>
          </a:xfrm>
          <a:prstGeom prst="rect">
            <a:avLst/>
          </a:prstGeom>
          <a:noFill/>
          <a:ln/>
        </p:spPr>
        <p:txBody>
          <a:bodyPr wrap="square" lIns="0" tIns="0" rIns="0" bIns="0" rtlCol="0" anchor="ctr"/>
          <a:lstStyle/>
          <a:p>
            <a:pPr algn="ctr" indent="0" marL="0">
              <a:buNone/>
            </a:pPr>
            <a:r>
              <a:rPr lang="en-US" sz="1100" dirty="0">
                <a:solidFill>
                  <a:srgbClr val="A79DBF"/>
                </a:solidFill>
                <a:latin typeface="Calibri" pitchFamily="34" charset="0"/>
                <a:ea typeface="Calibri" pitchFamily="34" charset="-122"/>
                <a:cs typeface="Calibri" pitchFamily="34" charset="-120"/>
              </a:rPr>
              <a:t>Zero prerequisites</a:t>
            </a:r>
            <a:endParaRPr lang="en-US" sz="1100" dirty="0"/>
          </a:p>
        </p:txBody>
      </p:sp>
      <p:sp>
        <p:nvSpPr>
          <p:cNvPr id="10" name="Shape 8"/>
          <p:cNvSpPr/>
          <p:nvPr/>
        </p:nvSpPr>
        <p:spPr>
          <a:xfrm>
            <a:off x="3364992" y="4800600"/>
            <a:ext cx="2788920" cy="384048"/>
          </a:xfrm>
          <a:prstGeom prst="roundRect">
            <a:avLst>
              <a:gd name="adj" fmla="val 23810"/>
            </a:avLst>
          </a:prstGeom>
          <a:solidFill>
            <a:srgbClr val="2E2745"/>
          </a:solidFill>
          <a:ln/>
        </p:spPr>
      </p:sp>
      <p:sp>
        <p:nvSpPr>
          <p:cNvPr id="11" name="Text 9"/>
          <p:cNvSpPr/>
          <p:nvPr/>
        </p:nvSpPr>
        <p:spPr>
          <a:xfrm>
            <a:off x="3364992" y="4800600"/>
            <a:ext cx="2788920" cy="384048"/>
          </a:xfrm>
          <a:prstGeom prst="rect">
            <a:avLst/>
          </a:prstGeom>
          <a:noFill/>
          <a:ln/>
        </p:spPr>
        <p:txBody>
          <a:bodyPr wrap="square" lIns="0" tIns="0" rIns="0" bIns="0" rtlCol="0" anchor="ctr"/>
          <a:lstStyle/>
          <a:p>
            <a:pPr algn="ctr" indent="0" marL="0">
              <a:buNone/>
            </a:pPr>
            <a:r>
              <a:rPr lang="en-US" sz="1100" dirty="0">
                <a:solidFill>
                  <a:srgbClr val="A79DBF"/>
                </a:solidFill>
                <a:latin typeface="Calibri" pitchFamily="34" charset="0"/>
                <a:ea typeface="Calibri" pitchFamily="34" charset="-122"/>
                <a:cs typeface="Calibri" pitchFamily="34" charset="-120"/>
              </a:rPr>
              <a:t>3-Tier Mental Model</a:t>
            </a:r>
            <a:endParaRPr lang="en-US" sz="1100" dirty="0"/>
          </a:p>
        </p:txBody>
      </p:sp>
      <p:sp>
        <p:nvSpPr>
          <p:cNvPr id="12" name="Shape 10"/>
          <p:cNvSpPr/>
          <p:nvPr/>
        </p:nvSpPr>
        <p:spPr>
          <a:xfrm>
            <a:off x="6455664" y="4800600"/>
            <a:ext cx="2423160" cy="384048"/>
          </a:xfrm>
          <a:prstGeom prst="roundRect">
            <a:avLst>
              <a:gd name="adj" fmla="val 23810"/>
            </a:avLst>
          </a:prstGeom>
          <a:solidFill>
            <a:srgbClr val="2E2745"/>
          </a:solidFill>
          <a:ln/>
        </p:spPr>
      </p:sp>
      <p:sp>
        <p:nvSpPr>
          <p:cNvPr id="13" name="Text 11"/>
          <p:cNvSpPr/>
          <p:nvPr/>
        </p:nvSpPr>
        <p:spPr>
          <a:xfrm>
            <a:off x="6455664" y="4800600"/>
            <a:ext cx="2423160" cy="384048"/>
          </a:xfrm>
          <a:prstGeom prst="rect">
            <a:avLst/>
          </a:prstGeom>
          <a:noFill/>
          <a:ln/>
        </p:spPr>
        <p:txBody>
          <a:bodyPr wrap="square" lIns="0" tIns="0" rIns="0" bIns="0" rtlCol="0" anchor="ctr"/>
          <a:lstStyle/>
          <a:p>
            <a:pPr algn="ctr" indent="0" marL="0">
              <a:buNone/>
            </a:pPr>
            <a:r>
              <a:rPr lang="en-US" sz="1100" dirty="0">
                <a:solidFill>
                  <a:srgbClr val="A79DBF"/>
                </a:solidFill>
                <a:latin typeface="Calibri" pitchFamily="34" charset="0"/>
                <a:ea typeface="Calibri" pitchFamily="34" charset="-122"/>
                <a:cs typeface="Calibri" pitchFamily="34" charset="-120"/>
              </a:rPr>
              <a:t>Live n8n Demos</a:t>
            </a:r>
            <a:endParaRPr lang="en-US" sz="1100" dirty="0"/>
          </a:p>
        </p:txBody>
      </p:sp>
      <p:sp>
        <p:nvSpPr>
          <p:cNvPr id="14" name="Text 12"/>
          <p:cNvSpPr/>
          <p:nvPr/>
        </p:nvSpPr>
        <p:spPr>
          <a:xfrm>
            <a:off x="640080" y="5897880"/>
            <a:ext cx="7315200" cy="274320"/>
          </a:xfrm>
          <a:prstGeom prst="rect">
            <a:avLst/>
          </a:prstGeom>
          <a:noFill/>
          <a:ln/>
        </p:spPr>
        <p:txBody>
          <a:bodyPr wrap="square" lIns="0" tIns="0" rIns="0" bIns="0" rtlCol="0" anchor="ctr"/>
          <a:lstStyle/>
          <a:p>
            <a:pPr indent="0" marL="0">
              <a:buNone/>
            </a:pPr>
            <a:r>
              <a:rPr lang="en-US" sz="1150" dirty="0">
                <a:solidFill>
                  <a:srgbClr val="A79DBF"/>
                </a:solidFill>
                <a:latin typeface="Calibri" pitchFamily="34" charset="0"/>
                <a:ea typeface="Calibri" pitchFamily="34" charset="-122"/>
                <a:cs typeface="Calibri" pitchFamily="34" charset="-120"/>
              </a:rPr>
              <a:t>SolutionsWithShahzain   ·   Agentive Solutions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THE PROBLEM</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Three Words, Used Interchangeably</a:t>
            </a:r>
            <a:endParaRPr lang="en-US" sz="3400" dirty="0"/>
          </a:p>
        </p:txBody>
      </p:sp>
      <p:sp>
        <p:nvSpPr>
          <p:cNvPr id="4" name="Shape 2"/>
          <p:cNvSpPr/>
          <p:nvPr/>
        </p:nvSpPr>
        <p:spPr>
          <a:xfrm>
            <a:off x="640080" y="1627632"/>
            <a:ext cx="3392424" cy="548640"/>
          </a:xfrm>
          <a:prstGeom prst="roundRect">
            <a:avLst>
              <a:gd name="adj" fmla="val 16667"/>
            </a:avLst>
          </a:prstGeom>
          <a:solidFill>
            <a:srgbClr val="2E2745"/>
          </a:solidFill>
          <a:ln/>
        </p:spPr>
      </p:sp>
      <p:sp>
        <p:nvSpPr>
          <p:cNvPr id="5" name="Text 3"/>
          <p:cNvSpPr/>
          <p:nvPr/>
        </p:nvSpPr>
        <p:spPr>
          <a:xfrm>
            <a:off x="640080" y="1627632"/>
            <a:ext cx="3392424" cy="548640"/>
          </a:xfrm>
          <a:prstGeom prst="rect">
            <a:avLst/>
          </a:prstGeom>
          <a:noFill/>
          <a:ln/>
        </p:spPr>
        <p:txBody>
          <a:bodyPr wrap="square" lIns="0" tIns="0" rIns="0" bIns="0" rtlCol="0" anchor="ctr"/>
          <a:lstStyle/>
          <a:p>
            <a:pPr algn="ctr" indent="0" marL="0">
              <a:buNone/>
            </a:pPr>
            <a:r>
              <a:rPr lang="en-US" sz="1400" dirty="0">
                <a:solidFill>
                  <a:srgbClr val="F5F2FA"/>
                </a:solidFill>
                <a:latin typeface="Calibri" pitchFamily="34" charset="0"/>
                <a:ea typeface="Calibri" pitchFamily="34" charset="-122"/>
                <a:cs typeface="Calibri" pitchFamily="34" charset="-120"/>
              </a:rPr>
              <a:t>Automation</a:t>
            </a:r>
            <a:endParaRPr lang="en-US" sz="1400" dirty="0"/>
          </a:p>
        </p:txBody>
      </p:sp>
      <p:sp>
        <p:nvSpPr>
          <p:cNvPr id="6" name="Shape 4"/>
          <p:cNvSpPr/>
          <p:nvPr/>
        </p:nvSpPr>
        <p:spPr>
          <a:xfrm>
            <a:off x="4398264" y="1627632"/>
            <a:ext cx="3392424" cy="548640"/>
          </a:xfrm>
          <a:prstGeom prst="roundRect">
            <a:avLst>
              <a:gd name="adj" fmla="val 16667"/>
            </a:avLst>
          </a:prstGeom>
          <a:solidFill>
            <a:srgbClr val="2E2745"/>
          </a:solidFill>
          <a:ln/>
        </p:spPr>
      </p:sp>
      <p:sp>
        <p:nvSpPr>
          <p:cNvPr id="7" name="Text 5"/>
          <p:cNvSpPr/>
          <p:nvPr/>
        </p:nvSpPr>
        <p:spPr>
          <a:xfrm>
            <a:off x="4398264" y="1627632"/>
            <a:ext cx="3392424" cy="548640"/>
          </a:xfrm>
          <a:prstGeom prst="rect">
            <a:avLst/>
          </a:prstGeom>
          <a:noFill/>
          <a:ln/>
        </p:spPr>
        <p:txBody>
          <a:bodyPr wrap="square" lIns="0" tIns="0" rIns="0" bIns="0" rtlCol="0" anchor="ctr"/>
          <a:lstStyle/>
          <a:p>
            <a:pPr algn="ctr" indent="0" marL="0">
              <a:buNone/>
            </a:pPr>
            <a:r>
              <a:rPr lang="en-US" sz="1400" dirty="0">
                <a:solidFill>
                  <a:srgbClr val="F5F2FA"/>
                </a:solidFill>
                <a:latin typeface="Calibri" pitchFamily="34" charset="0"/>
                <a:ea typeface="Calibri" pitchFamily="34" charset="-122"/>
                <a:cs typeface="Calibri" pitchFamily="34" charset="-120"/>
              </a:rPr>
              <a:t>AI Workflow</a:t>
            </a:r>
            <a:endParaRPr lang="en-US" sz="1400" dirty="0"/>
          </a:p>
        </p:txBody>
      </p:sp>
      <p:sp>
        <p:nvSpPr>
          <p:cNvPr id="8" name="Shape 6"/>
          <p:cNvSpPr/>
          <p:nvPr/>
        </p:nvSpPr>
        <p:spPr>
          <a:xfrm>
            <a:off x="8156448" y="1627632"/>
            <a:ext cx="3392424" cy="548640"/>
          </a:xfrm>
          <a:prstGeom prst="roundRect">
            <a:avLst>
              <a:gd name="adj" fmla="val 16667"/>
            </a:avLst>
          </a:prstGeom>
          <a:solidFill>
            <a:srgbClr val="2E2745"/>
          </a:solidFill>
          <a:ln/>
        </p:spPr>
      </p:sp>
      <p:sp>
        <p:nvSpPr>
          <p:cNvPr id="9" name="Text 7"/>
          <p:cNvSpPr/>
          <p:nvPr/>
        </p:nvSpPr>
        <p:spPr>
          <a:xfrm>
            <a:off x="8156448" y="1627632"/>
            <a:ext cx="3392424" cy="548640"/>
          </a:xfrm>
          <a:prstGeom prst="rect">
            <a:avLst/>
          </a:prstGeom>
          <a:noFill/>
          <a:ln/>
        </p:spPr>
        <p:txBody>
          <a:bodyPr wrap="square" lIns="0" tIns="0" rIns="0" bIns="0" rtlCol="0" anchor="ctr"/>
          <a:lstStyle/>
          <a:p>
            <a:pPr algn="ctr" indent="0" marL="0">
              <a:buNone/>
            </a:pPr>
            <a:r>
              <a:rPr lang="en-US" sz="1400" dirty="0">
                <a:solidFill>
                  <a:srgbClr val="F5F2FA"/>
                </a:solidFill>
                <a:latin typeface="Calibri" pitchFamily="34" charset="0"/>
                <a:ea typeface="Calibri" pitchFamily="34" charset="-122"/>
                <a:cs typeface="Calibri" pitchFamily="34" charset="-120"/>
              </a:rPr>
              <a:t>AI Agent</a:t>
            </a:r>
            <a:endParaRPr lang="en-US" sz="1400" dirty="0"/>
          </a:p>
        </p:txBody>
      </p:sp>
      <p:sp>
        <p:nvSpPr>
          <p:cNvPr id="10" name="Text 8"/>
          <p:cNvSpPr/>
          <p:nvPr/>
        </p:nvSpPr>
        <p:spPr>
          <a:xfrm>
            <a:off x="640080" y="2304288"/>
            <a:ext cx="10908792" cy="292608"/>
          </a:xfrm>
          <a:prstGeom prst="rect">
            <a:avLst/>
          </a:prstGeom>
          <a:noFill/>
          <a:ln/>
        </p:spPr>
        <p:txBody>
          <a:bodyPr wrap="square" lIns="0" tIns="0" rIns="0" bIns="0" rtlCol="0" anchor="ctr"/>
          <a:lstStyle/>
          <a:p>
            <a:pPr indent="0" marL="0">
              <a:buNone/>
            </a:pPr>
            <a:r>
              <a:rPr lang="en-US" sz="1350" dirty="0">
                <a:solidFill>
                  <a:srgbClr val="A79DBF"/>
                </a:solidFill>
                <a:latin typeface="Calibri" pitchFamily="34" charset="0"/>
                <a:ea typeface="Calibri" pitchFamily="34" charset="-122"/>
                <a:cs typeface="Calibri" pitchFamily="34" charset="-120"/>
              </a:rPr>
              <a:t>Treated as synonyms. They are not — and the mix-up costs real money.</a:t>
            </a:r>
            <a:endParaRPr lang="en-US" sz="1350" dirty="0"/>
          </a:p>
        </p:txBody>
      </p:sp>
      <p:sp>
        <p:nvSpPr>
          <p:cNvPr id="11" name="Shape 9"/>
          <p:cNvSpPr/>
          <p:nvPr/>
        </p:nvSpPr>
        <p:spPr>
          <a:xfrm>
            <a:off x="640080" y="2834640"/>
            <a:ext cx="5225796" cy="2331720"/>
          </a:xfrm>
          <a:prstGeom prst="roundRect">
            <a:avLst>
              <a:gd name="adj" fmla="val 4706"/>
            </a:avLst>
          </a:prstGeom>
          <a:solidFill>
            <a:srgbClr val="262038"/>
          </a:solidFill>
          <a:ln/>
        </p:spPr>
      </p:sp>
      <p:sp>
        <p:nvSpPr>
          <p:cNvPr id="12" name="Shape 10"/>
          <p:cNvSpPr/>
          <p:nvPr/>
        </p:nvSpPr>
        <p:spPr>
          <a:xfrm>
            <a:off x="960120" y="3108960"/>
            <a:ext cx="621792" cy="621792"/>
          </a:xfrm>
          <a:prstGeom prst="ellipse">
            <a:avLst/>
          </a:prstGeom>
          <a:solidFill>
            <a:srgbClr val="2E2745"/>
          </a:solidFill>
          <a:ln/>
        </p:spPr>
      </p:sp>
      <p:pic>
        <p:nvPicPr>
          <p:cNvPr id="13" name="Image 0" descr="preencoded.png">    </p:cNvPr>
          <p:cNvPicPr>
            <a:picLocks noChangeAspect="1"/>
          </p:cNvPicPr>
          <p:nvPr/>
        </p:nvPicPr>
        <p:blipFill>
          <a:blip r:embed="rId1"/>
          <a:stretch>
            <a:fillRect/>
          </a:stretch>
        </p:blipFill>
        <p:spPr>
          <a:xfrm>
            <a:off x="1115568" y="3264408"/>
            <a:ext cx="310896" cy="310896"/>
          </a:xfrm>
          <a:prstGeom prst="rect">
            <a:avLst/>
          </a:prstGeom>
        </p:spPr>
      </p:pic>
      <p:sp>
        <p:nvSpPr>
          <p:cNvPr id="14" name="Text 11"/>
          <p:cNvSpPr/>
          <p:nvPr/>
        </p:nvSpPr>
        <p:spPr>
          <a:xfrm>
            <a:off x="1737360" y="3182112"/>
            <a:ext cx="3854196" cy="329184"/>
          </a:xfrm>
          <a:prstGeom prst="rect">
            <a:avLst/>
          </a:prstGeom>
          <a:noFill/>
          <a:ln/>
        </p:spPr>
        <p:txBody>
          <a:bodyPr wrap="square" lIns="0" tIns="0" rIns="0" bIns="0" rtlCol="0" anchor="ctr"/>
          <a:lstStyle/>
          <a:p>
            <a:pPr indent="0" marL="0">
              <a:buNone/>
            </a:pPr>
            <a:r>
              <a:rPr lang="en-US" sz="1700" b="1" dirty="0">
                <a:solidFill>
                  <a:srgbClr val="EA4B71"/>
                </a:solidFill>
                <a:latin typeface="Arial" pitchFamily="34" charset="0"/>
                <a:ea typeface="Arial" pitchFamily="34" charset="-122"/>
                <a:cs typeface="Arial" pitchFamily="34" charset="-120"/>
              </a:rPr>
              <a:t>Over-Engineered</a:t>
            </a:r>
            <a:endParaRPr lang="en-US" sz="1700" dirty="0"/>
          </a:p>
        </p:txBody>
      </p:sp>
      <p:sp>
        <p:nvSpPr>
          <p:cNvPr id="15" name="Text 12"/>
          <p:cNvSpPr/>
          <p:nvPr/>
        </p:nvSpPr>
        <p:spPr>
          <a:xfrm>
            <a:off x="960120" y="3703320"/>
            <a:ext cx="4585716" cy="1188720"/>
          </a:xfrm>
          <a:prstGeom prst="rect">
            <a:avLst/>
          </a:prstGeom>
          <a:noFill/>
          <a:ln/>
        </p:spPr>
        <p:txBody>
          <a:bodyPr wrap="square" lIns="0" tIns="0" rIns="0" bIns="0" rtlCol="0" anchor="ctr"/>
          <a:lstStyle/>
          <a:p>
            <a:pPr indent="0" marL="0">
              <a:lnSpc>
                <a:spcPts val="1900"/>
              </a:lnSpc>
              <a:buNone/>
            </a:pPr>
            <a:r>
              <a:rPr lang="en-US" sz="1350" dirty="0">
                <a:solidFill>
                  <a:srgbClr val="F5F2FA"/>
                </a:solidFill>
                <a:latin typeface="Calibri" pitchFamily="34" charset="0"/>
                <a:ea typeface="Calibri" pitchFamily="34" charset="-122"/>
                <a:cs typeface="Calibri" pitchFamily="34" charset="-120"/>
              </a:rPr>
              <a:t>An AI Agent where a fixed rule was enough.</a:t>
            </a:r>
            <a:endParaRPr lang="en-US" sz="1350" dirty="0"/>
          </a:p>
          <a:p>
            <a:pPr indent="0" marL="0">
              <a:lnSpc>
                <a:spcPts val="1900"/>
              </a:lnSpc>
              <a:buNone/>
            </a:pPr>
            <a:endParaRPr lang="en-US" sz="1350" dirty="0"/>
          </a:p>
          <a:p>
            <a:pPr indent="0" marL="0">
              <a:lnSpc>
                <a:spcPts val="1900"/>
              </a:lnSpc>
              <a:buNone/>
            </a:pPr>
            <a:r>
              <a:rPr lang="en-US" sz="1350" dirty="0">
                <a:solidFill>
                  <a:srgbClr val="F5F2FA"/>
                </a:solidFill>
                <a:latin typeface="Calibri" pitchFamily="34" charset="0"/>
                <a:ea typeface="Calibri" pitchFamily="34" charset="-122"/>
                <a:cs typeface="Calibri" pitchFamily="34" charset="-120"/>
              </a:rPr>
              <a:t>Result: more cost, slower, and less reliable than the simple version.</a:t>
            </a:r>
            <a:endParaRPr lang="en-US" sz="1350" dirty="0"/>
          </a:p>
        </p:txBody>
      </p:sp>
      <p:sp>
        <p:nvSpPr>
          <p:cNvPr id="16" name="Shape 13"/>
          <p:cNvSpPr/>
          <p:nvPr/>
        </p:nvSpPr>
        <p:spPr>
          <a:xfrm>
            <a:off x="6323076" y="2834640"/>
            <a:ext cx="5225796" cy="2331720"/>
          </a:xfrm>
          <a:prstGeom prst="roundRect">
            <a:avLst>
              <a:gd name="adj" fmla="val 4706"/>
            </a:avLst>
          </a:prstGeom>
          <a:solidFill>
            <a:srgbClr val="262038"/>
          </a:solidFill>
          <a:ln/>
        </p:spPr>
      </p:sp>
      <p:sp>
        <p:nvSpPr>
          <p:cNvPr id="17" name="Shape 14"/>
          <p:cNvSpPr/>
          <p:nvPr/>
        </p:nvSpPr>
        <p:spPr>
          <a:xfrm>
            <a:off x="6643116" y="3108960"/>
            <a:ext cx="621792" cy="621792"/>
          </a:xfrm>
          <a:prstGeom prst="ellipse">
            <a:avLst/>
          </a:prstGeom>
          <a:solidFill>
            <a:srgbClr val="2E2745"/>
          </a:solidFill>
          <a:ln/>
        </p:spPr>
      </p:sp>
      <p:pic>
        <p:nvPicPr>
          <p:cNvPr id="18" name="Image 1" descr="preencoded.png">    </p:cNvPr>
          <p:cNvPicPr>
            <a:picLocks noChangeAspect="1"/>
          </p:cNvPicPr>
          <p:nvPr/>
        </p:nvPicPr>
        <p:blipFill>
          <a:blip r:embed="rId2"/>
          <a:stretch>
            <a:fillRect/>
          </a:stretch>
        </p:blipFill>
        <p:spPr>
          <a:xfrm>
            <a:off x="6798564" y="3264408"/>
            <a:ext cx="310896" cy="310896"/>
          </a:xfrm>
          <a:prstGeom prst="rect">
            <a:avLst/>
          </a:prstGeom>
        </p:spPr>
      </p:pic>
      <p:sp>
        <p:nvSpPr>
          <p:cNvPr id="19" name="Text 15"/>
          <p:cNvSpPr/>
          <p:nvPr/>
        </p:nvSpPr>
        <p:spPr>
          <a:xfrm>
            <a:off x="7420356" y="3182112"/>
            <a:ext cx="3854196" cy="329184"/>
          </a:xfrm>
          <a:prstGeom prst="rect">
            <a:avLst/>
          </a:prstGeom>
          <a:noFill/>
          <a:ln/>
        </p:spPr>
        <p:txBody>
          <a:bodyPr wrap="square" lIns="0" tIns="0" rIns="0" bIns="0" rtlCol="0" anchor="ctr"/>
          <a:lstStyle/>
          <a:p>
            <a:pPr indent="0" marL="0">
              <a:buNone/>
            </a:pPr>
            <a:r>
              <a:rPr lang="en-US" sz="1700" b="1" dirty="0">
                <a:solidFill>
                  <a:srgbClr val="8B7FD7"/>
                </a:solidFill>
                <a:latin typeface="Arial" pitchFamily="34" charset="0"/>
                <a:ea typeface="Arial" pitchFamily="34" charset="-122"/>
                <a:cs typeface="Arial" pitchFamily="34" charset="-120"/>
              </a:rPr>
              <a:t>Under-Powered</a:t>
            </a:r>
            <a:endParaRPr lang="en-US" sz="1700" dirty="0"/>
          </a:p>
        </p:txBody>
      </p:sp>
      <p:sp>
        <p:nvSpPr>
          <p:cNvPr id="20" name="Text 16"/>
          <p:cNvSpPr/>
          <p:nvPr/>
        </p:nvSpPr>
        <p:spPr>
          <a:xfrm>
            <a:off x="6643116" y="3703320"/>
            <a:ext cx="4585716" cy="1188720"/>
          </a:xfrm>
          <a:prstGeom prst="rect">
            <a:avLst/>
          </a:prstGeom>
          <a:noFill/>
          <a:ln/>
        </p:spPr>
        <p:txBody>
          <a:bodyPr wrap="square" lIns="0" tIns="0" rIns="0" bIns="0" rtlCol="0" anchor="ctr"/>
          <a:lstStyle/>
          <a:p>
            <a:pPr indent="0" marL="0">
              <a:lnSpc>
                <a:spcPts val="1900"/>
              </a:lnSpc>
              <a:buNone/>
            </a:pPr>
            <a:r>
              <a:rPr lang="en-US" sz="1350" dirty="0">
                <a:solidFill>
                  <a:srgbClr val="F5F2FA"/>
                </a:solidFill>
                <a:latin typeface="Calibri" pitchFamily="34" charset="0"/>
                <a:ea typeface="Calibri" pitchFamily="34" charset="-122"/>
                <a:cs typeface="Calibri" pitchFamily="34" charset="-120"/>
              </a:rPr>
              <a:t>A rigid script where real judgment was needed.</a:t>
            </a:r>
            <a:endParaRPr lang="en-US" sz="1350" dirty="0"/>
          </a:p>
          <a:p>
            <a:pPr indent="0" marL="0">
              <a:lnSpc>
                <a:spcPts val="1900"/>
              </a:lnSpc>
              <a:buNone/>
            </a:pPr>
            <a:endParaRPr lang="en-US" sz="1350" dirty="0"/>
          </a:p>
          <a:p>
            <a:pPr indent="0" marL="0">
              <a:lnSpc>
                <a:spcPts val="1900"/>
              </a:lnSpc>
              <a:buNone/>
            </a:pPr>
            <a:r>
              <a:rPr lang="en-US" sz="1350" dirty="0">
                <a:solidFill>
                  <a:srgbClr val="F5F2FA"/>
                </a:solidFill>
                <a:latin typeface="Calibri" pitchFamily="34" charset="0"/>
                <a:ea typeface="Calibri" pitchFamily="34" charset="-122"/>
                <a:cs typeface="Calibri" pitchFamily="34" charset="-120"/>
              </a:rPr>
              <a:t>Result: it breaks the moment a customer types something unexpected.</a:t>
            </a:r>
            <a:endParaRPr lang="en-US" sz="1350" dirty="0"/>
          </a:p>
        </p:txBody>
      </p:sp>
      <p:sp>
        <p:nvSpPr>
          <p:cNvPr id="21" name="Text 17"/>
          <p:cNvSpPr/>
          <p:nvPr/>
        </p:nvSpPr>
        <p:spPr>
          <a:xfrm>
            <a:off x="640080" y="5440680"/>
            <a:ext cx="10908792" cy="329184"/>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By the end of this guide, you will always know exactly what you are building.</a:t>
            </a:r>
            <a:endParaRPr lang="en-US" sz="1400" dirty="0"/>
          </a:p>
        </p:txBody>
      </p:sp>
      <p:sp>
        <p:nvSpPr>
          <p:cNvPr id="22" name="Text 18"/>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23" name="Text 19"/>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IN THIS GUIDE</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What You’ll Learn</a:t>
            </a:r>
            <a:endParaRPr lang="en-US" sz="3400" dirty="0"/>
          </a:p>
        </p:txBody>
      </p:sp>
      <p:sp>
        <p:nvSpPr>
          <p:cNvPr id="4" name="Shape 2"/>
          <p:cNvSpPr/>
          <p:nvPr/>
        </p:nvSpPr>
        <p:spPr>
          <a:xfrm>
            <a:off x="640080" y="1691640"/>
            <a:ext cx="5225796" cy="1783080"/>
          </a:xfrm>
          <a:prstGeom prst="roundRect">
            <a:avLst>
              <a:gd name="adj" fmla="val 6154"/>
            </a:avLst>
          </a:prstGeom>
          <a:solidFill>
            <a:srgbClr val="262038"/>
          </a:solidFill>
          <a:ln/>
        </p:spPr>
      </p:sp>
      <p:sp>
        <p:nvSpPr>
          <p:cNvPr id="5" name="Shape 3"/>
          <p:cNvSpPr/>
          <p:nvPr/>
        </p:nvSpPr>
        <p:spPr>
          <a:xfrm>
            <a:off x="960120" y="1984248"/>
            <a:ext cx="621792" cy="621792"/>
          </a:xfrm>
          <a:prstGeom prst="ellipse">
            <a:avLst/>
          </a:prstGeom>
          <a:solidFill>
            <a:srgbClr val="2E2745"/>
          </a:solidFill>
          <a:ln/>
        </p:spPr>
      </p:sp>
      <p:pic>
        <p:nvPicPr>
          <p:cNvPr id="6" name="Image 0" descr="preencoded.png">    </p:cNvPr>
          <p:cNvPicPr>
            <a:picLocks noChangeAspect="1"/>
          </p:cNvPicPr>
          <p:nvPr/>
        </p:nvPicPr>
        <p:blipFill>
          <a:blip r:embed="rId1"/>
          <a:stretch>
            <a:fillRect/>
          </a:stretch>
        </p:blipFill>
        <p:spPr>
          <a:xfrm>
            <a:off x="1115568" y="2139696"/>
            <a:ext cx="310896" cy="310896"/>
          </a:xfrm>
          <a:prstGeom prst="rect">
            <a:avLst/>
          </a:prstGeom>
        </p:spPr>
      </p:pic>
      <p:sp>
        <p:nvSpPr>
          <p:cNvPr id="7" name="Text 4"/>
          <p:cNvSpPr/>
          <p:nvPr/>
        </p:nvSpPr>
        <p:spPr>
          <a:xfrm>
            <a:off x="1737360" y="2057400"/>
            <a:ext cx="3854196" cy="310896"/>
          </a:xfrm>
          <a:prstGeom prst="rect">
            <a:avLst/>
          </a:prstGeom>
          <a:noFill/>
          <a:ln/>
        </p:spPr>
        <p:txBody>
          <a:bodyPr wrap="square" lIns="0" tIns="0" rIns="0" bIns="0" rtlCol="0" anchor="ctr"/>
          <a:lstStyle/>
          <a:p>
            <a:pPr indent="0" marL="0">
              <a:buNone/>
            </a:pPr>
            <a:r>
              <a:rPr lang="en-US" sz="1650" b="1" dirty="0">
                <a:solidFill>
                  <a:srgbClr val="F5F2FA"/>
                </a:solidFill>
                <a:latin typeface="Arial" pitchFamily="34" charset="0"/>
                <a:ea typeface="Arial" pitchFamily="34" charset="-122"/>
                <a:cs typeface="Arial" pitchFamily="34" charset="-120"/>
              </a:rPr>
              <a:t>Spot the difference</a:t>
            </a:r>
            <a:endParaRPr lang="en-US" sz="1650" dirty="0"/>
          </a:p>
        </p:txBody>
      </p:sp>
      <p:sp>
        <p:nvSpPr>
          <p:cNvPr id="8" name="Text 5"/>
          <p:cNvSpPr/>
          <p:nvPr/>
        </p:nvSpPr>
        <p:spPr>
          <a:xfrm>
            <a:off x="960120" y="2560320"/>
            <a:ext cx="4585716" cy="731520"/>
          </a:xfrm>
          <a:prstGeom prst="rect">
            <a:avLst/>
          </a:prstGeom>
          <a:noFill/>
          <a:ln/>
        </p:spPr>
        <p:txBody>
          <a:bodyPr wrap="square" lIns="0" tIns="0" rIns="0" bIns="0" rtlCol="0" anchor="ctr"/>
          <a:lstStyle/>
          <a:p>
            <a:pPr indent="0" marL="0">
              <a:lnSpc>
                <a:spcPts val="1800"/>
              </a:lnSpc>
              <a:buNone/>
            </a:pPr>
            <a:r>
              <a:rPr lang="en-US" sz="1300" dirty="0">
                <a:solidFill>
                  <a:srgbClr val="A79DBF"/>
                </a:solidFill>
                <a:latin typeface="Calibri" pitchFamily="34" charset="0"/>
                <a:ea typeface="Calibri" pitchFamily="34" charset="-122"/>
                <a:cs typeface="Calibri" pitchFamily="34" charset="-120"/>
              </a:rPr>
              <a:t>One line each — using a single test question that always works.</a:t>
            </a:r>
            <a:endParaRPr lang="en-US" sz="1300" dirty="0"/>
          </a:p>
        </p:txBody>
      </p:sp>
      <p:sp>
        <p:nvSpPr>
          <p:cNvPr id="9" name="Shape 6"/>
          <p:cNvSpPr/>
          <p:nvPr/>
        </p:nvSpPr>
        <p:spPr>
          <a:xfrm>
            <a:off x="6323076" y="1691640"/>
            <a:ext cx="5225796" cy="1783080"/>
          </a:xfrm>
          <a:prstGeom prst="roundRect">
            <a:avLst>
              <a:gd name="adj" fmla="val 6154"/>
            </a:avLst>
          </a:prstGeom>
          <a:solidFill>
            <a:srgbClr val="262038"/>
          </a:solidFill>
          <a:ln/>
        </p:spPr>
      </p:sp>
      <p:sp>
        <p:nvSpPr>
          <p:cNvPr id="10" name="Shape 7"/>
          <p:cNvSpPr/>
          <p:nvPr/>
        </p:nvSpPr>
        <p:spPr>
          <a:xfrm>
            <a:off x="6643116" y="1984248"/>
            <a:ext cx="621792" cy="621792"/>
          </a:xfrm>
          <a:prstGeom prst="ellipse">
            <a:avLst/>
          </a:prstGeom>
          <a:solidFill>
            <a:srgbClr val="2E2745"/>
          </a:solidFill>
          <a:ln/>
        </p:spPr>
      </p:sp>
      <p:pic>
        <p:nvPicPr>
          <p:cNvPr id="11" name="Image 1" descr="preencoded.png">    </p:cNvPr>
          <p:cNvPicPr>
            <a:picLocks noChangeAspect="1"/>
          </p:cNvPicPr>
          <p:nvPr/>
        </p:nvPicPr>
        <p:blipFill>
          <a:blip r:embed="rId2"/>
          <a:stretch>
            <a:fillRect/>
          </a:stretch>
        </p:blipFill>
        <p:spPr>
          <a:xfrm>
            <a:off x="6798564" y="2139696"/>
            <a:ext cx="310896" cy="310896"/>
          </a:xfrm>
          <a:prstGeom prst="rect">
            <a:avLst/>
          </a:prstGeom>
        </p:spPr>
      </p:pic>
      <p:sp>
        <p:nvSpPr>
          <p:cNvPr id="12" name="Text 8"/>
          <p:cNvSpPr/>
          <p:nvPr/>
        </p:nvSpPr>
        <p:spPr>
          <a:xfrm>
            <a:off x="7420356" y="2057400"/>
            <a:ext cx="3854196" cy="310896"/>
          </a:xfrm>
          <a:prstGeom prst="rect">
            <a:avLst/>
          </a:prstGeom>
          <a:noFill/>
          <a:ln/>
        </p:spPr>
        <p:txBody>
          <a:bodyPr wrap="square" lIns="0" tIns="0" rIns="0" bIns="0" rtlCol="0" anchor="ctr"/>
          <a:lstStyle/>
          <a:p>
            <a:pPr indent="0" marL="0">
              <a:buNone/>
            </a:pPr>
            <a:r>
              <a:rPr lang="en-US" sz="1650" b="1" dirty="0">
                <a:solidFill>
                  <a:srgbClr val="F5F2FA"/>
                </a:solidFill>
                <a:latin typeface="Arial" pitchFamily="34" charset="0"/>
                <a:ea typeface="Arial" pitchFamily="34" charset="-122"/>
                <a:cs typeface="Arial" pitchFamily="34" charset="-120"/>
              </a:rPr>
              <a:t>Pick the right tier</a:t>
            </a:r>
            <a:endParaRPr lang="en-US" sz="1650" dirty="0"/>
          </a:p>
        </p:txBody>
      </p:sp>
      <p:sp>
        <p:nvSpPr>
          <p:cNvPr id="13" name="Text 9"/>
          <p:cNvSpPr/>
          <p:nvPr/>
        </p:nvSpPr>
        <p:spPr>
          <a:xfrm>
            <a:off x="6643116" y="2560320"/>
            <a:ext cx="4585716" cy="731520"/>
          </a:xfrm>
          <a:prstGeom prst="rect">
            <a:avLst/>
          </a:prstGeom>
          <a:noFill/>
          <a:ln/>
        </p:spPr>
        <p:txBody>
          <a:bodyPr wrap="square" lIns="0" tIns="0" rIns="0" bIns="0" rtlCol="0" anchor="ctr"/>
          <a:lstStyle/>
          <a:p>
            <a:pPr indent="0" marL="0">
              <a:lnSpc>
                <a:spcPts val="1800"/>
              </a:lnSpc>
              <a:buNone/>
            </a:pPr>
            <a:r>
              <a:rPr lang="en-US" sz="1300" dirty="0">
                <a:solidFill>
                  <a:srgbClr val="A79DBF"/>
                </a:solidFill>
                <a:latin typeface="Calibri" pitchFamily="34" charset="0"/>
                <a:ea typeface="Calibri" pitchFamily="34" charset="-122"/>
                <a:cs typeface="Calibri" pitchFamily="34" charset="-120"/>
              </a:rPr>
              <a:t>Look at any task and choose correctly, with a 3-question decision guide.</a:t>
            </a:r>
            <a:endParaRPr lang="en-US" sz="1300" dirty="0"/>
          </a:p>
        </p:txBody>
      </p:sp>
      <p:sp>
        <p:nvSpPr>
          <p:cNvPr id="14" name="Shape 10"/>
          <p:cNvSpPr/>
          <p:nvPr/>
        </p:nvSpPr>
        <p:spPr>
          <a:xfrm>
            <a:off x="640080" y="3840480"/>
            <a:ext cx="5225796" cy="1783080"/>
          </a:xfrm>
          <a:prstGeom prst="roundRect">
            <a:avLst>
              <a:gd name="adj" fmla="val 6154"/>
            </a:avLst>
          </a:prstGeom>
          <a:solidFill>
            <a:srgbClr val="262038"/>
          </a:solidFill>
          <a:ln/>
        </p:spPr>
      </p:sp>
      <p:sp>
        <p:nvSpPr>
          <p:cNvPr id="15" name="Shape 11"/>
          <p:cNvSpPr/>
          <p:nvPr/>
        </p:nvSpPr>
        <p:spPr>
          <a:xfrm>
            <a:off x="960120" y="4133088"/>
            <a:ext cx="621792" cy="621792"/>
          </a:xfrm>
          <a:prstGeom prst="ellipse">
            <a:avLst/>
          </a:prstGeom>
          <a:solidFill>
            <a:srgbClr val="2E2745"/>
          </a:solidFill>
          <a:ln/>
        </p:spPr>
      </p:sp>
      <p:pic>
        <p:nvPicPr>
          <p:cNvPr id="16" name="Image 2" descr="preencoded.png">    </p:cNvPr>
          <p:cNvPicPr>
            <a:picLocks noChangeAspect="1"/>
          </p:cNvPicPr>
          <p:nvPr/>
        </p:nvPicPr>
        <p:blipFill>
          <a:blip r:embed="rId3"/>
          <a:stretch>
            <a:fillRect/>
          </a:stretch>
        </p:blipFill>
        <p:spPr>
          <a:xfrm>
            <a:off x="1115568" y="4288536"/>
            <a:ext cx="310896" cy="310896"/>
          </a:xfrm>
          <a:prstGeom prst="rect">
            <a:avLst/>
          </a:prstGeom>
        </p:spPr>
      </p:pic>
      <p:sp>
        <p:nvSpPr>
          <p:cNvPr id="17" name="Text 12"/>
          <p:cNvSpPr/>
          <p:nvPr/>
        </p:nvSpPr>
        <p:spPr>
          <a:xfrm>
            <a:off x="1737360" y="4206240"/>
            <a:ext cx="3854196" cy="310896"/>
          </a:xfrm>
          <a:prstGeom prst="rect">
            <a:avLst/>
          </a:prstGeom>
          <a:noFill/>
          <a:ln/>
        </p:spPr>
        <p:txBody>
          <a:bodyPr wrap="square" lIns="0" tIns="0" rIns="0" bIns="0" rtlCol="0" anchor="ctr"/>
          <a:lstStyle/>
          <a:p>
            <a:pPr indent="0" marL="0">
              <a:buNone/>
            </a:pPr>
            <a:r>
              <a:rPr lang="en-US" sz="1650" b="1" dirty="0">
                <a:solidFill>
                  <a:srgbClr val="F5F2FA"/>
                </a:solidFill>
                <a:latin typeface="Arial" pitchFamily="34" charset="0"/>
                <a:ea typeface="Arial" pitchFamily="34" charset="-122"/>
                <a:cs typeface="Arial" pitchFamily="34" charset="-120"/>
              </a:rPr>
              <a:t>See all three built</a:t>
            </a:r>
            <a:endParaRPr lang="en-US" sz="1650" dirty="0"/>
          </a:p>
        </p:txBody>
      </p:sp>
      <p:sp>
        <p:nvSpPr>
          <p:cNvPr id="18" name="Text 13"/>
          <p:cNvSpPr/>
          <p:nvPr/>
        </p:nvSpPr>
        <p:spPr>
          <a:xfrm>
            <a:off x="960120" y="4709160"/>
            <a:ext cx="4585716" cy="731520"/>
          </a:xfrm>
          <a:prstGeom prst="rect">
            <a:avLst/>
          </a:prstGeom>
          <a:noFill/>
          <a:ln/>
        </p:spPr>
        <p:txBody>
          <a:bodyPr wrap="square" lIns="0" tIns="0" rIns="0" bIns="0" rtlCol="0" anchor="ctr"/>
          <a:lstStyle/>
          <a:p>
            <a:pPr indent="0" marL="0">
              <a:lnSpc>
                <a:spcPts val="1800"/>
              </a:lnSpc>
              <a:buNone/>
            </a:pPr>
            <a:r>
              <a:rPr lang="en-US" sz="1300" dirty="0">
                <a:solidFill>
                  <a:srgbClr val="A79DBF"/>
                </a:solidFill>
                <a:latin typeface="Calibri" pitchFamily="34" charset="0"/>
                <a:ea typeface="Calibri" pitchFamily="34" charset="-122"/>
                <a:cs typeface="Calibri" pitchFamily="34" charset="-120"/>
              </a:rPr>
              <a:t>One real business, three n8n solutions — side by side.</a:t>
            </a:r>
            <a:endParaRPr lang="en-US" sz="1300" dirty="0"/>
          </a:p>
        </p:txBody>
      </p:sp>
      <p:sp>
        <p:nvSpPr>
          <p:cNvPr id="19" name="Shape 14"/>
          <p:cNvSpPr/>
          <p:nvPr/>
        </p:nvSpPr>
        <p:spPr>
          <a:xfrm>
            <a:off x="6323076" y="3840480"/>
            <a:ext cx="5225796" cy="1783080"/>
          </a:xfrm>
          <a:prstGeom prst="roundRect">
            <a:avLst>
              <a:gd name="adj" fmla="val 6154"/>
            </a:avLst>
          </a:prstGeom>
          <a:solidFill>
            <a:srgbClr val="262038"/>
          </a:solidFill>
          <a:ln/>
        </p:spPr>
      </p:sp>
      <p:sp>
        <p:nvSpPr>
          <p:cNvPr id="20" name="Shape 15"/>
          <p:cNvSpPr/>
          <p:nvPr/>
        </p:nvSpPr>
        <p:spPr>
          <a:xfrm>
            <a:off x="6643116" y="4133088"/>
            <a:ext cx="621792" cy="621792"/>
          </a:xfrm>
          <a:prstGeom prst="ellipse">
            <a:avLst/>
          </a:prstGeom>
          <a:solidFill>
            <a:srgbClr val="2E2745"/>
          </a:solidFill>
          <a:ln/>
        </p:spPr>
      </p:sp>
      <p:pic>
        <p:nvPicPr>
          <p:cNvPr id="21" name="Image 3" descr="preencoded.png">    </p:cNvPr>
          <p:cNvPicPr>
            <a:picLocks noChangeAspect="1"/>
          </p:cNvPicPr>
          <p:nvPr/>
        </p:nvPicPr>
        <p:blipFill>
          <a:blip r:embed="rId4"/>
          <a:stretch>
            <a:fillRect/>
          </a:stretch>
        </p:blipFill>
        <p:spPr>
          <a:xfrm>
            <a:off x="6798564" y="4288536"/>
            <a:ext cx="310896" cy="310896"/>
          </a:xfrm>
          <a:prstGeom prst="rect">
            <a:avLst/>
          </a:prstGeom>
        </p:spPr>
      </p:pic>
      <p:sp>
        <p:nvSpPr>
          <p:cNvPr id="22" name="Text 16"/>
          <p:cNvSpPr/>
          <p:nvPr/>
        </p:nvSpPr>
        <p:spPr>
          <a:xfrm>
            <a:off x="7420356" y="4206240"/>
            <a:ext cx="3854196" cy="310896"/>
          </a:xfrm>
          <a:prstGeom prst="rect">
            <a:avLst/>
          </a:prstGeom>
          <a:noFill/>
          <a:ln/>
        </p:spPr>
        <p:txBody>
          <a:bodyPr wrap="square" lIns="0" tIns="0" rIns="0" bIns="0" rtlCol="0" anchor="ctr"/>
          <a:lstStyle/>
          <a:p>
            <a:pPr indent="0" marL="0">
              <a:buNone/>
            </a:pPr>
            <a:r>
              <a:rPr lang="en-US" sz="1650" b="1" dirty="0">
                <a:solidFill>
                  <a:srgbClr val="F5F2FA"/>
                </a:solidFill>
                <a:latin typeface="Arial" pitchFamily="34" charset="0"/>
                <a:ea typeface="Arial" pitchFamily="34" charset="-122"/>
                <a:cs typeface="Arial" pitchFamily="34" charset="-120"/>
              </a:rPr>
              <a:t>Avoid the costly mistake</a:t>
            </a:r>
            <a:endParaRPr lang="en-US" sz="1650" dirty="0"/>
          </a:p>
        </p:txBody>
      </p:sp>
      <p:sp>
        <p:nvSpPr>
          <p:cNvPr id="23" name="Text 17"/>
          <p:cNvSpPr/>
          <p:nvPr/>
        </p:nvSpPr>
        <p:spPr>
          <a:xfrm>
            <a:off x="6643116" y="4709160"/>
            <a:ext cx="4585716" cy="731520"/>
          </a:xfrm>
          <a:prstGeom prst="rect">
            <a:avLst/>
          </a:prstGeom>
          <a:noFill/>
          <a:ln/>
        </p:spPr>
        <p:txBody>
          <a:bodyPr wrap="square" lIns="0" tIns="0" rIns="0" bIns="0" rtlCol="0" anchor="ctr"/>
          <a:lstStyle/>
          <a:p>
            <a:pPr indent="0" marL="0">
              <a:lnSpc>
                <a:spcPts val="1800"/>
              </a:lnSpc>
              <a:buNone/>
            </a:pPr>
            <a:r>
              <a:rPr lang="en-US" sz="1300" dirty="0">
                <a:solidFill>
                  <a:srgbClr val="A79DBF"/>
                </a:solidFill>
                <a:latin typeface="Calibri" pitchFamily="34" charset="0"/>
                <a:ea typeface="Calibri" pitchFamily="34" charset="-122"/>
                <a:cs typeface="Calibri" pitchFamily="34" charset="-120"/>
              </a:rPr>
              <a:t>The one beginners make constantly: building an agent for rule-based work.</a:t>
            </a:r>
            <a:endParaRPr lang="en-US" sz="1300" dirty="0"/>
          </a:p>
        </p:txBody>
      </p:sp>
      <p:sp>
        <p:nvSpPr>
          <p:cNvPr id="24" name="Text 18"/>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25" name="Text 19"/>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STARTING POINT</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First — What Is Automation?</a:t>
            </a:r>
            <a:endParaRPr lang="en-US" sz="3400" dirty="0"/>
          </a:p>
        </p:txBody>
      </p:sp>
      <p:sp>
        <p:nvSpPr>
          <p:cNvPr id="4" name="Shape 2"/>
          <p:cNvSpPr/>
          <p:nvPr/>
        </p:nvSpPr>
        <p:spPr>
          <a:xfrm>
            <a:off x="640080" y="1691640"/>
            <a:ext cx="5225796" cy="2148840"/>
          </a:xfrm>
          <a:prstGeom prst="roundRect">
            <a:avLst>
              <a:gd name="adj" fmla="val 5106"/>
            </a:avLst>
          </a:prstGeom>
          <a:solidFill>
            <a:srgbClr val="262038"/>
          </a:solidFill>
          <a:ln/>
        </p:spPr>
      </p:sp>
      <p:sp>
        <p:nvSpPr>
          <p:cNvPr id="5" name="Shape 3"/>
          <p:cNvSpPr/>
          <p:nvPr/>
        </p:nvSpPr>
        <p:spPr>
          <a:xfrm>
            <a:off x="960120" y="1938528"/>
            <a:ext cx="621792" cy="621792"/>
          </a:xfrm>
          <a:prstGeom prst="ellipse">
            <a:avLst/>
          </a:prstGeom>
          <a:solidFill>
            <a:srgbClr val="2E2745"/>
          </a:solidFill>
          <a:ln/>
        </p:spPr>
      </p:sp>
      <p:pic>
        <p:nvPicPr>
          <p:cNvPr id="6" name="Image 0" descr="preencoded.png">    </p:cNvPr>
          <p:cNvPicPr>
            <a:picLocks noChangeAspect="1"/>
          </p:cNvPicPr>
          <p:nvPr/>
        </p:nvPicPr>
        <p:blipFill>
          <a:blip r:embed="rId1"/>
          <a:stretch>
            <a:fillRect/>
          </a:stretch>
        </p:blipFill>
        <p:spPr>
          <a:xfrm>
            <a:off x="1115568" y="2093976"/>
            <a:ext cx="310896" cy="310896"/>
          </a:xfrm>
          <a:prstGeom prst="rect">
            <a:avLst/>
          </a:prstGeom>
        </p:spPr>
      </p:pic>
      <p:sp>
        <p:nvSpPr>
          <p:cNvPr id="7" name="Text 4"/>
          <p:cNvSpPr/>
          <p:nvPr/>
        </p:nvSpPr>
        <p:spPr>
          <a:xfrm>
            <a:off x="1737360" y="2011680"/>
            <a:ext cx="3854196" cy="329184"/>
          </a:xfrm>
          <a:prstGeom prst="rect">
            <a:avLst/>
          </a:prstGeom>
          <a:noFill/>
          <a:ln/>
        </p:spPr>
        <p:txBody>
          <a:bodyPr wrap="square" lIns="0" tIns="0" rIns="0" bIns="0" rtlCol="0" anchor="ctr"/>
          <a:lstStyle/>
          <a:p>
            <a:pPr indent="0" marL="0">
              <a:buNone/>
            </a:pPr>
            <a:r>
              <a:rPr lang="en-US" sz="1800" b="1" dirty="0">
                <a:solidFill>
                  <a:srgbClr val="34D399"/>
                </a:solidFill>
                <a:latin typeface="Arial" pitchFamily="34" charset="0"/>
                <a:ea typeface="Arial" pitchFamily="34" charset="-122"/>
                <a:cs typeface="Arial" pitchFamily="34" charset="-120"/>
              </a:rPr>
              <a:t>Automation</a:t>
            </a:r>
            <a:endParaRPr lang="en-US" sz="1800" dirty="0"/>
          </a:p>
        </p:txBody>
      </p:sp>
      <p:sp>
        <p:nvSpPr>
          <p:cNvPr id="8" name="Text 5"/>
          <p:cNvSpPr/>
          <p:nvPr/>
        </p:nvSpPr>
        <p:spPr>
          <a:xfrm>
            <a:off x="960120" y="2697480"/>
            <a:ext cx="4585716" cy="1005840"/>
          </a:xfrm>
          <a:prstGeom prst="rect">
            <a:avLst/>
          </a:prstGeom>
          <a:noFill/>
          <a:ln/>
        </p:spPr>
        <p:txBody>
          <a:bodyPr wrap="square" lIns="0" tIns="0" rIns="0" bIns="0" rtlCol="0" anchor="t"/>
          <a:lstStyle/>
          <a:p>
            <a:pPr indent="0" marL="0">
              <a:lnSpc>
                <a:spcPts val="1900"/>
              </a:lnSpc>
              <a:buNone/>
            </a:pPr>
            <a:r>
              <a:rPr lang="en-US" sz="1350" dirty="0">
                <a:solidFill>
                  <a:srgbClr val="F5F2FA"/>
                </a:solidFill>
                <a:latin typeface="Calibri" pitchFamily="34" charset="0"/>
                <a:ea typeface="Calibri" pitchFamily="34" charset="-122"/>
                <a:cs typeface="Calibri" pitchFamily="34" charset="-120"/>
              </a:rPr>
              <a:t>A machine doing a manual, repetitive task for you — the same way, every single time.</a:t>
            </a:r>
            <a:endParaRPr lang="en-US" sz="1350" dirty="0"/>
          </a:p>
          <a:p>
            <a:pPr indent="0" marL="0">
              <a:lnSpc>
                <a:spcPts val="1900"/>
              </a:lnSpc>
              <a:buNone/>
            </a:pPr>
            <a:endParaRPr lang="en-US" sz="1350" dirty="0"/>
          </a:p>
          <a:p>
            <a:pPr indent="0" marL="0">
              <a:lnSpc>
                <a:spcPts val="1900"/>
              </a:lnSpc>
              <a:buNone/>
            </a:pPr>
            <a:r>
              <a:rPr lang="en-US" sz="1350" dirty="0">
                <a:solidFill>
                  <a:srgbClr val="F5F2FA"/>
                </a:solidFill>
                <a:latin typeface="Calibri" pitchFamily="34" charset="0"/>
                <a:ea typeface="Calibri" pitchFamily="34" charset="-122"/>
                <a:cs typeface="Calibri" pitchFamily="34" charset="-120"/>
              </a:rPr>
              <a:t>No AI anywhere in it.</a:t>
            </a:r>
            <a:endParaRPr lang="en-US" sz="1350" dirty="0"/>
          </a:p>
        </p:txBody>
      </p:sp>
      <p:sp>
        <p:nvSpPr>
          <p:cNvPr id="9" name="Shape 6"/>
          <p:cNvSpPr/>
          <p:nvPr/>
        </p:nvSpPr>
        <p:spPr>
          <a:xfrm>
            <a:off x="6323076" y="1691640"/>
            <a:ext cx="5225796" cy="2148840"/>
          </a:xfrm>
          <a:prstGeom prst="roundRect">
            <a:avLst>
              <a:gd name="adj" fmla="val 5106"/>
            </a:avLst>
          </a:prstGeom>
          <a:solidFill>
            <a:srgbClr val="262038"/>
          </a:solidFill>
          <a:ln/>
        </p:spPr>
      </p:sp>
      <p:sp>
        <p:nvSpPr>
          <p:cNvPr id="10" name="Shape 7"/>
          <p:cNvSpPr/>
          <p:nvPr/>
        </p:nvSpPr>
        <p:spPr>
          <a:xfrm>
            <a:off x="6643116" y="1938528"/>
            <a:ext cx="621792" cy="621792"/>
          </a:xfrm>
          <a:prstGeom prst="ellipse">
            <a:avLst/>
          </a:prstGeom>
          <a:solidFill>
            <a:srgbClr val="2E2745"/>
          </a:solidFill>
          <a:ln/>
        </p:spPr>
      </p:sp>
      <p:pic>
        <p:nvPicPr>
          <p:cNvPr id="11" name="Image 1" descr="preencoded.png">    </p:cNvPr>
          <p:cNvPicPr>
            <a:picLocks noChangeAspect="1"/>
          </p:cNvPicPr>
          <p:nvPr/>
        </p:nvPicPr>
        <p:blipFill>
          <a:blip r:embed="rId2"/>
          <a:stretch>
            <a:fillRect/>
          </a:stretch>
        </p:blipFill>
        <p:spPr>
          <a:xfrm>
            <a:off x="6798564" y="2093976"/>
            <a:ext cx="310896" cy="310896"/>
          </a:xfrm>
          <a:prstGeom prst="rect">
            <a:avLst/>
          </a:prstGeom>
        </p:spPr>
      </p:pic>
      <p:sp>
        <p:nvSpPr>
          <p:cNvPr id="12" name="Text 8"/>
          <p:cNvSpPr/>
          <p:nvPr/>
        </p:nvSpPr>
        <p:spPr>
          <a:xfrm>
            <a:off x="7420356" y="2011680"/>
            <a:ext cx="3854196" cy="329184"/>
          </a:xfrm>
          <a:prstGeom prst="rect">
            <a:avLst/>
          </a:prstGeom>
          <a:noFill/>
          <a:ln/>
        </p:spPr>
        <p:txBody>
          <a:bodyPr wrap="square" lIns="0" tIns="0" rIns="0" bIns="0" rtlCol="0" anchor="ctr"/>
          <a:lstStyle/>
          <a:p>
            <a:pPr indent="0" marL="0">
              <a:buNone/>
            </a:pPr>
            <a:r>
              <a:rPr lang="en-US" sz="1800" b="1" dirty="0">
                <a:solidFill>
                  <a:srgbClr val="EA4B71"/>
                </a:solidFill>
                <a:latin typeface="Arial" pitchFamily="34" charset="0"/>
                <a:ea typeface="Arial" pitchFamily="34" charset="-122"/>
                <a:cs typeface="Arial" pitchFamily="34" charset="-120"/>
              </a:rPr>
              <a:t>AI Automation</a:t>
            </a:r>
            <a:endParaRPr lang="en-US" sz="1800" dirty="0"/>
          </a:p>
        </p:txBody>
      </p:sp>
      <p:sp>
        <p:nvSpPr>
          <p:cNvPr id="13" name="Text 9"/>
          <p:cNvSpPr/>
          <p:nvPr/>
        </p:nvSpPr>
        <p:spPr>
          <a:xfrm>
            <a:off x="6643116" y="2697480"/>
            <a:ext cx="4585716" cy="1005840"/>
          </a:xfrm>
          <a:prstGeom prst="rect">
            <a:avLst/>
          </a:prstGeom>
          <a:noFill/>
          <a:ln/>
        </p:spPr>
        <p:txBody>
          <a:bodyPr wrap="square" lIns="0" tIns="0" rIns="0" bIns="0" rtlCol="0" anchor="t"/>
          <a:lstStyle/>
          <a:p>
            <a:pPr indent="0" marL="0">
              <a:lnSpc>
                <a:spcPts val="1900"/>
              </a:lnSpc>
              <a:buNone/>
            </a:pPr>
            <a:r>
              <a:rPr lang="en-US" sz="1350" dirty="0">
                <a:solidFill>
                  <a:srgbClr val="F5F2FA"/>
                </a:solidFill>
                <a:latin typeface="Calibri" pitchFamily="34" charset="0"/>
                <a:ea typeface="Calibri" pitchFamily="34" charset="-122"/>
                <a:cs typeface="Calibri" pitchFamily="34" charset="-120"/>
              </a:rPr>
              <a:t>The same idea — but now AI sits somewhere in the process, reading, understanding or deciding.</a:t>
            </a:r>
            <a:endParaRPr lang="en-US" sz="1350" dirty="0"/>
          </a:p>
        </p:txBody>
      </p:sp>
      <p:sp>
        <p:nvSpPr>
          <p:cNvPr id="14" name="Shape 10"/>
          <p:cNvSpPr/>
          <p:nvPr/>
        </p:nvSpPr>
        <p:spPr>
          <a:xfrm>
            <a:off x="640080" y="4114800"/>
            <a:ext cx="10908792" cy="1325880"/>
          </a:xfrm>
          <a:prstGeom prst="roundRect">
            <a:avLst>
              <a:gd name="adj" fmla="val 8276"/>
            </a:avLst>
          </a:prstGeom>
          <a:solidFill>
            <a:srgbClr val="262038"/>
          </a:solidFill>
          <a:ln w="13970">
            <a:solidFill>
              <a:srgbClr val="8B7FD7"/>
            </a:solidFill>
            <a:prstDash val="solid"/>
          </a:ln>
        </p:spPr>
      </p:sp>
      <p:sp>
        <p:nvSpPr>
          <p:cNvPr id="15" name="Shape 11"/>
          <p:cNvSpPr/>
          <p:nvPr/>
        </p:nvSpPr>
        <p:spPr>
          <a:xfrm>
            <a:off x="960120" y="4453128"/>
            <a:ext cx="640080" cy="640080"/>
          </a:xfrm>
          <a:prstGeom prst="ellipse">
            <a:avLst/>
          </a:prstGeom>
          <a:solidFill>
            <a:srgbClr val="2E2745"/>
          </a:solidFill>
          <a:ln/>
        </p:spPr>
      </p:sp>
      <p:pic>
        <p:nvPicPr>
          <p:cNvPr id="16" name="Image 2" descr="preencoded.png">    </p:cNvPr>
          <p:cNvPicPr>
            <a:picLocks noChangeAspect="1"/>
          </p:cNvPicPr>
          <p:nvPr/>
        </p:nvPicPr>
        <p:blipFill>
          <a:blip r:embed="rId3"/>
          <a:stretch>
            <a:fillRect/>
          </a:stretch>
        </p:blipFill>
        <p:spPr>
          <a:xfrm>
            <a:off x="1120140" y="4613148"/>
            <a:ext cx="320040" cy="320040"/>
          </a:xfrm>
          <a:prstGeom prst="rect">
            <a:avLst/>
          </a:prstGeom>
        </p:spPr>
      </p:pic>
      <p:sp>
        <p:nvSpPr>
          <p:cNvPr id="17" name="Text 12"/>
          <p:cNvSpPr/>
          <p:nvPr/>
        </p:nvSpPr>
        <p:spPr>
          <a:xfrm>
            <a:off x="1783080" y="4370832"/>
            <a:ext cx="9354312" cy="310896"/>
          </a:xfrm>
          <a:prstGeom prst="rect">
            <a:avLst/>
          </a:prstGeom>
          <a:noFill/>
          <a:ln/>
        </p:spPr>
        <p:txBody>
          <a:bodyPr wrap="square" lIns="0" tIns="0" rIns="0" bIns="0" rtlCol="0" anchor="ctr"/>
          <a:lstStyle/>
          <a:p>
            <a:pPr indent="0" marL="0">
              <a:buNone/>
            </a:pPr>
            <a:r>
              <a:rPr lang="en-US" sz="1650" b="1" dirty="0">
                <a:solidFill>
                  <a:srgbClr val="8B7FD7"/>
                </a:solidFill>
                <a:latin typeface="Arial" pitchFamily="34" charset="0"/>
                <a:ea typeface="Arial" pitchFamily="34" charset="-122"/>
                <a:cs typeface="Arial" pitchFamily="34" charset="-120"/>
              </a:rPr>
              <a:t>“AI Automation” is an umbrella term</a:t>
            </a:r>
            <a:endParaRPr lang="en-US" sz="1650" dirty="0"/>
          </a:p>
        </p:txBody>
      </p:sp>
      <p:sp>
        <p:nvSpPr>
          <p:cNvPr id="18" name="Text 13"/>
          <p:cNvSpPr/>
          <p:nvPr/>
        </p:nvSpPr>
        <p:spPr>
          <a:xfrm>
            <a:off x="1783080" y="4736592"/>
            <a:ext cx="9354312" cy="548640"/>
          </a:xfrm>
          <a:prstGeom prst="rect">
            <a:avLst/>
          </a:prstGeom>
          <a:noFill/>
          <a:ln/>
        </p:spPr>
        <p:txBody>
          <a:bodyPr wrap="square" lIns="0" tIns="0" rIns="0" bIns="0" rtlCol="0" anchor="ctr"/>
          <a:lstStyle/>
          <a:p>
            <a:pPr indent="0" marL="0">
              <a:buNone/>
            </a:pPr>
            <a:r>
              <a:rPr lang="en-US" sz="1350" dirty="0">
                <a:solidFill>
                  <a:srgbClr val="F5F2FA"/>
                </a:solidFill>
                <a:latin typeface="Calibri" pitchFamily="34" charset="0"/>
                <a:ea typeface="Calibri" pitchFamily="34" charset="-122"/>
                <a:cs typeface="Calibri" pitchFamily="34" charset="-120"/>
              </a:rPr>
              <a:t>It is the name of the whole field — not a fourth thing to compare. Two of the three tiers you are about to see live underneath it.</a:t>
            </a:r>
            <a:endParaRPr lang="en-US" sz="1350" dirty="0"/>
          </a:p>
        </p:txBody>
      </p:sp>
      <p:sp>
        <p:nvSpPr>
          <p:cNvPr id="19" name="Text 14"/>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20" name="Text 15"/>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OUR RUNNING EXAMPLE</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Meet Karachi Kicks</a:t>
            </a:r>
            <a:endParaRPr lang="en-US" sz="3400" dirty="0"/>
          </a:p>
        </p:txBody>
      </p:sp>
      <p:sp>
        <p:nvSpPr>
          <p:cNvPr id="4" name="Shape 2"/>
          <p:cNvSpPr/>
          <p:nvPr/>
        </p:nvSpPr>
        <p:spPr>
          <a:xfrm>
            <a:off x="640080" y="1691640"/>
            <a:ext cx="5852160" cy="3246120"/>
          </a:xfrm>
          <a:prstGeom prst="roundRect">
            <a:avLst>
              <a:gd name="adj" fmla="val 3380"/>
            </a:avLst>
          </a:prstGeom>
          <a:solidFill>
            <a:srgbClr val="262038"/>
          </a:solidFill>
          <a:ln/>
        </p:spPr>
      </p:sp>
      <p:sp>
        <p:nvSpPr>
          <p:cNvPr id="5" name="Shape 3"/>
          <p:cNvSpPr/>
          <p:nvPr/>
        </p:nvSpPr>
        <p:spPr>
          <a:xfrm>
            <a:off x="1005840" y="1965960"/>
            <a:ext cx="658368" cy="658368"/>
          </a:xfrm>
          <a:prstGeom prst="ellipse">
            <a:avLst/>
          </a:prstGeom>
          <a:solidFill>
            <a:srgbClr val="2E2745"/>
          </a:solidFill>
          <a:ln/>
        </p:spPr>
      </p:sp>
      <p:pic>
        <p:nvPicPr>
          <p:cNvPr id="6" name="Image 0" descr="preencoded.png">    </p:cNvPr>
          <p:cNvPicPr>
            <a:picLocks noChangeAspect="1"/>
          </p:cNvPicPr>
          <p:nvPr/>
        </p:nvPicPr>
        <p:blipFill>
          <a:blip r:embed="rId1"/>
          <a:stretch>
            <a:fillRect/>
          </a:stretch>
        </p:blipFill>
        <p:spPr>
          <a:xfrm>
            <a:off x="1170432" y="2130552"/>
            <a:ext cx="329184" cy="329184"/>
          </a:xfrm>
          <a:prstGeom prst="rect">
            <a:avLst/>
          </a:prstGeom>
        </p:spPr>
      </p:pic>
      <p:sp>
        <p:nvSpPr>
          <p:cNvPr id="7" name="Text 4"/>
          <p:cNvSpPr/>
          <p:nvPr/>
        </p:nvSpPr>
        <p:spPr>
          <a:xfrm>
            <a:off x="1828800" y="2048256"/>
            <a:ext cx="4480560" cy="329184"/>
          </a:xfrm>
          <a:prstGeom prst="rect">
            <a:avLst/>
          </a:prstGeom>
          <a:noFill/>
          <a:ln/>
        </p:spPr>
        <p:txBody>
          <a:bodyPr wrap="square" lIns="0" tIns="0" rIns="0" bIns="0" rtlCol="0" anchor="ctr"/>
          <a:lstStyle/>
          <a:p>
            <a:pPr indent="0" marL="0">
              <a:buNone/>
            </a:pPr>
            <a:r>
              <a:rPr lang="en-US" sz="1700" b="1" dirty="0">
                <a:solidFill>
                  <a:srgbClr val="F5F2FA"/>
                </a:solidFill>
                <a:latin typeface="Arial" pitchFamily="34" charset="0"/>
                <a:ea typeface="Arial" pitchFamily="34" charset="-122"/>
                <a:cs typeface="Arial" pitchFamily="34" charset="-120"/>
              </a:rPr>
              <a:t>An online shoe store</a:t>
            </a:r>
            <a:endParaRPr lang="en-US" sz="1700" dirty="0"/>
          </a:p>
        </p:txBody>
      </p:sp>
      <p:sp>
        <p:nvSpPr>
          <p:cNvPr id="8" name="Text 5"/>
          <p:cNvSpPr/>
          <p:nvPr/>
        </p:nvSpPr>
        <p:spPr>
          <a:xfrm>
            <a:off x="1005840" y="2633472"/>
            <a:ext cx="5120640" cy="2011680"/>
          </a:xfrm>
          <a:prstGeom prst="rect">
            <a:avLst/>
          </a:prstGeom>
          <a:noFill/>
          <a:ln/>
        </p:spPr>
        <p:txBody>
          <a:bodyPr wrap="square" lIns="0" tIns="0" rIns="0" bIns="0" rtlCol="0" anchor="ctr"/>
          <a:lstStyle/>
          <a:p>
            <a:pPr indent="0" marL="0">
              <a:lnSpc>
                <a:spcPts val="2100"/>
              </a:lnSpc>
              <a:buNone/>
            </a:pPr>
            <a:r>
              <a:rPr lang="en-US" sz="1400" dirty="0">
                <a:solidFill>
                  <a:srgbClr val="A79DBF"/>
                </a:solidFill>
                <a:latin typeface="Calibri" pitchFamily="34" charset="0"/>
                <a:ea typeface="Calibri" pitchFamily="34" charset="-122"/>
                <a:cs typeface="Calibri" pitchFamily="34" charset="-120"/>
              </a:rPr>
              <a:t>Orders come in. Complaints come in. Refund questions come in — all day, every day.</a:t>
            </a:r>
            <a:endParaRPr lang="en-US" sz="1400" dirty="0"/>
          </a:p>
          <a:p>
            <a:pPr indent="0" marL="0">
              <a:lnSpc>
                <a:spcPts val="2100"/>
              </a:lnSpc>
              <a:buNone/>
            </a:pPr>
            <a:endParaRPr lang="en-US" sz="1400" dirty="0"/>
          </a:p>
          <a:p>
            <a:pPr indent="0" marL="0">
              <a:lnSpc>
                <a:spcPts val="2100"/>
              </a:lnSpc>
              <a:buNone/>
            </a:pPr>
            <a:r>
              <a:rPr lang="en-US" sz="1400" dirty="0">
                <a:solidFill>
                  <a:srgbClr val="A79DBF"/>
                </a:solidFill>
                <a:latin typeface="Calibri" pitchFamily="34" charset="0"/>
                <a:ea typeface="Calibri" pitchFamily="34" charset="-122"/>
                <a:cs typeface="Calibri" pitchFamily="34" charset="-120"/>
              </a:rPr>
              <a:t>We will solve this one store three different ways, so you can feel the difference instead of memorising it.</a:t>
            </a:r>
            <a:endParaRPr lang="en-US" sz="1400" dirty="0"/>
          </a:p>
        </p:txBody>
      </p:sp>
      <p:sp>
        <p:nvSpPr>
          <p:cNvPr id="9" name="Shape 6"/>
          <p:cNvSpPr/>
          <p:nvPr/>
        </p:nvSpPr>
        <p:spPr>
          <a:xfrm>
            <a:off x="6949440" y="1691640"/>
            <a:ext cx="4599432" cy="960120"/>
          </a:xfrm>
          <a:prstGeom prst="roundRect">
            <a:avLst>
              <a:gd name="adj" fmla="val 11429"/>
            </a:avLst>
          </a:prstGeom>
          <a:solidFill>
            <a:srgbClr val="262038"/>
          </a:solidFill>
          <a:ln/>
        </p:spPr>
      </p:sp>
      <p:sp>
        <p:nvSpPr>
          <p:cNvPr id="10" name="Shape 7"/>
          <p:cNvSpPr/>
          <p:nvPr/>
        </p:nvSpPr>
        <p:spPr>
          <a:xfrm>
            <a:off x="7205472" y="1847088"/>
            <a:ext cx="640080" cy="640080"/>
          </a:xfrm>
          <a:prstGeom prst="ellipse">
            <a:avLst/>
          </a:prstGeom>
          <a:solidFill>
            <a:srgbClr val="2E2745"/>
          </a:solidFill>
          <a:ln/>
        </p:spPr>
      </p:sp>
      <p:pic>
        <p:nvPicPr>
          <p:cNvPr id="11" name="Image 1" descr="preencoded.png">    </p:cNvPr>
          <p:cNvPicPr>
            <a:picLocks noChangeAspect="1"/>
          </p:cNvPicPr>
          <p:nvPr/>
        </p:nvPicPr>
        <p:blipFill>
          <a:blip r:embed="rId2"/>
          <a:stretch>
            <a:fillRect/>
          </a:stretch>
        </p:blipFill>
        <p:spPr>
          <a:xfrm>
            <a:off x="7365492" y="2007108"/>
            <a:ext cx="320040" cy="320040"/>
          </a:xfrm>
          <a:prstGeom prst="rect">
            <a:avLst/>
          </a:prstGeom>
        </p:spPr>
      </p:pic>
      <p:sp>
        <p:nvSpPr>
          <p:cNvPr id="12" name="Text 8"/>
          <p:cNvSpPr/>
          <p:nvPr/>
        </p:nvSpPr>
        <p:spPr>
          <a:xfrm>
            <a:off x="7973568" y="1837944"/>
            <a:ext cx="3410712" cy="292608"/>
          </a:xfrm>
          <a:prstGeom prst="rect">
            <a:avLst/>
          </a:prstGeom>
          <a:noFill/>
          <a:ln/>
        </p:spPr>
        <p:txBody>
          <a:bodyPr wrap="square" lIns="0" tIns="0" rIns="0" bIns="0" rtlCol="0" anchor="ctr"/>
          <a:lstStyle/>
          <a:p>
            <a:pPr indent="0" marL="0">
              <a:buNone/>
            </a:pPr>
            <a:r>
              <a:rPr lang="en-US" sz="1500" b="1" dirty="0">
                <a:solidFill>
                  <a:srgbClr val="34D399"/>
                </a:solidFill>
                <a:latin typeface="Arial" pitchFamily="34" charset="0"/>
                <a:ea typeface="Arial" pitchFamily="34" charset="-122"/>
                <a:cs typeface="Arial" pitchFamily="34" charset="-120"/>
              </a:rPr>
              <a:t>Orders</a:t>
            </a:r>
            <a:endParaRPr lang="en-US" sz="1500" dirty="0"/>
          </a:p>
        </p:txBody>
      </p:sp>
      <p:sp>
        <p:nvSpPr>
          <p:cNvPr id="13" name="Text 9"/>
          <p:cNvSpPr/>
          <p:nvPr/>
        </p:nvSpPr>
        <p:spPr>
          <a:xfrm>
            <a:off x="7973568" y="2167128"/>
            <a:ext cx="3410712" cy="292608"/>
          </a:xfrm>
          <a:prstGeom prst="rect">
            <a:avLst/>
          </a:prstGeom>
          <a:noFill/>
          <a:ln/>
        </p:spPr>
        <p:txBody>
          <a:bodyPr wrap="square" lIns="0" tIns="0" rIns="0" bIns="0" rtlCol="0" anchor="ctr"/>
          <a:lstStyle/>
          <a:p>
            <a:pPr indent="0" marL="0">
              <a:buNone/>
            </a:pPr>
            <a:r>
              <a:rPr lang="en-US" sz="1250" dirty="0">
                <a:solidFill>
                  <a:srgbClr val="A79DBF"/>
                </a:solidFill>
                <a:latin typeface="Calibri" pitchFamily="34" charset="0"/>
                <a:ea typeface="Calibri" pitchFamily="34" charset="-122"/>
                <a:cs typeface="Calibri" pitchFamily="34" charset="-120"/>
              </a:rPr>
              <a:t>New purchase → log it, confirm it</a:t>
            </a:r>
            <a:endParaRPr lang="en-US" sz="1250" dirty="0"/>
          </a:p>
        </p:txBody>
      </p:sp>
      <p:sp>
        <p:nvSpPr>
          <p:cNvPr id="14" name="Shape 10"/>
          <p:cNvSpPr/>
          <p:nvPr/>
        </p:nvSpPr>
        <p:spPr>
          <a:xfrm>
            <a:off x="6949440" y="2834640"/>
            <a:ext cx="4599432" cy="960120"/>
          </a:xfrm>
          <a:prstGeom prst="roundRect">
            <a:avLst>
              <a:gd name="adj" fmla="val 11429"/>
            </a:avLst>
          </a:prstGeom>
          <a:solidFill>
            <a:srgbClr val="262038"/>
          </a:solidFill>
          <a:ln/>
        </p:spPr>
      </p:sp>
      <p:sp>
        <p:nvSpPr>
          <p:cNvPr id="15" name="Shape 11"/>
          <p:cNvSpPr/>
          <p:nvPr/>
        </p:nvSpPr>
        <p:spPr>
          <a:xfrm>
            <a:off x="7205472" y="2990088"/>
            <a:ext cx="640080" cy="640080"/>
          </a:xfrm>
          <a:prstGeom prst="ellipse">
            <a:avLst/>
          </a:prstGeom>
          <a:solidFill>
            <a:srgbClr val="2E2745"/>
          </a:solidFill>
          <a:ln/>
        </p:spPr>
      </p:sp>
      <p:pic>
        <p:nvPicPr>
          <p:cNvPr id="16" name="Image 2" descr="preencoded.png">    </p:cNvPr>
          <p:cNvPicPr>
            <a:picLocks noChangeAspect="1"/>
          </p:cNvPicPr>
          <p:nvPr/>
        </p:nvPicPr>
        <p:blipFill>
          <a:blip r:embed="rId3"/>
          <a:stretch>
            <a:fillRect/>
          </a:stretch>
        </p:blipFill>
        <p:spPr>
          <a:xfrm>
            <a:off x="7365492" y="3150108"/>
            <a:ext cx="320040" cy="320040"/>
          </a:xfrm>
          <a:prstGeom prst="rect">
            <a:avLst/>
          </a:prstGeom>
        </p:spPr>
      </p:pic>
      <p:sp>
        <p:nvSpPr>
          <p:cNvPr id="17" name="Text 12"/>
          <p:cNvSpPr/>
          <p:nvPr/>
        </p:nvSpPr>
        <p:spPr>
          <a:xfrm>
            <a:off x="7973568" y="2980944"/>
            <a:ext cx="3410712" cy="292608"/>
          </a:xfrm>
          <a:prstGeom prst="rect">
            <a:avLst/>
          </a:prstGeom>
          <a:noFill/>
          <a:ln/>
        </p:spPr>
        <p:txBody>
          <a:bodyPr wrap="square" lIns="0" tIns="0" rIns="0" bIns="0" rtlCol="0" anchor="ctr"/>
          <a:lstStyle/>
          <a:p>
            <a:pPr indent="0" marL="0">
              <a:buNone/>
            </a:pPr>
            <a:r>
              <a:rPr lang="en-US" sz="1500" b="1" dirty="0">
                <a:solidFill>
                  <a:srgbClr val="8B7FD7"/>
                </a:solidFill>
                <a:latin typeface="Arial" pitchFamily="34" charset="0"/>
                <a:ea typeface="Arial" pitchFamily="34" charset="-122"/>
                <a:cs typeface="Arial" pitchFamily="34" charset="-120"/>
              </a:rPr>
              <a:t>Complaints</a:t>
            </a:r>
            <a:endParaRPr lang="en-US" sz="1500" dirty="0"/>
          </a:p>
        </p:txBody>
      </p:sp>
      <p:sp>
        <p:nvSpPr>
          <p:cNvPr id="18" name="Text 13"/>
          <p:cNvSpPr/>
          <p:nvPr/>
        </p:nvSpPr>
        <p:spPr>
          <a:xfrm>
            <a:off x="7973568" y="3310128"/>
            <a:ext cx="3410712" cy="292608"/>
          </a:xfrm>
          <a:prstGeom prst="rect">
            <a:avLst/>
          </a:prstGeom>
          <a:noFill/>
          <a:ln/>
        </p:spPr>
        <p:txBody>
          <a:bodyPr wrap="square" lIns="0" tIns="0" rIns="0" bIns="0" rtlCol="0" anchor="ctr"/>
          <a:lstStyle/>
          <a:p>
            <a:pPr indent="0" marL="0">
              <a:buNone/>
            </a:pPr>
            <a:r>
              <a:rPr lang="en-US" sz="1250" dirty="0">
                <a:solidFill>
                  <a:srgbClr val="A79DBF"/>
                </a:solidFill>
                <a:latin typeface="Calibri" pitchFamily="34" charset="0"/>
                <a:ea typeface="Calibri" pitchFamily="34" charset="-122"/>
                <a:cs typeface="Calibri" pitchFamily="34" charset="-120"/>
              </a:rPr>
              <a:t>"Size galat aaya" — needs a human read</a:t>
            </a:r>
            <a:endParaRPr lang="en-US" sz="1250" dirty="0"/>
          </a:p>
        </p:txBody>
      </p:sp>
      <p:sp>
        <p:nvSpPr>
          <p:cNvPr id="19" name="Shape 14"/>
          <p:cNvSpPr/>
          <p:nvPr/>
        </p:nvSpPr>
        <p:spPr>
          <a:xfrm>
            <a:off x="6949440" y="3977640"/>
            <a:ext cx="4599432" cy="960120"/>
          </a:xfrm>
          <a:prstGeom prst="roundRect">
            <a:avLst>
              <a:gd name="adj" fmla="val 11429"/>
            </a:avLst>
          </a:prstGeom>
          <a:solidFill>
            <a:srgbClr val="262038"/>
          </a:solidFill>
          <a:ln/>
        </p:spPr>
      </p:sp>
      <p:sp>
        <p:nvSpPr>
          <p:cNvPr id="20" name="Shape 15"/>
          <p:cNvSpPr/>
          <p:nvPr/>
        </p:nvSpPr>
        <p:spPr>
          <a:xfrm>
            <a:off x="7205472" y="4133088"/>
            <a:ext cx="640080" cy="640080"/>
          </a:xfrm>
          <a:prstGeom prst="ellipse">
            <a:avLst/>
          </a:prstGeom>
          <a:solidFill>
            <a:srgbClr val="2E2745"/>
          </a:solidFill>
          <a:ln/>
        </p:spPr>
      </p:sp>
      <p:pic>
        <p:nvPicPr>
          <p:cNvPr id="21" name="Image 3" descr="preencoded.png">    </p:cNvPr>
          <p:cNvPicPr>
            <a:picLocks noChangeAspect="1"/>
          </p:cNvPicPr>
          <p:nvPr/>
        </p:nvPicPr>
        <p:blipFill>
          <a:blip r:embed="rId4"/>
          <a:stretch>
            <a:fillRect/>
          </a:stretch>
        </p:blipFill>
        <p:spPr>
          <a:xfrm>
            <a:off x="7365492" y="4293108"/>
            <a:ext cx="320040" cy="320040"/>
          </a:xfrm>
          <a:prstGeom prst="rect">
            <a:avLst/>
          </a:prstGeom>
        </p:spPr>
      </p:pic>
      <p:sp>
        <p:nvSpPr>
          <p:cNvPr id="22" name="Text 16"/>
          <p:cNvSpPr/>
          <p:nvPr/>
        </p:nvSpPr>
        <p:spPr>
          <a:xfrm>
            <a:off x="7973568" y="4123944"/>
            <a:ext cx="3410712" cy="292608"/>
          </a:xfrm>
          <a:prstGeom prst="rect">
            <a:avLst/>
          </a:prstGeom>
          <a:noFill/>
          <a:ln/>
        </p:spPr>
        <p:txBody>
          <a:bodyPr wrap="square" lIns="0" tIns="0" rIns="0" bIns="0" rtlCol="0" anchor="ctr"/>
          <a:lstStyle/>
          <a:p>
            <a:pPr indent="0" marL="0">
              <a:buNone/>
            </a:pPr>
            <a:r>
              <a:rPr lang="en-US" sz="1500" b="1" dirty="0">
                <a:solidFill>
                  <a:srgbClr val="EA4B71"/>
                </a:solidFill>
                <a:latin typeface="Arial" pitchFamily="34" charset="0"/>
                <a:ea typeface="Arial" pitchFamily="34" charset="-122"/>
                <a:cs typeface="Arial" pitchFamily="34" charset="-120"/>
              </a:rPr>
              <a:t>Refunds</a:t>
            </a:r>
            <a:endParaRPr lang="en-US" sz="1500" dirty="0"/>
          </a:p>
        </p:txBody>
      </p:sp>
      <p:sp>
        <p:nvSpPr>
          <p:cNvPr id="23" name="Text 17"/>
          <p:cNvSpPr/>
          <p:nvPr/>
        </p:nvSpPr>
        <p:spPr>
          <a:xfrm>
            <a:off x="7973568" y="4453128"/>
            <a:ext cx="3410712" cy="292608"/>
          </a:xfrm>
          <a:prstGeom prst="rect">
            <a:avLst/>
          </a:prstGeom>
          <a:noFill/>
          <a:ln/>
        </p:spPr>
        <p:txBody>
          <a:bodyPr wrap="square" lIns="0" tIns="0" rIns="0" bIns="0" rtlCol="0" anchor="ctr"/>
          <a:lstStyle/>
          <a:p>
            <a:pPr indent="0" marL="0">
              <a:buNone/>
            </a:pPr>
            <a:r>
              <a:rPr lang="en-US" sz="1250" dirty="0">
                <a:solidFill>
                  <a:srgbClr val="A79DBF"/>
                </a:solidFill>
                <a:latin typeface="Calibri" pitchFamily="34" charset="0"/>
                <a:ea typeface="Calibri" pitchFamily="34" charset="-122"/>
                <a:cs typeface="Calibri" pitchFamily="34" charset="-120"/>
              </a:rPr>
              <a:t>"Late hai to refund milega?"</a:t>
            </a:r>
            <a:endParaRPr lang="en-US" sz="1250" dirty="0"/>
          </a:p>
        </p:txBody>
      </p:sp>
      <p:sp>
        <p:nvSpPr>
          <p:cNvPr id="24" name="Text 18"/>
          <p:cNvSpPr/>
          <p:nvPr/>
        </p:nvSpPr>
        <p:spPr>
          <a:xfrm>
            <a:off x="640080" y="5230368"/>
            <a:ext cx="10908792" cy="365760"/>
          </a:xfrm>
          <a:prstGeom prst="rect">
            <a:avLst/>
          </a:prstGeom>
          <a:noFill/>
          <a:ln/>
        </p:spPr>
        <p:txBody>
          <a:bodyPr wrap="square" lIns="0" tIns="0" rIns="0" bIns="0" rtlCol="0" anchor="ctr"/>
          <a:lstStyle/>
          <a:p>
            <a:pPr indent="0" marL="0">
              <a:buNone/>
            </a:pPr>
            <a:r>
              <a:rPr lang="en-US" sz="1350" b="1" dirty="0">
                <a:solidFill>
                  <a:srgbClr val="34D399"/>
                </a:solidFill>
                <a:latin typeface="Calibri" pitchFamily="34" charset="0"/>
                <a:ea typeface="Calibri" pitchFamily="34" charset="-122"/>
                <a:cs typeface="Calibri" pitchFamily="34" charset="-120"/>
              </a:rPr>
              <a:t>Each tier gets its own job first. Then we throw one tricky message at all three — that is where the difference shows.</a:t>
            </a:r>
            <a:endParaRPr lang="en-US" sz="1350" dirty="0"/>
          </a:p>
        </p:txBody>
      </p:sp>
      <p:sp>
        <p:nvSpPr>
          <p:cNvPr id="25" name="Text 19"/>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26" name="Text 20"/>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THE MENTAL MODEL</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The 3-Tier Ladder</a:t>
            </a:r>
            <a:endParaRPr lang="en-US" sz="3400" dirty="0"/>
          </a:p>
        </p:txBody>
      </p:sp>
      <p:sp>
        <p:nvSpPr>
          <p:cNvPr id="4" name="Text 2"/>
          <p:cNvSpPr/>
          <p:nvPr/>
        </p:nvSpPr>
        <p:spPr>
          <a:xfrm>
            <a:off x="640080" y="1426464"/>
            <a:ext cx="10908792" cy="292608"/>
          </a:xfrm>
          <a:prstGeom prst="rect">
            <a:avLst/>
          </a:prstGeom>
          <a:noFill/>
          <a:ln/>
        </p:spPr>
        <p:txBody>
          <a:bodyPr wrap="square" lIns="0" tIns="0" rIns="0" bIns="0" rtlCol="0" anchor="ctr"/>
          <a:lstStyle/>
          <a:p>
            <a:pPr indent="0" marL="0">
              <a:buNone/>
            </a:pPr>
            <a:r>
              <a:rPr lang="en-US" sz="1350" dirty="0">
                <a:solidFill>
                  <a:srgbClr val="A79DBF"/>
                </a:solidFill>
                <a:latin typeface="Calibri" pitchFamily="34" charset="0"/>
                <a:ea typeface="Calibri" pitchFamily="34" charset="-122"/>
                <a:cs typeface="Calibri" pitchFamily="34" charset="-120"/>
              </a:rPr>
              <a:t>Each step up gives the system more autonomy — and gives you less control.</a:t>
            </a:r>
            <a:endParaRPr lang="en-US" sz="1350" dirty="0"/>
          </a:p>
        </p:txBody>
      </p:sp>
      <p:sp>
        <p:nvSpPr>
          <p:cNvPr id="5" name="Shape 3"/>
          <p:cNvSpPr/>
          <p:nvPr/>
        </p:nvSpPr>
        <p:spPr>
          <a:xfrm>
            <a:off x="640080" y="1847088"/>
            <a:ext cx="10908792" cy="1207008"/>
          </a:xfrm>
          <a:prstGeom prst="roundRect">
            <a:avLst>
              <a:gd name="adj" fmla="val 7576"/>
            </a:avLst>
          </a:prstGeom>
          <a:solidFill>
            <a:srgbClr val="262038"/>
          </a:solidFill>
          <a:ln w="15875">
            <a:solidFill>
              <a:srgbClr val="EA4B71"/>
            </a:solidFill>
            <a:prstDash val="solid"/>
          </a:ln>
        </p:spPr>
      </p:sp>
      <p:sp>
        <p:nvSpPr>
          <p:cNvPr id="6" name="Shape 4"/>
          <p:cNvSpPr/>
          <p:nvPr/>
        </p:nvSpPr>
        <p:spPr>
          <a:xfrm>
            <a:off x="914400" y="2176272"/>
            <a:ext cx="548640" cy="548640"/>
          </a:xfrm>
          <a:prstGeom prst="ellipse">
            <a:avLst/>
          </a:prstGeom>
          <a:solidFill>
            <a:srgbClr val="EA4B71"/>
          </a:solidFill>
          <a:ln/>
        </p:spPr>
      </p:sp>
      <p:sp>
        <p:nvSpPr>
          <p:cNvPr id="7" name="Text 5"/>
          <p:cNvSpPr/>
          <p:nvPr/>
        </p:nvSpPr>
        <p:spPr>
          <a:xfrm>
            <a:off x="914400" y="2176272"/>
            <a:ext cx="548640" cy="548640"/>
          </a:xfrm>
          <a:prstGeom prst="rect">
            <a:avLst/>
          </a:prstGeom>
          <a:noFill/>
          <a:ln/>
        </p:spPr>
        <p:txBody>
          <a:bodyPr wrap="square" lIns="0" tIns="0" rIns="0" bIns="0" rtlCol="0" anchor="ctr"/>
          <a:lstStyle/>
          <a:p>
            <a:pPr algn="ctr" indent="0" marL="0">
              <a:buNone/>
            </a:pPr>
            <a:r>
              <a:rPr lang="en-US" sz="2000" b="1" dirty="0">
                <a:solidFill>
                  <a:srgbClr val="1B1526"/>
                </a:solidFill>
                <a:latin typeface="Arial" pitchFamily="34" charset="0"/>
                <a:ea typeface="Arial" pitchFamily="34" charset="-122"/>
                <a:cs typeface="Arial" pitchFamily="34" charset="-120"/>
              </a:rPr>
              <a:t>3</a:t>
            </a:r>
            <a:endParaRPr lang="en-US" sz="2000" dirty="0"/>
          </a:p>
        </p:txBody>
      </p:sp>
      <p:sp>
        <p:nvSpPr>
          <p:cNvPr id="8" name="Text 6"/>
          <p:cNvSpPr/>
          <p:nvPr/>
        </p:nvSpPr>
        <p:spPr>
          <a:xfrm>
            <a:off x="1627632" y="1984248"/>
            <a:ext cx="7315200" cy="292608"/>
          </a:xfrm>
          <a:prstGeom prst="rect">
            <a:avLst/>
          </a:prstGeom>
          <a:noFill/>
          <a:ln/>
        </p:spPr>
        <p:txBody>
          <a:bodyPr wrap="square" lIns="0" tIns="0" rIns="0" bIns="0" rtlCol="0" anchor="ctr"/>
          <a:lstStyle/>
          <a:p>
            <a:pPr indent="0" marL="0">
              <a:buNone/>
            </a:pPr>
            <a:r>
              <a:rPr lang="en-US" sz="1700" b="1" spc="60" kern="0" dirty="0">
                <a:solidFill>
                  <a:srgbClr val="F5F2FA"/>
                </a:solidFill>
                <a:latin typeface="Arial" pitchFamily="34" charset="0"/>
                <a:ea typeface="Arial" pitchFamily="34" charset="-122"/>
                <a:cs typeface="Arial" pitchFamily="34" charset="-120"/>
              </a:rPr>
              <a:t>AI AGENT</a:t>
            </a:r>
            <a:endParaRPr lang="en-US" sz="1700" dirty="0"/>
          </a:p>
        </p:txBody>
      </p:sp>
      <p:sp>
        <p:nvSpPr>
          <p:cNvPr id="9" name="Text 7"/>
          <p:cNvSpPr/>
          <p:nvPr/>
        </p:nvSpPr>
        <p:spPr>
          <a:xfrm>
            <a:off x="1627632" y="2322576"/>
            <a:ext cx="7863840" cy="274320"/>
          </a:xfrm>
          <a:prstGeom prst="rect">
            <a:avLst/>
          </a:prstGeom>
          <a:noFill/>
          <a:ln/>
        </p:spPr>
        <p:txBody>
          <a:bodyPr wrap="square" lIns="0" tIns="0" rIns="0" bIns="0" rtlCol="0" anchor="ctr"/>
          <a:lstStyle/>
          <a:p>
            <a:pPr indent="0" marL="0">
              <a:buNone/>
            </a:pPr>
            <a:r>
              <a:rPr lang="en-US" sz="1350" i="1" dirty="0">
                <a:solidFill>
                  <a:srgbClr val="A79DBF"/>
                </a:solidFill>
                <a:latin typeface="Calibri" pitchFamily="34" charset="0"/>
                <a:ea typeface="Calibri" pitchFamily="34" charset="-122"/>
                <a:cs typeface="Calibri" pitchFamily="34" charset="-120"/>
              </a:rPr>
              <a:t>"Here’s the goal — you decide the steps."</a:t>
            </a:r>
            <a:endParaRPr lang="en-US" sz="1350" dirty="0"/>
          </a:p>
        </p:txBody>
      </p:sp>
      <p:sp>
        <p:nvSpPr>
          <p:cNvPr id="10" name="Text 8"/>
          <p:cNvSpPr/>
          <p:nvPr/>
        </p:nvSpPr>
        <p:spPr>
          <a:xfrm>
            <a:off x="1627632" y="2633472"/>
            <a:ext cx="8595360" cy="256032"/>
          </a:xfrm>
          <a:prstGeom prst="rect">
            <a:avLst/>
          </a:prstGeom>
          <a:noFill/>
          <a:ln/>
        </p:spPr>
        <p:txBody>
          <a:bodyPr wrap="square" lIns="0" tIns="0" rIns="0" bIns="0" rtlCol="0" anchor="ctr"/>
          <a:lstStyle/>
          <a:p>
            <a:pPr indent="0" marL="0">
              <a:buNone/>
            </a:pPr>
            <a:r>
              <a:rPr lang="en-US" sz="1100" dirty="0">
                <a:solidFill>
                  <a:srgbClr val="EA4B71"/>
                </a:solidFill>
                <a:latin typeface="Calibri" pitchFamily="34" charset="0"/>
                <a:ea typeface="Calibri" pitchFamily="34" charset="-122"/>
                <a:cs typeface="Calibri" pitchFamily="34" charset="-120"/>
              </a:rPr>
              <a:t>Plans  ·  Decides  ·  Uses Tools  ·  Adapts</a:t>
            </a:r>
            <a:endParaRPr lang="en-US" sz="1100" dirty="0"/>
          </a:p>
        </p:txBody>
      </p:sp>
      <p:sp>
        <p:nvSpPr>
          <p:cNvPr id="11" name="Shape 9"/>
          <p:cNvSpPr/>
          <p:nvPr/>
        </p:nvSpPr>
        <p:spPr>
          <a:xfrm>
            <a:off x="10616184" y="2121408"/>
            <a:ext cx="658368" cy="658368"/>
          </a:xfrm>
          <a:prstGeom prst="ellipse">
            <a:avLst/>
          </a:prstGeom>
          <a:solidFill>
            <a:srgbClr val="2E2745"/>
          </a:solidFill>
          <a:ln/>
        </p:spPr>
      </p:sp>
      <p:pic>
        <p:nvPicPr>
          <p:cNvPr id="12" name="Image 0" descr="preencoded.png">    </p:cNvPr>
          <p:cNvPicPr>
            <a:picLocks noChangeAspect="1"/>
          </p:cNvPicPr>
          <p:nvPr/>
        </p:nvPicPr>
        <p:blipFill>
          <a:blip r:embed="rId1"/>
          <a:stretch>
            <a:fillRect/>
          </a:stretch>
        </p:blipFill>
        <p:spPr>
          <a:xfrm>
            <a:off x="10780776" y="2286000"/>
            <a:ext cx="329184" cy="329184"/>
          </a:xfrm>
          <a:prstGeom prst="rect">
            <a:avLst/>
          </a:prstGeom>
        </p:spPr>
      </p:pic>
      <p:sp>
        <p:nvSpPr>
          <p:cNvPr id="13" name="Shape 10"/>
          <p:cNvSpPr/>
          <p:nvPr/>
        </p:nvSpPr>
        <p:spPr>
          <a:xfrm>
            <a:off x="640080" y="3200400"/>
            <a:ext cx="10908792" cy="1207008"/>
          </a:xfrm>
          <a:prstGeom prst="roundRect">
            <a:avLst>
              <a:gd name="adj" fmla="val 7576"/>
            </a:avLst>
          </a:prstGeom>
          <a:solidFill>
            <a:srgbClr val="262038"/>
          </a:solidFill>
          <a:ln w="15875">
            <a:solidFill>
              <a:srgbClr val="8B7FD7"/>
            </a:solidFill>
            <a:prstDash val="solid"/>
          </a:ln>
        </p:spPr>
      </p:sp>
      <p:sp>
        <p:nvSpPr>
          <p:cNvPr id="14" name="Shape 11"/>
          <p:cNvSpPr/>
          <p:nvPr/>
        </p:nvSpPr>
        <p:spPr>
          <a:xfrm>
            <a:off x="914400" y="3529584"/>
            <a:ext cx="548640" cy="548640"/>
          </a:xfrm>
          <a:prstGeom prst="ellipse">
            <a:avLst/>
          </a:prstGeom>
          <a:solidFill>
            <a:srgbClr val="8B7FD7"/>
          </a:solidFill>
          <a:ln/>
        </p:spPr>
      </p:sp>
      <p:sp>
        <p:nvSpPr>
          <p:cNvPr id="15" name="Text 12"/>
          <p:cNvSpPr/>
          <p:nvPr/>
        </p:nvSpPr>
        <p:spPr>
          <a:xfrm>
            <a:off x="914400" y="3529584"/>
            <a:ext cx="548640" cy="548640"/>
          </a:xfrm>
          <a:prstGeom prst="rect">
            <a:avLst/>
          </a:prstGeom>
          <a:noFill/>
          <a:ln/>
        </p:spPr>
        <p:txBody>
          <a:bodyPr wrap="square" lIns="0" tIns="0" rIns="0" bIns="0" rtlCol="0" anchor="ctr"/>
          <a:lstStyle/>
          <a:p>
            <a:pPr algn="ctr" indent="0" marL="0">
              <a:buNone/>
            </a:pPr>
            <a:r>
              <a:rPr lang="en-US" sz="2000" b="1" dirty="0">
                <a:solidFill>
                  <a:srgbClr val="1B1526"/>
                </a:solidFill>
                <a:latin typeface="Arial" pitchFamily="34" charset="0"/>
                <a:ea typeface="Arial" pitchFamily="34" charset="-122"/>
                <a:cs typeface="Arial" pitchFamily="34" charset="-120"/>
              </a:rPr>
              <a:t>2</a:t>
            </a:r>
            <a:endParaRPr lang="en-US" sz="2000" dirty="0"/>
          </a:p>
        </p:txBody>
      </p:sp>
      <p:sp>
        <p:nvSpPr>
          <p:cNvPr id="16" name="Text 13"/>
          <p:cNvSpPr/>
          <p:nvPr/>
        </p:nvSpPr>
        <p:spPr>
          <a:xfrm>
            <a:off x="1627632" y="3337560"/>
            <a:ext cx="7315200" cy="292608"/>
          </a:xfrm>
          <a:prstGeom prst="rect">
            <a:avLst/>
          </a:prstGeom>
          <a:noFill/>
          <a:ln/>
        </p:spPr>
        <p:txBody>
          <a:bodyPr wrap="square" lIns="0" tIns="0" rIns="0" bIns="0" rtlCol="0" anchor="ctr"/>
          <a:lstStyle/>
          <a:p>
            <a:pPr indent="0" marL="0">
              <a:buNone/>
            </a:pPr>
            <a:r>
              <a:rPr lang="en-US" sz="1700" b="1" spc="60" kern="0" dirty="0">
                <a:solidFill>
                  <a:srgbClr val="F5F2FA"/>
                </a:solidFill>
                <a:latin typeface="Arial" pitchFamily="34" charset="0"/>
                <a:ea typeface="Arial" pitchFamily="34" charset="-122"/>
                <a:cs typeface="Arial" pitchFamily="34" charset="-120"/>
              </a:rPr>
              <a:t>AI WORKFLOW</a:t>
            </a:r>
            <a:endParaRPr lang="en-US" sz="1700" dirty="0"/>
          </a:p>
        </p:txBody>
      </p:sp>
      <p:sp>
        <p:nvSpPr>
          <p:cNvPr id="17" name="Text 14"/>
          <p:cNvSpPr/>
          <p:nvPr/>
        </p:nvSpPr>
        <p:spPr>
          <a:xfrm>
            <a:off x="1627632" y="3675888"/>
            <a:ext cx="7863840" cy="274320"/>
          </a:xfrm>
          <a:prstGeom prst="rect">
            <a:avLst/>
          </a:prstGeom>
          <a:noFill/>
          <a:ln/>
        </p:spPr>
        <p:txBody>
          <a:bodyPr wrap="square" lIns="0" tIns="0" rIns="0" bIns="0" rtlCol="0" anchor="ctr"/>
          <a:lstStyle/>
          <a:p>
            <a:pPr indent="0" marL="0">
              <a:buNone/>
            </a:pPr>
            <a:r>
              <a:rPr lang="en-US" sz="1350" i="1" dirty="0">
                <a:solidFill>
                  <a:srgbClr val="A79DBF"/>
                </a:solidFill>
                <a:latin typeface="Calibri" pitchFamily="34" charset="0"/>
                <a:ea typeface="Calibri" pitchFamily="34" charset="-122"/>
                <a:cs typeface="Calibri" pitchFamily="34" charset="-120"/>
              </a:rPr>
              <a:t>"Follow this process — use AI where it’s needed."</a:t>
            </a:r>
            <a:endParaRPr lang="en-US" sz="1350" dirty="0"/>
          </a:p>
        </p:txBody>
      </p:sp>
      <p:sp>
        <p:nvSpPr>
          <p:cNvPr id="18" name="Text 15"/>
          <p:cNvSpPr/>
          <p:nvPr/>
        </p:nvSpPr>
        <p:spPr>
          <a:xfrm>
            <a:off x="1627632" y="3986784"/>
            <a:ext cx="8595360" cy="256032"/>
          </a:xfrm>
          <a:prstGeom prst="rect">
            <a:avLst/>
          </a:prstGeom>
          <a:noFill/>
          <a:ln/>
        </p:spPr>
        <p:txBody>
          <a:bodyPr wrap="square" lIns="0" tIns="0" rIns="0" bIns="0" rtlCol="0" anchor="ctr"/>
          <a:lstStyle/>
          <a:p>
            <a:pPr indent="0" marL="0">
              <a:buNone/>
            </a:pPr>
            <a:r>
              <a:rPr lang="en-US" sz="1100" dirty="0">
                <a:solidFill>
                  <a:srgbClr val="8B7FD7"/>
                </a:solidFill>
                <a:latin typeface="Calibri" pitchFamily="34" charset="0"/>
                <a:ea typeface="Calibri" pitchFamily="34" charset="-122"/>
                <a:cs typeface="Calibri" pitchFamily="34" charset="-120"/>
              </a:rPr>
              <a:t>Fixed Flow  ·  AI Performs Tasks  ·  You Control the Path</a:t>
            </a:r>
            <a:endParaRPr lang="en-US" sz="1100" dirty="0"/>
          </a:p>
        </p:txBody>
      </p:sp>
      <p:sp>
        <p:nvSpPr>
          <p:cNvPr id="19" name="Shape 16"/>
          <p:cNvSpPr/>
          <p:nvPr/>
        </p:nvSpPr>
        <p:spPr>
          <a:xfrm>
            <a:off x="10616184" y="3474720"/>
            <a:ext cx="658368" cy="658368"/>
          </a:xfrm>
          <a:prstGeom prst="ellipse">
            <a:avLst/>
          </a:prstGeom>
          <a:solidFill>
            <a:srgbClr val="2E2745"/>
          </a:solidFill>
          <a:ln/>
        </p:spPr>
      </p:sp>
      <p:pic>
        <p:nvPicPr>
          <p:cNvPr id="20" name="Image 1" descr="preencoded.png">    </p:cNvPr>
          <p:cNvPicPr>
            <a:picLocks noChangeAspect="1"/>
          </p:cNvPicPr>
          <p:nvPr/>
        </p:nvPicPr>
        <p:blipFill>
          <a:blip r:embed="rId2"/>
          <a:stretch>
            <a:fillRect/>
          </a:stretch>
        </p:blipFill>
        <p:spPr>
          <a:xfrm>
            <a:off x="10780776" y="3639312"/>
            <a:ext cx="329184" cy="329184"/>
          </a:xfrm>
          <a:prstGeom prst="rect">
            <a:avLst/>
          </a:prstGeom>
        </p:spPr>
      </p:pic>
      <p:sp>
        <p:nvSpPr>
          <p:cNvPr id="21" name="Shape 17"/>
          <p:cNvSpPr/>
          <p:nvPr/>
        </p:nvSpPr>
        <p:spPr>
          <a:xfrm>
            <a:off x="640080" y="4553712"/>
            <a:ext cx="10908792" cy="1207008"/>
          </a:xfrm>
          <a:prstGeom prst="roundRect">
            <a:avLst>
              <a:gd name="adj" fmla="val 7576"/>
            </a:avLst>
          </a:prstGeom>
          <a:solidFill>
            <a:srgbClr val="262038"/>
          </a:solidFill>
          <a:ln w="15875">
            <a:solidFill>
              <a:srgbClr val="34D399"/>
            </a:solidFill>
            <a:prstDash val="solid"/>
          </a:ln>
        </p:spPr>
      </p:sp>
      <p:sp>
        <p:nvSpPr>
          <p:cNvPr id="22" name="Shape 18"/>
          <p:cNvSpPr/>
          <p:nvPr/>
        </p:nvSpPr>
        <p:spPr>
          <a:xfrm>
            <a:off x="914400" y="4882896"/>
            <a:ext cx="548640" cy="548640"/>
          </a:xfrm>
          <a:prstGeom prst="ellipse">
            <a:avLst/>
          </a:prstGeom>
          <a:solidFill>
            <a:srgbClr val="34D399"/>
          </a:solidFill>
          <a:ln/>
        </p:spPr>
      </p:sp>
      <p:sp>
        <p:nvSpPr>
          <p:cNvPr id="23" name="Text 19"/>
          <p:cNvSpPr/>
          <p:nvPr/>
        </p:nvSpPr>
        <p:spPr>
          <a:xfrm>
            <a:off x="914400" y="4882896"/>
            <a:ext cx="548640" cy="548640"/>
          </a:xfrm>
          <a:prstGeom prst="rect">
            <a:avLst/>
          </a:prstGeom>
          <a:noFill/>
          <a:ln/>
        </p:spPr>
        <p:txBody>
          <a:bodyPr wrap="square" lIns="0" tIns="0" rIns="0" bIns="0" rtlCol="0" anchor="ctr"/>
          <a:lstStyle/>
          <a:p>
            <a:pPr algn="ctr" indent="0" marL="0">
              <a:buNone/>
            </a:pPr>
            <a:r>
              <a:rPr lang="en-US" sz="2000" b="1" dirty="0">
                <a:solidFill>
                  <a:srgbClr val="1B1526"/>
                </a:solidFill>
                <a:latin typeface="Arial" pitchFamily="34" charset="0"/>
                <a:ea typeface="Arial" pitchFamily="34" charset="-122"/>
                <a:cs typeface="Arial" pitchFamily="34" charset="-120"/>
              </a:rPr>
              <a:t>1</a:t>
            </a:r>
            <a:endParaRPr lang="en-US" sz="2000" dirty="0"/>
          </a:p>
        </p:txBody>
      </p:sp>
      <p:sp>
        <p:nvSpPr>
          <p:cNvPr id="24" name="Text 20"/>
          <p:cNvSpPr/>
          <p:nvPr/>
        </p:nvSpPr>
        <p:spPr>
          <a:xfrm>
            <a:off x="1627632" y="4690872"/>
            <a:ext cx="7315200" cy="292608"/>
          </a:xfrm>
          <a:prstGeom prst="rect">
            <a:avLst/>
          </a:prstGeom>
          <a:noFill/>
          <a:ln/>
        </p:spPr>
        <p:txBody>
          <a:bodyPr wrap="square" lIns="0" tIns="0" rIns="0" bIns="0" rtlCol="0" anchor="ctr"/>
          <a:lstStyle/>
          <a:p>
            <a:pPr indent="0" marL="0">
              <a:buNone/>
            </a:pPr>
            <a:r>
              <a:rPr lang="en-US" sz="1700" b="1" spc="60" kern="0" dirty="0">
                <a:solidFill>
                  <a:srgbClr val="F5F2FA"/>
                </a:solidFill>
                <a:latin typeface="Arial" pitchFamily="34" charset="0"/>
                <a:ea typeface="Arial" pitchFamily="34" charset="-122"/>
                <a:cs typeface="Arial" pitchFamily="34" charset="-120"/>
              </a:rPr>
              <a:t>AUTOMATION  (NO AI)</a:t>
            </a:r>
            <a:endParaRPr lang="en-US" sz="1700" dirty="0"/>
          </a:p>
        </p:txBody>
      </p:sp>
      <p:sp>
        <p:nvSpPr>
          <p:cNvPr id="25" name="Text 21"/>
          <p:cNvSpPr/>
          <p:nvPr/>
        </p:nvSpPr>
        <p:spPr>
          <a:xfrm>
            <a:off x="1627632" y="5029200"/>
            <a:ext cx="7863840" cy="274320"/>
          </a:xfrm>
          <a:prstGeom prst="rect">
            <a:avLst/>
          </a:prstGeom>
          <a:noFill/>
          <a:ln/>
        </p:spPr>
        <p:txBody>
          <a:bodyPr wrap="square" lIns="0" tIns="0" rIns="0" bIns="0" rtlCol="0" anchor="ctr"/>
          <a:lstStyle/>
          <a:p>
            <a:pPr indent="0" marL="0">
              <a:buNone/>
            </a:pPr>
            <a:r>
              <a:rPr lang="en-US" sz="1350" i="1" dirty="0">
                <a:solidFill>
                  <a:srgbClr val="A79DBF"/>
                </a:solidFill>
                <a:latin typeface="Calibri" pitchFamily="34" charset="0"/>
                <a:ea typeface="Calibri" pitchFamily="34" charset="-122"/>
                <a:cs typeface="Calibri" pitchFamily="34" charset="-120"/>
              </a:rPr>
              <a:t>"Follow these fixed rules."</a:t>
            </a:r>
            <a:endParaRPr lang="en-US" sz="1350" dirty="0"/>
          </a:p>
        </p:txBody>
      </p:sp>
      <p:sp>
        <p:nvSpPr>
          <p:cNvPr id="26" name="Text 22"/>
          <p:cNvSpPr/>
          <p:nvPr/>
        </p:nvSpPr>
        <p:spPr>
          <a:xfrm>
            <a:off x="1627632" y="5340096"/>
            <a:ext cx="8595360" cy="256032"/>
          </a:xfrm>
          <a:prstGeom prst="rect">
            <a:avLst/>
          </a:prstGeom>
          <a:noFill/>
          <a:ln/>
        </p:spPr>
        <p:txBody>
          <a:bodyPr wrap="square" lIns="0" tIns="0" rIns="0" bIns="0" rtlCol="0" anchor="ctr"/>
          <a:lstStyle/>
          <a:p>
            <a:pPr indent="0" marL="0">
              <a:buNone/>
            </a:pPr>
            <a:r>
              <a:rPr lang="en-US" sz="1100" dirty="0">
                <a:solidFill>
                  <a:srgbClr val="34D399"/>
                </a:solidFill>
                <a:latin typeface="Calibri" pitchFamily="34" charset="0"/>
                <a:ea typeface="Calibri" pitchFamily="34" charset="-122"/>
                <a:cs typeface="Calibri" pitchFamily="34" charset="-120"/>
              </a:rPr>
              <a:t>Fixed Rules  ·  No AI Decisions  ·  If This → Then That</a:t>
            </a:r>
            <a:endParaRPr lang="en-US" sz="1100" dirty="0"/>
          </a:p>
        </p:txBody>
      </p:sp>
      <p:sp>
        <p:nvSpPr>
          <p:cNvPr id="27" name="Shape 23"/>
          <p:cNvSpPr/>
          <p:nvPr/>
        </p:nvSpPr>
        <p:spPr>
          <a:xfrm>
            <a:off x="10616184" y="4828032"/>
            <a:ext cx="658368" cy="658368"/>
          </a:xfrm>
          <a:prstGeom prst="ellipse">
            <a:avLst/>
          </a:prstGeom>
          <a:solidFill>
            <a:srgbClr val="2E2745"/>
          </a:solidFill>
          <a:ln/>
        </p:spPr>
      </p:sp>
      <p:pic>
        <p:nvPicPr>
          <p:cNvPr id="28" name="Image 2" descr="preencoded.png">    </p:cNvPr>
          <p:cNvPicPr>
            <a:picLocks noChangeAspect="1"/>
          </p:cNvPicPr>
          <p:nvPr/>
        </p:nvPicPr>
        <p:blipFill>
          <a:blip r:embed="rId3"/>
          <a:stretch>
            <a:fillRect/>
          </a:stretch>
        </p:blipFill>
        <p:spPr>
          <a:xfrm>
            <a:off x="10780776" y="4992624"/>
            <a:ext cx="329184" cy="329184"/>
          </a:xfrm>
          <a:prstGeom prst="rect">
            <a:avLst/>
          </a:prstGeom>
        </p:spPr>
      </p:pic>
      <p:sp>
        <p:nvSpPr>
          <p:cNvPr id="29" name="Text 24"/>
          <p:cNvSpPr/>
          <p:nvPr/>
        </p:nvSpPr>
        <p:spPr>
          <a:xfrm>
            <a:off x="640080" y="5870448"/>
            <a:ext cx="10908792" cy="310896"/>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The test that never fails:   who decides the steps?</a:t>
            </a:r>
            <a:endParaRPr lang="en-US" sz="1400" dirty="0"/>
          </a:p>
        </p:txBody>
      </p:sp>
      <p:sp>
        <p:nvSpPr>
          <p:cNvPr id="30" name="Text 25"/>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31" name="Text 26"/>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HOW TO REMEMBER THEM</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One Line Each</a:t>
            </a:r>
            <a:endParaRPr lang="en-US" sz="3400" dirty="0"/>
          </a:p>
        </p:txBody>
      </p:sp>
      <p:sp>
        <p:nvSpPr>
          <p:cNvPr id="4" name="Shape 2"/>
          <p:cNvSpPr/>
          <p:nvPr/>
        </p:nvSpPr>
        <p:spPr>
          <a:xfrm>
            <a:off x="640080" y="1737360"/>
            <a:ext cx="3392424" cy="2697480"/>
          </a:xfrm>
          <a:prstGeom prst="roundRect">
            <a:avLst>
              <a:gd name="adj" fmla="val 4068"/>
            </a:avLst>
          </a:prstGeom>
          <a:solidFill>
            <a:srgbClr val="262038"/>
          </a:solidFill>
          <a:ln/>
        </p:spPr>
      </p:sp>
      <p:sp>
        <p:nvSpPr>
          <p:cNvPr id="5" name="Shape 3"/>
          <p:cNvSpPr/>
          <p:nvPr/>
        </p:nvSpPr>
        <p:spPr>
          <a:xfrm>
            <a:off x="960120" y="1993392"/>
            <a:ext cx="713232" cy="713232"/>
          </a:xfrm>
          <a:prstGeom prst="ellipse">
            <a:avLst/>
          </a:prstGeom>
          <a:solidFill>
            <a:srgbClr val="2E2745"/>
          </a:solidFill>
          <a:ln/>
        </p:spPr>
      </p:sp>
      <p:pic>
        <p:nvPicPr>
          <p:cNvPr id="6" name="Image 0" descr="preencoded.png">    </p:cNvPr>
          <p:cNvPicPr>
            <a:picLocks noChangeAspect="1"/>
          </p:cNvPicPr>
          <p:nvPr/>
        </p:nvPicPr>
        <p:blipFill>
          <a:blip r:embed="rId1"/>
          <a:stretch>
            <a:fillRect/>
          </a:stretch>
        </p:blipFill>
        <p:spPr>
          <a:xfrm>
            <a:off x="1138428" y="2171700"/>
            <a:ext cx="356616" cy="356616"/>
          </a:xfrm>
          <a:prstGeom prst="rect">
            <a:avLst/>
          </a:prstGeom>
        </p:spPr>
      </p:pic>
      <p:sp>
        <p:nvSpPr>
          <p:cNvPr id="7" name="Text 4"/>
          <p:cNvSpPr/>
          <p:nvPr/>
        </p:nvSpPr>
        <p:spPr>
          <a:xfrm>
            <a:off x="960120" y="2871216"/>
            <a:ext cx="2752344" cy="274320"/>
          </a:xfrm>
          <a:prstGeom prst="rect">
            <a:avLst/>
          </a:prstGeom>
          <a:noFill/>
          <a:ln/>
        </p:spPr>
        <p:txBody>
          <a:bodyPr wrap="square" lIns="0" tIns="0" rIns="0" bIns="0" rtlCol="0" anchor="ctr"/>
          <a:lstStyle/>
          <a:p>
            <a:pPr indent="0" marL="0">
              <a:buNone/>
            </a:pPr>
            <a:r>
              <a:rPr lang="en-US" sz="1250" b="1" spc="140" kern="0" dirty="0">
                <a:solidFill>
                  <a:srgbClr val="34D399"/>
                </a:solidFill>
                <a:latin typeface="Arial" pitchFamily="34" charset="0"/>
                <a:ea typeface="Arial" pitchFamily="34" charset="-122"/>
                <a:cs typeface="Arial" pitchFamily="34" charset="-120"/>
              </a:rPr>
              <a:t>AUTOMATION</a:t>
            </a:r>
            <a:endParaRPr lang="en-US" sz="1250" dirty="0"/>
          </a:p>
        </p:txBody>
      </p:sp>
      <p:sp>
        <p:nvSpPr>
          <p:cNvPr id="8" name="Text 5"/>
          <p:cNvSpPr/>
          <p:nvPr/>
        </p:nvSpPr>
        <p:spPr>
          <a:xfrm>
            <a:off x="960120" y="3218688"/>
            <a:ext cx="2752344" cy="1097280"/>
          </a:xfrm>
          <a:prstGeom prst="rect">
            <a:avLst/>
          </a:prstGeom>
          <a:noFill/>
          <a:ln/>
        </p:spPr>
        <p:txBody>
          <a:bodyPr wrap="square" lIns="0" tIns="0" rIns="0" bIns="0" rtlCol="0" anchor="t"/>
          <a:lstStyle/>
          <a:p>
            <a:pPr indent="0" marL="0">
              <a:lnSpc>
                <a:spcPts val="2400"/>
              </a:lnSpc>
              <a:buNone/>
            </a:pPr>
            <a:r>
              <a:rPr lang="en-US" sz="1700" i="1" dirty="0">
                <a:solidFill>
                  <a:srgbClr val="F5F2FA"/>
                </a:solidFill>
                <a:latin typeface="Calibri" pitchFamily="34" charset="0"/>
                <a:ea typeface="Calibri" pitchFamily="34" charset="-122"/>
                <a:cs typeface="Calibri" pitchFamily="34" charset="-120"/>
              </a:rPr>
              <a:t>“Do exactly what I said.”</a:t>
            </a:r>
            <a:endParaRPr lang="en-US" sz="1700" dirty="0"/>
          </a:p>
        </p:txBody>
      </p:sp>
      <p:sp>
        <p:nvSpPr>
          <p:cNvPr id="9" name="Shape 6"/>
          <p:cNvSpPr/>
          <p:nvPr/>
        </p:nvSpPr>
        <p:spPr>
          <a:xfrm>
            <a:off x="4398264" y="1737360"/>
            <a:ext cx="3392424" cy="2697480"/>
          </a:xfrm>
          <a:prstGeom prst="roundRect">
            <a:avLst>
              <a:gd name="adj" fmla="val 4068"/>
            </a:avLst>
          </a:prstGeom>
          <a:solidFill>
            <a:srgbClr val="262038"/>
          </a:solidFill>
          <a:ln/>
        </p:spPr>
      </p:sp>
      <p:sp>
        <p:nvSpPr>
          <p:cNvPr id="10" name="Shape 7"/>
          <p:cNvSpPr/>
          <p:nvPr/>
        </p:nvSpPr>
        <p:spPr>
          <a:xfrm>
            <a:off x="4718304" y="1993392"/>
            <a:ext cx="713232" cy="713232"/>
          </a:xfrm>
          <a:prstGeom prst="ellipse">
            <a:avLst/>
          </a:prstGeom>
          <a:solidFill>
            <a:srgbClr val="2E2745"/>
          </a:solidFill>
          <a:ln/>
        </p:spPr>
      </p:sp>
      <p:pic>
        <p:nvPicPr>
          <p:cNvPr id="11" name="Image 1" descr="preencoded.png">    </p:cNvPr>
          <p:cNvPicPr>
            <a:picLocks noChangeAspect="1"/>
          </p:cNvPicPr>
          <p:nvPr/>
        </p:nvPicPr>
        <p:blipFill>
          <a:blip r:embed="rId2"/>
          <a:stretch>
            <a:fillRect/>
          </a:stretch>
        </p:blipFill>
        <p:spPr>
          <a:xfrm>
            <a:off x="4896612" y="2171700"/>
            <a:ext cx="356616" cy="356616"/>
          </a:xfrm>
          <a:prstGeom prst="rect">
            <a:avLst/>
          </a:prstGeom>
        </p:spPr>
      </p:pic>
      <p:sp>
        <p:nvSpPr>
          <p:cNvPr id="12" name="Text 8"/>
          <p:cNvSpPr/>
          <p:nvPr/>
        </p:nvSpPr>
        <p:spPr>
          <a:xfrm>
            <a:off x="4718304" y="2871216"/>
            <a:ext cx="2752344" cy="274320"/>
          </a:xfrm>
          <a:prstGeom prst="rect">
            <a:avLst/>
          </a:prstGeom>
          <a:noFill/>
          <a:ln/>
        </p:spPr>
        <p:txBody>
          <a:bodyPr wrap="square" lIns="0" tIns="0" rIns="0" bIns="0" rtlCol="0" anchor="ctr"/>
          <a:lstStyle/>
          <a:p>
            <a:pPr indent="0" marL="0">
              <a:buNone/>
            </a:pPr>
            <a:r>
              <a:rPr lang="en-US" sz="1250" b="1" spc="140" kern="0" dirty="0">
                <a:solidFill>
                  <a:srgbClr val="8B7FD7"/>
                </a:solidFill>
                <a:latin typeface="Arial" pitchFamily="34" charset="0"/>
                <a:ea typeface="Arial" pitchFamily="34" charset="-122"/>
                <a:cs typeface="Arial" pitchFamily="34" charset="-120"/>
              </a:rPr>
              <a:t>AI WORKFLOW</a:t>
            </a:r>
            <a:endParaRPr lang="en-US" sz="1250" dirty="0"/>
          </a:p>
        </p:txBody>
      </p:sp>
      <p:sp>
        <p:nvSpPr>
          <p:cNvPr id="13" name="Text 9"/>
          <p:cNvSpPr/>
          <p:nvPr/>
        </p:nvSpPr>
        <p:spPr>
          <a:xfrm>
            <a:off x="4718304" y="3218688"/>
            <a:ext cx="2752344" cy="1097280"/>
          </a:xfrm>
          <a:prstGeom prst="rect">
            <a:avLst/>
          </a:prstGeom>
          <a:noFill/>
          <a:ln/>
        </p:spPr>
        <p:txBody>
          <a:bodyPr wrap="square" lIns="0" tIns="0" rIns="0" bIns="0" rtlCol="0" anchor="t"/>
          <a:lstStyle/>
          <a:p>
            <a:pPr indent="0" marL="0">
              <a:lnSpc>
                <a:spcPts val="2400"/>
              </a:lnSpc>
              <a:buNone/>
            </a:pPr>
            <a:r>
              <a:rPr lang="en-US" sz="1700" i="1" dirty="0">
                <a:solidFill>
                  <a:srgbClr val="F5F2FA"/>
                </a:solidFill>
                <a:latin typeface="Calibri" pitchFamily="34" charset="0"/>
                <a:ea typeface="Calibri" pitchFamily="34" charset="-122"/>
                <a:cs typeface="Calibri" pitchFamily="34" charset="-120"/>
              </a:rPr>
              <a:t>“Follow my process — use AI where it’s needed.”</a:t>
            </a:r>
            <a:endParaRPr lang="en-US" sz="1700" dirty="0"/>
          </a:p>
        </p:txBody>
      </p:sp>
      <p:sp>
        <p:nvSpPr>
          <p:cNvPr id="14" name="Shape 10"/>
          <p:cNvSpPr/>
          <p:nvPr/>
        </p:nvSpPr>
        <p:spPr>
          <a:xfrm>
            <a:off x="8156448" y="1737360"/>
            <a:ext cx="3392424" cy="2697480"/>
          </a:xfrm>
          <a:prstGeom prst="roundRect">
            <a:avLst>
              <a:gd name="adj" fmla="val 4068"/>
            </a:avLst>
          </a:prstGeom>
          <a:solidFill>
            <a:srgbClr val="262038"/>
          </a:solidFill>
          <a:ln/>
        </p:spPr>
      </p:sp>
      <p:sp>
        <p:nvSpPr>
          <p:cNvPr id="15" name="Shape 11"/>
          <p:cNvSpPr/>
          <p:nvPr/>
        </p:nvSpPr>
        <p:spPr>
          <a:xfrm>
            <a:off x="8476488" y="1993392"/>
            <a:ext cx="713232" cy="713232"/>
          </a:xfrm>
          <a:prstGeom prst="ellipse">
            <a:avLst/>
          </a:prstGeom>
          <a:solidFill>
            <a:srgbClr val="2E2745"/>
          </a:solidFill>
          <a:ln/>
        </p:spPr>
      </p:sp>
      <p:pic>
        <p:nvPicPr>
          <p:cNvPr id="16" name="Image 2" descr="preencoded.png">    </p:cNvPr>
          <p:cNvPicPr>
            <a:picLocks noChangeAspect="1"/>
          </p:cNvPicPr>
          <p:nvPr/>
        </p:nvPicPr>
        <p:blipFill>
          <a:blip r:embed="rId3"/>
          <a:stretch>
            <a:fillRect/>
          </a:stretch>
        </p:blipFill>
        <p:spPr>
          <a:xfrm>
            <a:off x="8654796" y="2171700"/>
            <a:ext cx="356616" cy="356616"/>
          </a:xfrm>
          <a:prstGeom prst="rect">
            <a:avLst/>
          </a:prstGeom>
        </p:spPr>
      </p:pic>
      <p:sp>
        <p:nvSpPr>
          <p:cNvPr id="17" name="Text 12"/>
          <p:cNvSpPr/>
          <p:nvPr/>
        </p:nvSpPr>
        <p:spPr>
          <a:xfrm>
            <a:off x="8476488" y="2871216"/>
            <a:ext cx="2752344" cy="274320"/>
          </a:xfrm>
          <a:prstGeom prst="rect">
            <a:avLst/>
          </a:prstGeom>
          <a:noFill/>
          <a:ln/>
        </p:spPr>
        <p:txBody>
          <a:bodyPr wrap="square" lIns="0" tIns="0" rIns="0" bIns="0" rtlCol="0" anchor="ctr"/>
          <a:lstStyle/>
          <a:p>
            <a:pPr indent="0" marL="0">
              <a:buNone/>
            </a:pPr>
            <a:r>
              <a:rPr lang="en-US" sz="1250" b="1" spc="140" kern="0" dirty="0">
                <a:solidFill>
                  <a:srgbClr val="EA4B71"/>
                </a:solidFill>
                <a:latin typeface="Arial" pitchFamily="34" charset="0"/>
                <a:ea typeface="Arial" pitchFamily="34" charset="-122"/>
                <a:cs typeface="Arial" pitchFamily="34" charset="-120"/>
              </a:rPr>
              <a:t>AI AGENT</a:t>
            </a:r>
            <a:endParaRPr lang="en-US" sz="1250" dirty="0"/>
          </a:p>
        </p:txBody>
      </p:sp>
      <p:sp>
        <p:nvSpPr>
          <p:cNvPr id="18" name="Text 13"/>
          <p:cNvSpPr/>
          <p:nvPr/>
        </p:nvSpPr>
        <p:spPr>
          <a:xfrm>
            <a:off x="8476488" y="3218688"/>
            <a:ext cx="2752344" cy="1097280"/>
          </a:xfrm>
          <a:prstGeom prst="rect">
            <a:avLst/>
          </a:prstGeom>
          <a:noFill/>
          <a:ln/>
        </p:spPr>
        <p:txBody>
          <a:bodyPr wrap="square" lIns="0" tIns="0" rIns="0" bIns="0" rtlCol="0" anchor="t"/>
          <a:lstStyle/>
          <a:p>
            <a:pPr indent="0" marL="0">
              <a:lnSpc>
                <a:spcPts val="2400"/>
              </a:lnSpc>
              <a:buNone/>
            </a:pPr>
            <a:r>
              <a:rPr lang="en-US" sz="1700" i="1" dirty="0">
                <a:solidFill>
                  <a:srgbClr val="F5F2FA"/>
                </a:solidFill>
                <a:latin typeface="Calibri" pitchFamily="34" charset="0"/>
                <a:ea typeface="Calibri" pitchFamily="34" charset="-122"/>
                <a:cs typeface="Calibri" pitchFamily="34" charset="-120"/>
              </a:rPr>
              <a:t>“Here’s the goal. You decide the steps.”</a:t>
            </a:r>
            <a:endParaRPr lang="en-US" sz="1700" dirty="0"/>
          </a:p>
        </p:txBody>
      </p:sp>
      <p:sp>
        <p:nvSpPr>
          <p:cNvPr id="19" name="Text 14"/>
          <p:cNvSpPr/>
          <p:nvPr/>
        </p:nvSpPr>
        <p:spPr>
          <a:xfrm>
            <a:off x="640080" y="4754880"/>
            <a:ext cx="10908792" cy="329184"/>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Notice what changes: how much you say — and how much is left to the system.</a:t>
            </a:r>
            <a:endParaRPr lang="en-US" sz="1400" dirty="0"/>
          </a:p>
        </p:txBody>
      </p:sp>
      <p:sp>
        <p:nvSpPr>
          <p:cNvPr id="20" name="Text 15"/>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21" name="Text 16"/>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THE ANALOGY</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ATM  ·  Smart Waiter  ·  Event Planner</a:t>
            </a:r>
            <a:endParaRPr lang="en-US" sz="3400" dirty="0"/>
          </a:p>
        </p:txBody>
      </p:sp>
      <p:sp>
        <p:nvSpPr>
          <p:cNvPr id="4" name="Shape 2"/>
          <p:cNvSpPr/>
          <p:nvPr/>
        </p:nvSpPr>
        <p:spPr>
          <a:xfrm>
            <a:off x="640080" y="1737360"/>
            <a:ext cx="3392424" cy="3108960"/>
          </a:xfrm>
          <a:prstGeom prst="roundRect">
            <a:avLst>
              <a:gd name="adj" fmla="val 3529"/>
            </a:avLst>
          </a:prstGeom>
          <a:solidFill>
            <a:srgbClr val="262038"/>
          </a:solidFill>
          <a:ln/>
        </p:spPr>
      </p:sp>
      <p:sp>
        <p:nvSpPr>
          <p:cNvPr id="5" name="Shape 3"/>
          <p:cNvSpPr/>
          <p:nvPr/>
        </p:nvSpPr>
        <p:spPr>
          <a:xfrm>
            <a:off x="960120" y="2011680"/>
            <a:ext cx="713232" cy="713232"/>
          </a:xfrm>
          <a:prstGeom prst="ellipse">
            <a:avLst/>
          </a:prstGeom>
          <a:solidFill>
            <a:srgbClr val="2E2745"/>
          </a:solidFill>
          <a:ln/>
        </p:spPr>
      </p:sp>
      <p:pic>
        <p:nvPicPr>
          <p:cNvPr id="6" name="Image 0" descr="preencoded.png">    </p:cNvPr>
          <p:cNvPicPr>
            <a:picLocks noChangeAspect="1"/>
          </p:cNvPicPr>
          <p:nvPr/>
        </p:nvPicPr>
        <p:blipFill>
          <a:blip r:embed="rId1"/>
          <a:stretch>
            <a:fillRect/>
          </a:stretch>
        </p:blipFill>
        <p:spPr>
          <a:xfrm>
            <a:off x="1138428" y="2189988"/>
            <a:ext cx="356616" cy="356616"/>
          </a:xfrm>
          <a:prstGeom prst="rect">
            <a:avLst/>
          </a:prstGeom>
        </p:spPr>
      </p:pic>
      <p:sp>
        <p:nvSpPr>
          <p:cNvPr id="7" name="Text 4"/>
          <p:cNvSpPr/>
          <p:nvPr/>
        </p:nvSpPr>
        <p:spPr>
          <a:xfrm>
            <a:off x="960120" y="2907792"/>
            <a:ext cx="2752344" cy="237744"/>
          </a:xfrm>
          <a:prstGeom prst="rect">
            <a:avLst/>
          </a:prstGeom>
          <a:noFill/>
          <a:ln/>
        </p:spPr>
        <p:txBody>
          <a:bodyPr wrap="square" lIns="0" tIns="0" rIns="0" bIns="0" rtlCol="0" anchor="ctr"/>
          <a:lstStyle/>
          <a:p>
            <a:pPr indent="0" marL="0">
              <a:buNone/>
            </a:pPr>
            <a:r>
              <a:rPr lang="en-US" sz="1050" b="1" spc="140" kern="0" dirty="0">
                <a:solidFill>
                  <a:srgbClr val="34D399"/>
                </a:solidFill>
                <a:latin typeface="Arial" pitchFamily="34" charset="0"/>
                <a:ea typeface="Arial" pitchFamily="34" charset="-122"/>
                <a:cs typeface="Arial" pitchFamily="34" charset="-120"/>
              </a:rPr>
              <a:t>AUTOMATION</a:t>
            </a:r>
            <a:endParaRPr lang="en-US" sz="1050" dirty="0"/>
          </a:p>
        </p:txBody>
      </p:sp>
      <p:sp>
        <p:nvSpPr>
          <p:cNvPr id="8" name="Text 5"/>
          <p:cNvSpPr/>
          <p:nvPr/>
        </p:nvSpPr>
        <p:spPr>
          <a:xfrm>
            <a:off x="960120" y="3163824"/>
            <a:ext cx="2752344" cy="347472"/>
          </a:xfrm>
          <a:prstGeom prst="rect">
            <a:avLst/>
          </a:prstGeom>
          <a:noFill/>
          <a:ln/>
        </p:spPr>
        <p:txBody>
          <a:bodyPr wrap="square" lIns="0" tIns="0" rIns="0" bIns="0" rtlCol="0" anchor="ctr"/>
          <a:lstStyle/>
          <a:p>
            <a:pPr indent="0" marL="0">
              <a:buNone/>
            </a:pPr>
            <a:r>
              <a:rPr lang="en-US" sz="1900" b="1" dirty="0">
                <a:solidFill>
                  <a:srgbClr val="F5F2FA"/>
                </a:solidFill>
                <a:latin typeface="Arial" pitchFamily="34" charset="0"/>
                <a:ea typeface="Arial" pitchFamily="34" charset="-122"/>
                <a:cs typeface="Arial" pitchFamily="34" charset="-120"/>
              </a:rPr>
              <a:t>The ATM</a:t>
            </a:r>
            <a:endParaRPr lang="en-US" sz="1900" dirty="0"/>
          </a:p>
        </p:txBody>
      </p:sp>
      <p:sp>
        <p:nvSpPr>
          <p:cNvPr id="9" name="Text 6"/>
          <p:cNvSpPr/>
          <p:nvPr/>
        </p:nvSpPr>
        <p:spPr>
          <a:xfrm>
            <a:off x="960120" y="3639312"/>
            <a:ext cx="2752344" cy="1051560"/>
          </a:xfrm>
          <a:prstGeom prst="rect">
            <a:avLst/>
          </a:prstGeom>
          <a:noFill/>
          <a:ln/>
        </p:spPr>
        <p:txBody>
          <a:bodyPr wrap="square" lIns="0" tIns="0" rIns="0" bIns="0" rtlCol="0" anchor="t"/>
          <a:lstStyle/>
          <a:p>
            <a:pPr indent="0" marL="0">
              <a:lnSpc>
                <a:spcPts val="1800"/>
              </a:lnSpc>
              <a:buNone/>
            </a:pPr>
            <a:r>
              <a:rPr lang="en-US" sz="1300" dirty="0">
                <a:solidFill>
                  <a:srgbClr val="A79DBF"/>
                </a:solidFill>
                <a:latin typeface="Calibri" pitchFamily="34" charset="0"/>
                <a:ea typeface="Calibri" pitchFamily="34" charset="-122"/>
                <a:cs typeface="Calibri" pitchFamily="34" charset="-120"/>
              </a:rPr>
              <a:t>Card → PIN → cash. The same steps, every single time. An ATM never thinks about your situation.</a:t>
            </a:r>
            <a:endParaRPr lang="en-US" sz="1300" dirty="0"/>
          </a:p>
        </p:txBody>
      </p:sp>
      <p:sp>
        <p:nvSpPr>
          <p:cNvPr id="10" name="Shape 7"/>
          <p:cNvSpPr/>
          <p:nvPr/>
        </p:nvSpPr>
        <p:spPr>
          <a:xfrm>
            <a:off x="4398264" y="1737360"/>
            <a:ext cx="3392424" cy="3108960"/>
          </a:xfrm>
          <a:prstGeom prst="roundRect">
            <a:avLst>
              <a:gd name="adj" fmla="val 3529"/>
            </a:avLst>
          </a:prstGeom>
          <a:solidFill>
            <a:srgbClr val="262038"/>
          </a:solidFill>
          <a:ln/>
        </p:spPr>
      </p:sp>
      <p:sp>
        <p:nvSpPr>
          <p:cNvPr id="11" name="Shape 8"/>
          <p:cNvSpPr/>
          <p:nvPr/>
        </p:nvSpPr>
        <p:spPr>
          <a:xfrm>
            <a:off x="4718304" y="2011680"/>
            <a:ext cx="713232" cy="713232"/>
          </a:xfrm>
          <a:prstGeom prst="ellipse">
            <a:avLst/>
          </a:prstGeom>
          <a:solidFill>
            <a:srgbClr val="2E2745"/>
          </a:solidFill>
          <a:ln/>
        </p:spPr>
      </p:sp>
      <p:pic>
        <p:nvPicPr>
          <p:cNvPr id="12" name="Image 1" descr="preencoded.png">    </p:cNvPr>
          <p:cNvPicPr>
            <a:picLocks noChangeAspect="1"/>
          </p:cNvPicPr>
          <p:nvPr/>
        </p:nvPicPr>
        <p:blipFill>
          <a:blip r:embed="rId2"/>
          <a:stretch>
            <a:fillRect/>
          </a:stretch>
        </p:blipFill>
        <p:spPr>
          <a:xfrm>
            <a:off x="4896612" y="2189988"/>
            <a:ext cx="356616" cy="356616"/>
          </a:xfrm>
          <a:prstGeom prst="rect">
            <a:avLst/>
          </a:prstGeom>
        </p:spPr>
      </p:pic>
      <p:sp>
        <p:nvSpPr>
          <p:cNvPr id="13" name="Text 9"/>
          <p:cNvSpPr/>
          <p:nvPr/>
        </p:nvSpPr>
        <p:spPr>
          <a:xfrm>
            <a:off x="4718304" y="2907792"/>
            <a:ext cx="2752344" cy="237744"/>
          </a:xfrm>
          <a:prstGeom prst="rect">
            <a:avLst/>
          </a:prstGeom>
          <a:noFill/>
          <a:ln/>
        </p:spPr>
        <p:txBody>
          <a:bodyPr wrap="square" lIns="0" tIns="0" rIns="0" bIns="0" rtlCol="0" anchor="ctr"/>
          <a:lstStyle/>
          <a:p>
            <a:pPr indent="0" marL="0">
              <a:buNone/>
            </a:pPr>
            <a:r>
              <a:rPr lang="en-US" sz="1050" b="1" spc="140" kern="0" dirty="0">
                <a:solidFill>
                  <a:srgbClr val="8B7FD7"/>
                </a:solidFill>
                <a:latin typeface="Arial" pitchFamily="34" charset="0"/>
                <a:ea typeface="Arial" pitchFamily="34" charset="-122"/>
                <a:cs typeface="Arial" pitchFamily="34" charset="-120"/>
              </a:rPr>
              <a:t>AI WORKFLOW</a:t>
            </a:r>
            <a:endParaRPr lang="en-US" sz="1050" dirty="0"/>
          </a:p>
        </p:txBody>
      </p:sp>
      <p:sp>
        <p:nvSpPr>
          <p:cNvPr id="14" name="Text 10"/>
          <p:cNvSpPr/>
          <p:nvPr/>
        </p:nvSpPr>
        <p:spPr>
          <a:xfrm>
            <a:off x="4718304" y="3163824"/>
            <a:ext cx="2752344" cy="347472"/>
          </a:xfrm>
          <a:prstGeom prst="rect">
            <a:avLst/>
          </a:prstGeom>
          <a:noFill/>
          <a:ln/>
        </p:spPr>
        <p:txBody>
          <a:bodyPr wrap="square" lIns="0" tIns="0" rIns="0" bIns="0" rtlCol="0" anchor="ctr"/>
          <a:lstStyle/>
          <a:p>
            <a:pPr indent="0" marL="0">
              <a:buNone/>
            </a:pPr>
            <a:r>
              <a:rPr lang="en-US" sz="1900" b="1" dirty="0">
                <a:solidFill>
                  <a:srgbClr val="F5F2FA"/>
                </a:solidFill>
                <a:latin typeface="Arial" pitchFamily="34" charset="0"/>
                <a:ea typeface="Arial" pitchFamily="34" charset="-122"/>
                <a:cs typeface="Arial" pitchFamily="34" charset="-120"/>
              </a:rPr>
              <a:t>The Smart Waiter</a:t>
            </a:r>
            <a:endParaRPr lang="en-US" sz="1900" dirty="0"/>
          </a:p>
        </p:txBody>
      </p:sp>
      <p:sp>
        <p:nvSpPr>
          <p:cNvPr id="15" name="Text 11"/>
          <p:cNvSpPr/>
          <p:nvPr/>
        </p:nvSpPr>
        <p:spPr>
          <a:xfrm>
            <a:off x="4718304" y="3639312"/>
            <a:ext cx="2752344" cy="1051560"/>
          </a:xfrm>
          <a:prstGeom prst="rect">
            <a:avLst/>
          </a:prstGeom>
          <a:noFill/>
          <a:ln/>
        </p:spPr>
        <p:txBody>
          <a:bodyPr wrap="square" lIns="0" tIns="0" rIns="0" bIns="0" rtlCol="0" anchor="t"/>
          <a:lstStyle/>
          <a:p>
            <a:pPr indent="0" marL="0">
              <a:lnSpc>
                <a:spcPts val="1800"/>
              </a:lnSpc>
              <a:buNone/>
            </a:pPr>
            <a:r>
              <a:rPr lang="en-US" sz="1300" dirty="0">
                <a:solidFill>
                  <a:srgbClr val="A79DBF"/>
                </a:solidFill>
                <a:latin typeface="Calibri" pitchFamily="34" charset="0"/>
                <a:ea typeface="Calibri" pitchFamily="34" charset="-122"/>
                <a:cs typeface="Calibri" pitchFamily="34" charset="-120"/>
              </a:rPr>
              <a:t>The process is fixed — take the order, kitchen, serve. But he understands your mixed Urdu-English order.</a:t>
            </a:r>
            <a:endParaRPr lang="en-US" sz="1300" dirty="0"/>
          </a:p>
        </p:txBody>
      </p:sp>
      <p:sp>
        <p:nvSpPr>
          <p:cNvPr id="16" name="Shape 12"/>
          <p:cNvSpPr/>
          <p:nvPr/>
        </p:nvSpPr>
        <p:spPr>
          <a:xfrm>
            <a:off x="8156448" y="1737360"/>
            <a:ext cx="3392424" cy="3108960"/>
          </a:xfrm>
          <a:prstGeom prst="roundRect">
            <a:avLst>
              <a:gd name="adj" fmla="val 3529"/>
            </a:avLst>
          </a:prstGeom>
          <a:solidFill>
            <a:srgbClr val="262038"/>
          </a:solidFill>
          <a:ln/>
        </p:spPr>
      </p:sp>
      <p:sp>
        <p:nvSpPr>
          <p:cNvPr id="17" name="Shape 13"/>
          <p:cNvSpPr/>
          <p:nvPr/>
        </p:nvSpPr>
        <p:spPr>
          <a:xfrm>
            <a:off x="8476488" y="2011680"/>
            <a:ext cx="713232" cy="713232"/>
          </a:xfrm>
          <a:prstGeom prst="ellipse">
            <a:avLst/>
          </a:prstGeom>
          <a:solidFill>
            <a:srgbClr val="2E2745"/>
          </a:solidFill>
          <a:ln/>
        </p:spPr>
      </p:sp>
      <p:pic>
        <p:nvPicPr>
          <p:cNvPr id="18" name="Image 2" descr="preencoded.png">    </p:cNvPr>
          <p:cNvPicPr>
            <a:picLocks noChangeAspect="1"/>
          </p:cNvPicPr>
          <p:nvPr/>
        </p:nvPicPr>
        <p:blipFill>
          <a:blip r:embed="rId3"/>
          <a:stretch>
            <a:fillRect/>
          </a:stretch>
        </p:blipFill>
        <p:spPr>
          <a:xfrm>
            <a:off x="8654796" y="2189988"/>
            <a:ext cx="356616" cy="356616"/>
          </a:xfrm>
          <a:prstGeom prst="rect">
            <a:avLst/>
          </a:prstGeom>
        </p:spPr>
      </p:pic>
      <p:sp>
        <p:nvSpPr>
          <p:cNvPr id="19" name="Text 14"/>
          <p:cNvSpPr/>
          <p:nvPr/>
        </p:nvSpPr>
        <p:spPr>
          <a:xfrm>
            <a:off x="8476488" y="2907792"/>
            <a:ext cx="2752344" cy="237744"/>
          </a:xfrm>
          <a:prstGeom prst="rect">
            <a:avLst/>
          </a:prstGeom>
          <a:noFill/>
          <a:ln/>
        </p:spPr>
        <p:txBody>
          <a:bodyPr wrap="square" lIns="0" tIns="0" rIns="0" bIns="0" rtlCol="0" anchor="ctr"/>
          <a:lstStyle/>
          <a:p>
            <a:pPr indent="0" marL="0">
              <a:buNone/>
            </a:pPr>
            <a:r>
              <a:rPr lang="en-US" sz="1050" b="1" spc="140" kern="0" dirty="0">
                <a:solidFill>
                  <a:srgbClr val="EA4B71"/>
                </a:solidFill>
                <a:latin typeface="Arial" pitchFamily="34" charset="0"/>
                <a:ea typeface="Arial" pitchFamily="34" charset="-122"/>
                <a:cs typeface="Arial" pitchFamily="34" charset="-120"/>
              </a:rPr>
              <a:t>AI AGENT</a:t>
            </a:r>
            <a:endParaRPr lang="en-US" sz="1050" dirty="0"/>
          </a:p>
        </p:txBody>
      </p:sp>
      <p:sp>
        <p:nvSpPr>
          <p:cNvPr id="20" name="Text 15"/>
          <p:cNvSpPr/>
          <p:nvPr/>
        </p:nvSpPr>
        <p:spPr>
          <a:xfrm>
            <a:off x="8476488" y="3163824"/>
            <a:ext cx="2752344" cy="347472"/>
          </a:xfrm>
          <a:prstGeom prst="rect">
            <a:avLst/>
          </a:prstGeom>
          <a:noFill/>
          <a:ln/>
        </p:spPr>
        <p:txBody>
          <a:bodyPr wrap="square" lIns="0" tIns="0" rIns="0" bIns="0" rtlCol="0" anchor="ctr"/>
          <a:lstStyle/>
          <a:p>
            <a:pPr indent="0" marL="0">
              <a:buNone/>
            </a:pPr>
            <a:r>
              <a:rPr lang="en-US" sz="1900" b="1" dirty="0">
                <a:solidFill>
                  <a:srgbClr val="F5F2FA"/>
                </a:solidFill>
                <a:latin typeface="Arial" pitchFamily="34" charset="0"/>
                <a:ea typeface="Arial" pitchFamily="34" charset="-122"/>
                <a:cs typeface="Arial" pitchFamily="34" charset="-120"/>
              </a:rPr>
              <a:t>The Event Planner</a:t>
            </a:r>
            <a:endParaRPr lang="en-US" sz="1900" dirty="0"/>
          </a:p>
        </p:txBody>
      </p:sp>
      <p:sp>
        <p:nvSpPr>
          <p:cNvPr id="21" name="Text 16"/>
          <p:cNvSpPr/>
          <p:nvPr/>
        </p:nvSpPr>
        <p:spPr>
          <a:xfrm>
            <a:off x="8476488" y="3639312"/>
            <a:ext cx="2752344" cy="1051560"/>
          </a:xfrm>
          <a:prstGeom prst="rect">
            <a:avLst/>
          </a:prstGeom>
          <a:noFill/>
          <a:ln/>
        </p:spPr>
        <p:txBody>
          <a:bodyPr wrap="square" lIns="0" tIns="0" rIns="0" bIns="0" rtlCol="0" anchor="t"/>
          <a:lstStyle/>
          <a:p>
            <a:pPr indent="0" marL="0">
              <a:lnSpc>
                <a:spcPts val="1800"/>
              </a:lnSpc>
              <a:buNone/>
            </a:pPr>
            <a:r>
              <a:rPr lang="en-US" sz="1300" dirty="0">
                <a:solidFill>
                  <a:srgbClr val="A79DBF"/>
                </a:solidFill>
                <a:latin typeface="Calibri" pitchFamily="34" charset="0"/>
                <a:ea typeface="Calibri" pitchFamily="34" charset="-122"/>
                <a:cs typeface="Calibri" pitchFamily="34" charset="-120"/>
              </a:rPr>
              <a:t>“Good wedding, 5 lakh budget.” Venue, food, decor — every decision is his. You only gave the goal.</a:t>
            </a:r>
            <a:endParaRPr lang="en-US" sz="1300" dirty="0"/>
          </a:p>
        </p:txBody>
      </p:sp>
      <p:sp>
        <p:nvSpPr>
          <p:cNvPr id="22" name="Text 17"/>
          <p:cNvSpPr/>
          <p:nvPr/>
        </p:nvSpPr>
        <p:spPr>
          <a:xfrm>
            <a:off x="640080" y="5120640"/>
            <a:ext cx="10908792" cy="329184"/>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The jump from waiter to planner is the one most people get wrong.</a:t>
            </a:r>
            <a:endParaRPr lang="en-US" sz="1400" dirty="0"/>
          </a:p>
        </p:txBody>
      </p:sp>
      <p:sp>
        <p:nvSpPr>
          <p:cNvPr id="23" name="Text 18"/>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24" name="Text 19"/>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34D399"/>
                </a:solidFill>
                <a:latin typeface="Arial" pitchFamily="34" charset="0"/>
                <a:ea typeface="Arial" pitchFamily="34" charset="-122"/>
                <a:cs typeface="Arial" pitchFamily="34" charset="-120"/>
              </a:rPr>
              <a:t>TIER 1</a:t>
            </a:r>
            <a:endParaRPr lang="en-US" sz="1300" dirty="0"/>
          </a:p>
        </p:txBody>
      </p:sp>
      <p:sp>
        <p:nvSpPr>
          <p:cNvPr id="3" name="Text 1"/>
          <p:cNvSpPr/>
          <p:nvPr/>
        </p:nvSpPr>
        <p:spPr>
          <a:xfrm>
            <a:off x="640080" y="822960"/>
            <a:ext cx="8138160" cy="566928"/>
          </a:xfrm>
          <a:prstGeom prst="rect">
            <a:avLst/>
          </a:prstGeom>
          <a:noFill/>
          <a:ln/>
        </p:spPr>
        <p:txBody>
          <a:bodyPr wrap="square" lIns="0" tIns="0" rIns="0" bIns="0" rtlCol="0" anchor="ctr"/>
          <a:lstStyle/>
          <a:p>
            <a:pPr indent="0" marL="0">
              <a:buNone/>
            </a:pPr>
            <a:r>
              <a:rPr lang="en-US" sz="3200" b="1" dirty="0">
                <a:solidFill>
                  <a:srgbClr val="F5F2FA"/>
                </a:solidFill>
                <a:latin typeface="Arial" pitchFamily="34" charset="0"/>
                <a:ea typeface="Arial" pitchFamily="34" charset="-122"/>
                <a:cs typeface="Arial" pitchFamily="34" charset="-120"/>
              </a:rPr>
              <a:t>Automation — No AI</a:t>
            </a:r>
            <a:endParaRPr lang="en-US" sz="3200" dirty="0"/>
          </a:p>
        </p:txBody>
      </p:sp>
      <p:sp>
        <p:nvSpPr>
          <p:cNvPr id="4" name="Shape 2"/>
          <p:cNvSpPr/>
          <p:nvPr/>
        </p:nvSpPr>
        <p:spPr>
          <a:xfrm>
            <a:off x="9052560" y="621792"/>
            <a:ext cx="2496312" cy="384048"/>
          </a:xfrm>
          <a:prstGeom prst="roundRect">
            <a:avLst>
              <a:gd name="adj" fmla="val 16667"/>
            </a:avLst>
          </a:prstGeom>
          <a:solidFill>
            <a:srgbClr val="1B1526"/>
          </a:solidFill>
          <a:ln w="9525">
            <a:solidFill>
              <a:srgbClr val="2E2745"/>
            </a:solidFill>
            <a:prstDash val="solid"/>
          </a:ln>
        </p:spPr>
      </p:sp>
      <p:sp>
        <p:nvSpPr>
          <p:cNvPr id="5" name="Text 3"/>
          <p:cNvSpPr/>
          <p:nvPr/>
        </p:nvSpPr>
        <p:spPr>
          <a:xfrm>
            <a:off x="9198864" y="621792"/>
            <a:ext cx="2221992" cy="384048"/>
          </a:xfrm>
          <a:prstGeom prst="rect">
            <a:avLst/>
          </a:prstGeom>
          <a:noFill/>
          <a:ln/>
        </p:spPr>
        <p:txBody>
          <a:bodyPr wrap="square" lIns="0" tIns="0" rIns="0" bIns="0" rtlCol="0" anchor="ctr"/>
          <a:lstStyle/>
          <a:p>
            <a:pPr indent="0" marL="0">
              <a:buNone/>
            </a:pPr>
            <a:r>
              <a:rPr lang="en-US" sz="950" b="1" dirty="0">
                <a:solidFill>
                  <a:srgbClr val="2E2745"/>
                </a:solidFill>
                <a:latin typeface="Arial" pitchFamily="34" charset="0"/>
                <a:ea typeface="Arial" pitchFamily="34" charset="-122"/>
                <a:cs typeface="Arial" pitchFamily="34" charset="-120"/>
              </a:rPr>
              <a:t>3   AI AGENT</a:t>
            </a:r>
            <a:endParaRPr lang="en-US" sz="950" dirty="0"/>
          </a:p>
        </p:txBody>
      </p:sp>
      <p:sp>
        <p:nvSpPr>
          <p:cNvPr id="6" name="Shape 4"/>
          <p:cNvSpPr/>
          <p:nvPr/>
        </p:nvSpPr>
        <p:spPr>
          <a:xfrm>
            <a:off x="9052560" y="1088136"/>
            <a:ext cx="2496312" cy="384048"/>
          </a:xfrm>
          <a:prstGeom prst="roundRect">
            <a:avLst>
              <a:gd name="adj" fmla="val 16667"/>
            </a:avLst>
          </a:prstGeom>
          <a:solidFill>
            <a:srgbClr val="1B1526"/>
          </a:solidFill>
          <a:ln w="9525">
            <a:solidFill>
              <a:srgbClr val="2E2745"/>
            </a:solidFill>
            <a:prstDash val="solid"/>
          </a:ln>
        </p:spPr>
      </p:sp>
      <p:sp>
        <p:nvSpPr>
          <p:cNvPr id="7" name="Text 5"/>
          <p:cNvSpPr/>
          <p:nvPr/>
        </p:nvSpPr>
        <p:spPr>
          <a:xfrm>
            <a:off x="9198864" y="1088136"/>
            <a:ext cx="2221992" cy="384048"/>
          </a:xfrm>
          <a:prstGeom prst="rect">
            <a:avLst/>
          </a:prstGeom>
          <a:noFill/>
          <a:ln/>
        </p:spPr>
        <p:txBody>
          <a:bodyPr wrap="square" lIns="0" tIns="0" rIns="0" bIns="0" rtlCol="0" anchor="ctr"/>
          <a:lstStyle/>
          <a:p>
            <a:pPr indent="0" marL="0">
              <a:buNone/>
            </a:pPr>
            <a:r>
              <a:rPr lang="en-US" sz="950" b="1" dirty="0">
                <a:solidFill>
                  <a:srgbClr val="2E2745"/>
                </a:solidFill>
                <a:latin typeface="Arial" pitchFamily="34" charset="0"/>
                <a:ea typeface="Arial" pitchFamily="34" charset="-122"/>
                <a:cs typeface="Arial" pitchFamily="34" charset="-120"/>
              </a:rPr>
              <a:t>2   AI WORKFLOW</a:t>
            </a:r>
            <a:endParaRPr lang="en-US" sz="950" dirty="0"/>
          </a:p>
        </p:txBody>
      </p:sp>
      <p:sp>
        <p:nvSpPr>
          <p:cNvPr id="8" name="Shape 6"/>
          <p:cNvSpPr/>
          <p:nvPr/>
        </p:nvSpPr>
        <p:spPr>
          <a:xfrm>
            <a:off x="9052560" y="1554480"/>
            <a:ext cx="2496312" cy="384048"/>
          </a:xfrm>
          <a:prstGeom prst="roundRect">
            <a:avLst>
              <a:gd name="adj" fmla="val 16667"/>
            </a:avLst>
          </a:prstGeom>
          <a:solidFill>
            <a:srgbClr val="262038"/>
          </a:solidFill>
          <a:ln w="15875">
            <a:solidFill>
              <a:srgbClr val="34D399"/>
            </a:solidFill>
            <a:prstDash val="solid"/>
          </a:ln>
        </p:spPr>
      </p:sp>
      <p:sp>
        <p:nvSpPr>
          <p:cNvPr id="9" name="Text 7"/>
          <p:cNvSpPr/>
          <p:nvPr/>
        </p:nvSpPr>
        <p:spPr>
          <a:xfrm>
            <a:off x="9198864" y="1554480"/>
            <a:ext cx="2221992" cy="384048"/>
          </a:xfrm>
          <a:prstGeom prst="rect">
            <a:avLst/>
          </a:prstGeom>
          <a:noFill/>
          <a:ln/>
        </p:spPr>
        <p:txBody>
          <a:bodyPr wrap="square" lIns="0" tIns="0" rIns="0" bIns="0" rtlCol="0" anchor="ctr"/>
          <a:lstStyle/>
          <a:p>
            <a:pPr indent="0" marL="0">
              <a:buNone/>
            </a:pPr>
            <a:r>
              <a:rPr lang="en-US" sz="950" b="1" dirty="0">
                <a:solidFill>
                  <a:srgbClr val="34D399"/>
                </a:solidFill>
                <a:latin typeface="Arial" pitchFamily="34" charset="0"/>
                <a:ea typeface="Arial" pitchFamily="34" charset="-122"/>
                <a:cs typeface="Arial" pitchFamily="34" charset="-120"/>
              </a:rPr>
              <a:t>1   AUTOMATION</a:t>
            </a:r>
            <a:endParaRPr lang="en-US" sz="950" dirty="0"/>
          </a:p>
        </p:txBody>
      </p:sp>
      <p:sp>
        <p:nvSpPr>
          <p:cNvPr id="10" name="Shape 8"/>
          <p:cNvSpPr/>
          <p:nvPr/>
        </p:nvSpPr>
        <p:spPr>
          <a:xfrm>
            <a:off x="640080" y="2057400"/>
            <a:ext cx="10908792" cy="1325880"/>
          </a:xfrm>
          <a:prstGeom prst="roundRect">
            <a:avLst>
              <a:gd name="adj" fmla="val 8276"/>
            </a:avLst>
          </a:prstGeom>
          <a:solidFill>
            <a:srgbClr val="262038"/>
          </a:solidFill>
          <a:ln/>
        </p:spPr>
      </p:sp>
      <p:sp>
        <p:nvSpPr>
          <p:cNvPr id="11" name="Shape 9"/>
          <p:cNvSpPr/>
          <p:nvPr/>
        </p:nvSpPr>
        <p:spPr>
          <a:xfrm>
            <a:off x="960120" y="2377440"/>
            <a:ext cx="658368" cy="658368"/>
          </a:xfrm>
          <a:prstGeom prst="ellipse">
            <a:avLst/>
          </a:prstGeom>
          <a:solidFill>
            <a:srgbClr val="2E2745"/>
          </a:solidFill>
          <a:ln/>
        </p:spPr>
      </p:sp>
      <p:pic>
        <p:nvPicPr>
          <p:cNvPr id="12" name="Image 0" descr="preencoded.png">    </p:cNvPr>
          <p:cNvPicPr>
            <a:picLocks noChangeAspect="1"/>
          </p:cNvPicPr>
          <p:nvPr/>
        </p:nvPicPr>
        <p:blipFill>
          <a:blip r:embed="rId1"/>
          <a:stretch>
            <a:fillRect/>
          </a:stretch>
        </p:blipFill>
        <p:spPr>
          <a:xfrm>
            <a:off x="1124712" y="2542032"/>
            <a:ext cx="329184" cy="329184"/>
          </a:xfrm>
          <a:prstGeom prst="rect">
            <a:avLst/>
          </a:prstGeom>
        </p:spPr>
      </p:pic>
      <p:sp>
        <p:nvSpPr>
          <p:cNvPr id="13" name="Text 10"/>
          <p:cNvSpPr/>
          <p:nvPr/>
        </p:nvSpPr>
        <p:spPr>
          <a:xfrm>
            <a:off x="1810512" y="2286000"/>
            <a:ext cx="9308592" cy="914400"/>
          </a:xfrm>
          <a:prstGeom prst="rect">
            <a:avLst/>
          </a:prstGeom>
          <a:noFill/>
          <a:ln/>
        </p:spPr>
        <p:txBody>
          <a:bodyPr wrap="square" lIns="0" tIns="0" rIns="0" bIns="0" rtlCol="0" anchor="ctr"/>
          <a:lstStyle/>
          <a:p>
            <a:pPr indent="0" marL="0">
              <a:lnSpc>
                <a:spcPts val="2000"/>
              </a:lnSpc>
              <a:buNone/>
            </a:pPr>
            <a:r>
              <a:rPr lang="en-US" sz="1400" dirty="0">
                <a:solidFill>
                  <a:srgbClr val="F5F2FA"/>
                </a:solidFill>
                <a:latin typeface="Calibri" pitchFamily="34" charset="0"/>
                <a:ea typeface="Calibri" pitchFamily="34" charset="-122"/>
                <a:cs typeface="Calibri" pitchFamily="34" charset="-120"/>
              </a:rPr>
              <a:t>A system that follows fixed, pre-set rules. Same input → same output, every single time. No understanding, no decisions — just a trigger and its steps.</a:t>
            </a:r>
            <a:endParaRPr lang="en-US" sz="1400" dirty="0"/>
          </a:p>
        </p:txBody>
      </p:sp>
      <p:sp>
        <p:nvSpPr>
          <p:cNvPr id="14" name="Shape 11"/>
          <p:cNvSpPr/>
          <p:nvPr/>
        </p:nvSpPr>
        <p:spPr>
          <a:xfrm>
            <a:off x="640080" y="3566160"/>
            <a:ext cx="5225796" cy="1508760"/>
          </a:xfrm>
          <a:prstGeom prst="roundRect">
            <a:avLst>
              <a:gd name="adj" fmla="val 7273"/>
            </a:avLst>
          </a:prstGeom>
          <a:solidFill>
            <a:srgbClr val="262038"/>
          </a:solidFill>
          <a:ln/>
        </p:spPr>
      </p:sp>
      <p:sp>
        <p:nvSpPr>
          <p:cNvPr id="15" name="Shape 12"/>
          <p:cNvSpPr/>
          <p:nvPr/>
        </p:nvSpPr>
        <p:spPr>
          <a:xfrm>
            <a:off x="932688" y="3785616"/>
            <a:ext cx="566928" cy="566928"/>
          </a:xfrm>
          <a:prstGeom prst="ellipse">
            <a:avLst/>
          </a:prstGeom>
          <a:solidFill>
            <a:srgbClr val="2E2745"/>
          </a:solidFill>
          <a:ln/>
        </p:spPr>
      </p:sp>
      <p:pic>
        <p:nvPicPr>
          <p:cNvPr id="16" name="Image 1" descr="preencoded.png">    </p:cNvPr>
          <p:cNvPicPr>
            <a:picLocks noChangeAspect="1"/>
          </p:cNvPicPr>
          <p:nvPr/>
        </p:nvPicPr>
        <p:blipFill>
          <a:blip r:embed="rId2"/>
          <a:stretch>
            <a:fillRect/>
          </a:stretch>
        </p:blipFill>
        <p:spPr>
          <a:xfrm>
            <a:off x="1074420" y="3927348"/>
            <a:ext cx="283464" cy="283464"/>
          </a:xfrm>
          <a:prstGeom prst="rect">
            <a:avLst/>
          </a:prstGeom>
        </p:spPr>
      </p:pic>
      <p:sp>
        <p:nvSpPr>
          <p:cNvPr id="17" name="Text 13"/>
          <p:cNvSpPr/>
          <p:nvPr/>
        </p:nvSpPr>
        <p:spPr>
          <a:xfrm>
            <a:off x="1645920" y="3840480"/>
            <a:ext cx="3945636" cy="274320"/>
          </a:xfrm>
          <a:prstGeom prst="rect">
            <a:avLst/>
          </a:prstGeom>
          <a:noFill/>
          <a:ln/>
        </p:spPr>
        <p:txBody>
          <a:bodyPr wrap="square" lIns="0" tIns="0" rIns="0" bIns="0" rtlCol="0" anchor="ctr"/>
          <a:lstStyle/>
          <a:p>
            <a:pPr indent="0" marL="0">
              <a:buNone/>
            </a:pPr>
            <a:r>
              <a:rPr lang="en-US" sz="1450" b="1" dirty="0">
                <a:solidFill>
                  <a:srgbClr val="34D399"/>
                </a:solidFill>
                <a:latin typeface="Arial" pitchFamily="34" charset="0"/>
                <a:ea typeface="Arial" pitchFamily="34" charset="-122"/>
                <a:cs typeface="Arial" pitchFamily="34" charset="-120"/>
              </a:rPr>
              <a:t>Strength</a:t>
            </a:r>
            <a:endParaRPr lang="en-US" sz="1450" dirty="0"/>
          </a:p>
        </p:txBody>
      </p:sp>
      <p:sp>
        <p:nvSpPr>
          <p:cNvPr id="18" name="Text 14"/>
          <p:cNvSpPr/>
          <p:nvPr/>
        </p:nvSpPr>
        <p:spPr>
          <a:xfrm>
            <a:off x="932688" y="4370832"/>
            <a:ext cx="4640580" cy="594360"/>
          </a:xfrm>
          <a:prstGeom prst="rect">
            <a:avLst/>
          </a:prstGeom>
          <a:noFill/>
          <a:ln/>
        </p:spPr>
        <p:txBody>
          <a:bodyPr wrap="square" lIns="0" tIns="0" rIns="0" bIns="0" rtlCol="0" anchor="t"/>
          <a:lstStyle/>
          <a:p>
            <a:pPr indent="0" marL="0">
              <a:buNone/>
            </a:pPr>
            <a:r>
              <a:rPr lang="en-US" sz="1300" dirty="0">
                <a:solidFill>
                  <a:srgbClr val="A79DBF"/>
                </a:solidFill>
                <a:latin typeface="Calibri" pitchFamily="34" charset="0"/>
                <a:ea typeface="Calibri" pitchFamily="34" charset="-122"/>
                <a:cs typeface="Calibri" pitchFamily="34" charset="-120"/>
              </a:rPr>
              <a:t>Fully predictable, cheap and fast. Nothing to monitor.</a:t>
            </a:r>
            <a:endParaRPr lang="en-US" sz="1300" dirty="0"/>
          </a:p>
        </p:txBody>
      </p:sp>
      <p:sp>
        <p:nvSpPr>
          <p:cNvPr id="19" name="Shape 15"/>
          <p:cNvSpPr/>
          <p:nvPr/>
        </p:nvSpPr>
        <p:spPr>
          <a:xfrm>
            <a:off x="6323076" y="3566160"/>
            <a:ext cx="5225796" cy="1508760"/>
          </a:xfrm>
          <a:prstGeom prst="roundRect">
            <a:avLst>
              <a:gd name="adj" fmla="val 7273"/>
            </a:avLst>
          </a:prstGeom>
          <a:solidFill>
            <a:srgbClr val="262038"/>
          </a:solidFill>
          <a:ln/>
        </p:spPr>
      </p:sp>
      <p:sp>
        <p:nvSpPr>
          <p:cNvPr id="20" name="Shape 16"/>
          <p:cNvSpPr/>
          <p:nvPr/>
        </p:nvSpPr>
        <p:spPr>
          <a:xfrm>
            <a:off x="6615684" y="3785616"/>
            <a:ext cx="566928" cy="566928"/>
          </a:xfrm>
          <a:prstGeom prst="ellipse">
            <a:avLst/>
          </a:prstGeom>
          <a:solidFill>
            <a:srgbClr val="2E2745"/>
          </a:solidFill>
          <a:ln/>
        </p:spPr>
      </p:sp>
      <p:pic>
        <p:nvPicPr>
          <p:cNvPr id="21" name="Image 2" descr="preencoded.png">    </p:cNvPr>
          <p:cNvPicPr>
            <a:picLocks noChangeAspect="1"/>
          </p:cNvPicPr>
          <p:nvPr/>
        </p:nvPicPr>
        <p:blipFill>
          <a:blip r:embed="rId3"/>
          <a:stretch>
            <a:fillRect/>
          </a:stretch>
        </p:blipFill>
        <p:spPr>
          <a:xfrm>
            <a:off x="6757416" y="3927348"/>
            <a:ext cx="283464" cy="283464"/>
          </a:xfrm>
          <a:prstGeom prst="rect">
            <a:avLst/>
          </a:prstGeom>
        </p:spPr>
      </p:pic>
      <p:sp>
        <p:nvSpPr>
          <p:cNvPr id="22" name="Text 17"/>
          <p:cNvSpPr/>
          <p:nvPr/>
        </p:nvSpPr>
        <p:spPr>
          <a:xfrm>
            <a:off x="7328916" y="3840480"/>
            <a:ext cx="3945636" cy="274320"/>
          </a:xfrm>
          <a:prstGeom prst="rect">
            <a:avLst/>
          </a:prstGeom>
          <a:noFill/>
          <a:ln/>
        </p:spPr>
        <p:txBody>
          <a:bodyPr wrap="square" lIns="0" tIns="0" rIns="0" bIns="0" rtlCol="0" anchor="ctr"/>
          <a:lstStyle/>
          <a:p>
            <a:pPr indent="0" marL="0">
              <a:buNone/>
            </a:pPr>
            <a:r>
              <a:rPr lang="en-US" sz="1450" b="1" dirty="0">
                <a:solidFill>
                  <a:srgbClr val="EA4B71"/>
                </a:solidFill>
                <a:latin typeface="Arial" pitchFamily="34" charset="0"/>
                <a:ea typeface="Arial" pitchFamily="34" charset="-122"/>
                <a:cs typeface="Arial" pitchFamily="34" charset="-120"/>
              </a:rPr>
              <a:t>Limit</a:t>
            </a:r>
            <a:endParaRPr lang="en-US" sz="1450" dirty="0"/>
          </a:p>
        </p:txBody>
      </p:sp>
      <p:sp>
        <p:nvSpPr>
          <p:cNvPr id="23" name="Text 18"/>
          <p:cNvSpPr/>
          <p:nvPr/>
        </p:nvSpPr>
        <p:spPr>
          <a:xfrm>
            <a:off x="6615684" y="4370832"/>
            <a:ext cx="4640580" cy="594360"/>
          </a:xfrm>
          <a:prstGeom prst="rect">
            <a:avLst/>
          </a:prstGeom>
          <a:noFill/>
          <a:ln/>
        </p:spPr>
        <p:txBody>
          <a:bodyPr wrap="square" lIns="0" tIns="0" rIns="0" bIns="0" rtlCol="0" anchor="t"/>
          <a:lstStyle/>
          <a:p>
            <a:pPr indent="0" marL="0">
              <a:buNone/>
            </a:pPr>
            <a:r>
              <a:rPr lang="en-US" sz="1300" dirty="0">
                <a:solidFill>
                  <a:srgbClr val="A79DBF"/>
                </a:solidFill>
                <a:latin typeface="Calibri" pitchFamily="34" charset="0"/>
                <a:ea typeface="Calibri" pitchFamily="34" charset="-122"/>
                <a:cs typeface="Calibri" pitchFamily="34" charset="-120"/>
              </a:rPr>
              <a:t>Cannot handle anything fuzzy. Change the input format and it breaks.</a:t>
            </a:r>
            <a:endParaRPr lang="en-US" sz="1300" dirty="0"/>
          </a:p>
        </p:txBody>
      </p:sp>
      <p:sp>
        <p:nvSpPr>
          <p:cNvPr id="24" name="Text 19"/>
          <p:cNvSpPr/>
          <p:nvPr/>
        </p:nvSpPr>
        <p:spPr>
          <a:xfrm>
            <a:off x="640080" y="5285232"/>
            <a:ext cx="10908792" cy="457200"/>
          </a:xfrm>
          <a:prstGeom prst="rect">
            <a:avLst/>
          </a:prstGeom>
          <a:noFill/>
          <a:ln/>
        </p:spPr>
        <p:txBody>
          <a:bodyPr wrap="square" lIns="0" tIns="0" rIns="0" bIns="0" rtlCol="0" anchor="t"/>
          <a:lstStyle/>
          <a:p>
            <a:pPr indent="0" marL="0">
              <a:buNone/>
            </a:pPr>
            <a:r>
              <a:rPr lang="en-US" sz="1300" dirty="0">
                <a:solidFill>
                  <a:srgbClr val="34D399"/>
                </a:solidFill>
                <a:latin typeface="Calibri" pitchFamily="34" charset="0"/>
                <a:ea typeface="Calibri" pitchFamily="34" charset="-122"/>
                <a:cs typeface="Calibri" pitchFamily="34" charset="-120"/>
              </a:rPr>
              <a:t>Every automation has the same shape:   trigger  +  steps.</a:t>
            </a:r>
            <a:endParaRPr lang="en-US" sz="1300" dirty="0"/>
          </a:p>
        </p:txBody>
      </p:sp>
      <p:sp>
        <p:nvSpPr>
          <p:cNvPr id="25" name="Text 20"/>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26" name="Text 21"/>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34D399"/>
                </a:solidFill>
                <a:latin typeface="Arial" pitchFamily="34" charset="0"/>
                <a:ea typeface="Arial" pitchFamily="34" charset="-122"/>
                <a:cs typeface="Arial" pitchFamily="34" charset="-120"/>
              </a:rPr>
              <a:t>TIER 1  ·  IN PRACTICE</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Order Logger</a:t>
            </a:r>
            <a:endParaRPr lang="en-US" sz="3400" dirty="0"/>
          </a:p>
        </p:txBody>
      </p:sp>
      <p:sp>
        <p:nvSpPr>
          <p:cNvPr id="4" name="Text 2"/>
          <p:cNvSpPr/>
          <p:nvPr/>
        </p:nvSpPr>
        <p:spPr>
          <a:xfrm>
            <a:off x="640080" y="1426464"/>
            <a:ext cx="10908792" cy="292608"/>
          </a:xfrm>
          <a:prstGeom prst="rect">
            <a:avLst/>
          </a:prstGeom>
          <a:noFill/>
          <a:ln/>
        </p:spPr>
        <p:txBody>
          <a:bodyPr wrap="square" lIns="0" tIns="0" rIns="0" bIns="0" rtlCol="0" anchor="ctr"/>
          <a:lstStyle/>
          <a:p>
            <a:pPr indent="0" marL="0">
              <a:buNone/>
            </a:pPr>
            <a:r>
              <a:rPr lang="en-US" sz="1350" dirty="0">
                <a:solidFill>
                  <a:srgbClr val="A79DBF"/>
                </a:solidFill>
                <a:latin typeface="Calibri" pitchFamily="34" charset="0"/>
                <a:ea typeface="Calibri" pitchFamily="34" charset="-122"/>
                <a:cs typeface="Calibri" pitchFamily="34" charset="-120"/>
              </a:rPr>
              <a:t>Karachi Kicks — a new order arrives on the website.</a:t>
            </a:r>
            <a:endParaRPr lang="en-US" sz="1350" dirty="0"/>
          </a:p>
        </p:txBody>
      </p:sp>
      <p:sp>
        <p:nvSpPr>
          <p:cNvPr id="5" name="Text 3"/>
          <p:cNvSpPr/>
          <p:nvPr/>
        </p:nvSpPr>
        <p:spPr>
          <a:xfrm>
            <a:off x="1202436" y="2340864"/>
            <a:ext cx="2926080" cy="237744"/>
          </a:xfrm>
          <a:prstGeom prst="rect">
            <a:avLst/>
          </a:prstGeom>
          <a:noFill/>
          <a:ln/>
        </p:spPr>
        <p:txBody>
          <a:bodyPr wrap="square" lIns="0" tIns="0" rIns="0" bIns="0" rtlCol="0" anchor="ctr"/>
          <a:lstStyle/>
          <a:p>
            <a:pPr algn="ctr" indent="0" marL="0">
              <a:buNone/>
            </a:pPr>
            <a:r>
              <a:rPr lang="en-US" sz="950" b="1" spc="160" kern="0" dirty="0">
                <a:solidFill>
                  <a:srgbClr val="34D399"/>
                </a:solidFill>
                <a:latin typeface="Arial" pitchFamily="34" charset="0"/>
                <a:ea typeface="Arial" pitchFamily="34" charset="-122"/>
                <a:cs typeface="Arial" pitchFamily="34" charset="-120"/>
              </a:rPr>
              <a:t>TRIGGER</a:t>
            </a:r>
            <a:endParaRPr lang="en-US" sz="950" dirty="0"/>
          </a:p>
        </p:txBody>
      </p:sp>
      <p:sp>
        <p:nvSpPr>
          <p:cNvPr id="6" name="Shape 4"/>
          <p:cNvSpPr/>
          <p:nvPr/>
        </p:nvSpPr>
        <p:spPr>
          <a:xfrm>
            <a:off x="1202436" y="2651760"/>
            <a:ext cx="2926080" cy="1097280"/>
          </a:xfrm>
          <a:prstGeom prst="roundRect">
            <a:avLst>
              <a:gd name="adj" fmla="val 8333"/>
            </a:avLst>
          </a:prstGeom>
          <a:solidFill>
            <a:srgbClr val="262038"/>
          </a:solidFill>
          <a:ln w="12700">
            <a:solidFill>
              <a:srgbClr val="2E2745"/>
            </a:solidFill>
            <a:prstDash val="solid"/>
          </a:ln>
        </p:spPr>
      </p:sp>
      <p:sp>
        <p:nvSpPr>
          <p:cNvPr id="7" name="Text 5"/>
          <p:cNvSpPr/>
          <p:nvPr/>
        </p:nvSpPr>
        <p:spPr>
          <a:xfrm>
            <a:off x="1339596" y="2852928"/>
            <a:ext cx="2651760" cy="310896"/>
          </a:xfrm>
          <a:prstGeom prst="rect">
            <a:avLst/>
          </a:prstGeom>
          <a:noFill/>
          <a:ln/>
        </p:spPr>
        <p:txBody>
          <a:bodyPr wrap="square" lIns="0" tIns="0" rIns="0" bIns="0" rtlCol="0" anchor="ctr"/>
          <a:lstStyle/>
          <a:p>
            <a:pPr algn="ctr" indent="0" marL="0">
              <a:buNone/>
            </a:pPr>
            <a:r>
              <a:rPr lang="en-US" sz="1400" b="1" dirty="0">
                <a:solidFill>
                  <a:srgbClr val="F5F2FA"/>
                </a:solidFill>
                <a:latin typeface="Arial" pitchFamily="34" charset="0"/>
                <a:ea typeface="Arial" pitchFamily="34" charset="-122"/>
                <a:cs typeface="Arial" pitchFamily="34" charset="-120"/>
              </a:rPr>
              <a:t>Form Trigger</a:t>
            </a:r>
            <a:endParaRPr lang="en-US" sz="1400" dirty="0"/>
          </a:p>
        </p:txBody>
      </p:sp>
      <p:sp>
        <p:nvSpPr>
          <p:cNvPr id="8" name="Text 6"/>
          <p:cNvSpPr/>
          <p:nvPr/>
        </p:nvSpPr>
        <p:spPr>
          <a:xfrm>
            <a:off x="1339596" y="3218688"/>
            <a:ext cx="2651760" cy="411480"/>
          </a:xfrm>
          <a:prstGeom prst="rect">
            <a:avLst/>
          </a:prstGeom>
          <a:noFill/>
          <a:ln/>
        </p:spPr>
        <p:txBody>
          <a:bodyPr wrap="square" lIns="0" tIns="0" rIns="0" bIns="0" rtlCol="0" anchor="t"/>
          <a:lstStyle/>
          <a:p>
            <a:pPr algn="ctr" indent="0" marL="0">
              <a:buNone/>
            </a:pPr>
            <a:r>
              <a:rPr lang="en-US" sz="1150" dirty="0">
                <a:solidFill>
                  <a:srgbClr val="A79DBF"/>
                </a:solidFill>
                <a:latin typeface="Calibri" pitchFamily="34" charset="0"/>
                <a:ea typeface="Calibri" pitchFamily="34" charset="-122"/>
                <a:cs typeface="Calibri" pitchFamily="34" charset="-120"/>
              </a:rPr>
              <a:t>A new order is submitted</a:t>
            </a:r>
            <a:endParaRPr lang="en-US" sz="1150" dirty="0"/>
          </a:p>
        </p:txBody>
      </p:sp>
      <p:sp>
        <p:nvSpPr>
          <p:cNvPr id="9" name="Text 7"/>
          <p:cNvSpPr/>
          <p:nvPr/>
        </p:nvSpPr>
        <p:spPr>
          <a:xfrm>
            <a:off x="4146804" y="3017520"/>
            <a:ext cx="457200" cy="365760"/>
          </a:xfrm>
          <a:prstGeom prst="rect">
            <a:avLst/>
          </a:prstGeom>
          <a:noFill/>
          <a:ln/>
        </p:spPr>
        <p:txBody>
          <a:bodyPr wrap="square" lIns="0" tIns="0" rIns="0" bIns="0" rtlCol="0" anchor="ctr"/>
          <a:lstStyle/>
          <a:p>
            <a:pPr algn="ctr" indent="0" marL="0">
              <a:buNone/>
            </a:pPr>
            <a:r>
              <a:rPr lang="en-US" sz="2200" dirty="0">
                <a:solidFill>
                  <a:srgbClr val="A79DBF"/>
                </a:solidFill>
                <a:latin typeface="Arial" pitchFamily="34" charset="0"/>
                <a:ea typeface="Arial" pitchFamily="34" charset="-122"/>
                <a:cs typeface="Arial" pitchFamily="34" charset="-120"/>
              </a:rPr>
              <a:t>→</a:t>
            </a:r>
            <a:endParaRPr lang="en-US" sz="2200" dirty="0"/>
          </a:p>
        </p:txBody>
      </p:sp>
      <p:sp>
        <p:nvSpPr>
          <p:cNvPr id="10" name="Text 8"/>
          <p:cNvSpPr/>
          <p:nvPr/>
        </p:nvSpPr>
        <p:spPr>
          <a:xfrm>
            <a:off x="4631436" y="2340864"/>
            <a:ext cx="2926080" cy="237744"/>
          </a:xfrm>
          <a:prstGeom prst="rect">
            <a:avLst/>
          </a:prstGeom>
          <a:noFill/>
          <a:ln/>
        </p:spPr>
        <p:txBody>
          <a:bodyPr wrap="square" lIns="0" tIns="0" rIns="0" bIns="0" rtlCol="0" anchor="ctr"/>
          <a:lstStyle/>
          <a:p>
            <a:pPr algn="ctr" indent="0" marL="0">
              <a:buNone/>
            </a:pPr>
            <a:r>
              <a:rPr lang="en-US" sz="950" b="1" spc="160" kern="0" dirty="0">
                <a:solidFill>
                  <a:srgbClr val="A79DBF"/>
                </a:solidFill>
                <a:latin typeface="Arial" pitchFamily="34" charset="0"/>
                <a:ea typeface="Arial" pitchFamily="34" charset="-122"/>
                <a:cs typeface="Arial" pitchFamily="34" charset="-120"/>
              </a:rPr>
              <a:t>STEP 1</a:t>
            </a:r>
            <a:endParaRPr lang="en-US" sz="950" dirty="0"/>
          </a:p>
        </p:txBody>
      </p:sp>
      <p:sp>
        <p:nvSpPr>
          <p:cNvPr id="11" name="Shape 9"/>
          <p:cNvSpPr/>
          <p:nvPr/>
        </p:nvSpPr>
        <p:spPr>
          <a:xfrm>
            <a:off x="4631436" y="2651760"/>
            <a:ext cx="2926080" cy="1097280"/>
          </a:xfrm>
          <a:prstGeom prst="roundRect">
            <a:avLst>
              <a:gd name="adj" fmla="val 8333"/>
            </a:avLst>
          </a:prstGeom>
          <a:solidFill>
            <a:srgbClr val="262038"/>
          </a:solidFill>
          <a:ln w="12700">
            <a:solidFill>
              <a:srgbClr val="2E2745"/>
            </a:solidFill>
            <a:prstDash val="solid"/>
          </a:ln>
        </p:spPr>
      </p:sp>
      <p:sp>
        <p:nvSpPr>
          <p:cNvPr id="12" name="Text 10"/>
          <p:cNvSpPr/>
          <p:nvPr/>
        </p:nvSpPr>
        <p:spPr>
          <a:xfrm>
            <a:off x="4768596" y="2852928"/>
            <a:ext cx="2651760" cy="310896"/>
          </a:xfrm>
          <a:prstGeom prst="rect">
            <a:avLst/>
          </a:prstGeom>
          <a:noFill/>
          <a:ln/>
        </p:spPr>
        <p:txBody>
          <a:bodyPr wrap="square" lIns="0" tIns="0" rIns="0" bIns="0" rtlCol="0" anchor="ctr"/>
          <a:lstStyle/>
          <a:p>
            <a:pPr algn="ctr" indent="0" marL="0">
              <a:buNone/>
            </a:pPr>
            <a:r>
              <a:rPr lang="en-US" sz="1400" b="1" dirty="0">
                <a:solidFill>
                  <a:srgbClr val="F5F2FA"/>
                </a:solidFill>
                <a:latin typeface="Arial" pitchFamily="34" charset="0"/>
                <a:ea typeface="Arial" pitchFamily="34" charset="-122"/>
                <a:cs typeface="Arial" pitchFamily="34" charset="-120"/>
              </a:rPr>
              <a:t>Google Sheets</a:t>
            </a:r>
            <a:endParaRPr lang="en-US" sz="1400" dirty="0"/>
          </a:p>
        </p:txBody>
      </p:sp>
      <p:sp>
        <p:nvSpPr>
          <p:cNvPr id="13" name="Text 11"/>
          <p:cNvSpPr/>
          <p:nvPr/>
        </p:nvSpPr>
        <p:spPr>
          <a:xfrm>
            <a:off x="4768596" y="3218688"/>
            <a:ext cx="2651760" cy="411480"/>
          </a:xfrm>
          <a:prstGeom prst="rect">
            <a:avLst/>
          </a:prstGeom>
          <a:noFill/>
          <a:ln/>
        </p:spPr>
        <p:txBody>
          <a:bodyPr wrap="square" lIns="0" tIns="0" rIns="0" bIns="0" rtlCol="0" anchor="t"/>
          <a:lstStyle/>
          <a:p>
            <a:pPr algn="ctr" indent="0" marL="0">
              <a:buNone/>
            </a:pPr>
            <a:r>
              <a:rPr lang="en-US" sz="1150" dirty="0">
                <a:solidFill>
                  <a:srgbClr val="A79DBF"/>
                </a:solidFill>
                <a:latin typeface="Calibri" pitchFamily="34" charset="0"/>
                <a:ea typeface="Calibri" pitchFamily="34" charset="-122"/>
                <a:cs typeface="Calibri" pitchFamily="34" charset="-120"/>
              </a:rPr>
              <a:t>Append the order row</a:t>
            </a:r>
            <a:endParaRPr lang="en-US" sz="1150" dirty="0"/>
          </a:p>
        </p:txBody>
      </p:sp>
      <p:sp>
        <p:nvSpPr>
          <p:cNvPr id="14" name="Text 12"/>
          <p:cNvSpPr/>
          <p:nvPr/>
        </p:nvSpPr>
        <p:spPr>
          <a:xfrm>
            <a:off x="7575804" y="3017520"/>
            <a:ext cx="457200" cy="365760"/>
          </a:xfrm>
          <a:prstGeom prst="rect">
            <a:avLst/>
          </a:prstGeom>
          <a:noFill/>
          <a:ln/>
        </p:spPr>
        <p:txBody>
          <a:bodyPr wrap="square" lIns="0" tIns="0" rIns="0" bIns="0" rtlCol="0" anchor="ctr"/>
          <a:lstStyle/>
          <a:p>
            <a:pPr algn="ctr" indent="0" marL="0">
              <a:buNone/>
            </a:pPr>
            <a:r>
              <a:rPr lang="en-US" sz="2200" dirty="0">
                <a:solidFill>
                  <a:srgbClr val="A79DBF"/>
                </a:solidFill>
                <a:latin typeface="Arial" pitchFamily="34" charset="0"/>
                <a:ea typeface="Arial" pitchFamily="34" charset="-122"/>
                <a:cs typeface="Arial" pitchFamily="34" charset="-120"/>
              </a:rPr>
              <a:t>→</a:t>
            </a:r>
            <a:endParaRPr lang="en-US" sz="2200" dirty="0"/>
          </a:p>
        </p:txBody>
      </p:sp>
      <p:sp>
        <p:nvSpPr>
          <p:cNvPr id="15" name="Text 13"/>
          <p:cNvSpPr/>
          <p:nvPr/>
        </p:nvSpPr>
        <p:spPr>
          <a:xfrm>
            <a:off x="8060436" y="2340864"/>
            <a:ext cx="2926080" cy="237744"/>
          </a:xfrm>
          <a:prstGeom prst="rect">
            <a:avLst/>
          </a:prstGeom>
          <a:noFill/>
          <a:ln/>
        </p:spPr>
        <p:txBody>
          <a:bodyPr wrap="square" lIns="0" tIns="0" rIns="0" bIns="0" rtlCol="0" anchor="ctr"/>
          <a:lstStyle/>
          <a:p>
            <a:pPr algn="ctr" indent="0" marL="0">
              <a:buNone/>
            </a:pPr>
            <a:r>
              <a:rPr lang="en-US" sz="950" b="1" spc="160" kern="0" dirty="0">
                <a:solidFill>
                  <a:srgbClr val="A79DBF"/>
                </a:solidFill>
                <a:latin typeface="Arial" pitchFamily="34" charset="0"/>
                <a:ea typeface="Arial" pitchFamily="34" charset="-122"/>
                <a:cs typeface="Arial" pitchFamily="34" charset="-120"/>
              </a:rPr>
              <a:t>STEP 2</a:t>
            </a:r>
            <a:endParaRPr lang="en-US" sz="950" dirty="0"/>
          </a:p>
        </p:txBody>
      </p:sp>
      <p:sp>
        <p:nvSpPr>
          <p:cNvPr id="16" name="Shape 14"/>
          <p:cNvSpPr/>
          <p:nvPr/>
        </p:nvSpPr>
        <p:spPr>
          <a:xfrm>
            <a:off x="8060436" y="2651760"/>
            <a:ext cx="2926080" cy="1097280"/>
          </a:xfrm>
          <a:prstGeom prst="roundRect">
            <a:avLst>
              <a:gd name="adj" fmla="val 8333"/>
            </a:avLst>
          </a:prstGeom>
          <a:solidFill>
            <a:srgbClr val="262038"/>
          </a:solidFill>
          <a:ln w="12700">
            <a:solidFill>
              <a:srgbClr val="2E2745"/>
            </a:solidFill>
            <a:prstDash val="solid"/>
          </a:ln>
        </p:spPr>
      </p:sp>
      <p:sp>
        <p:nvSpPr>
          <p:cNvPr id="17" name="Text 15"/>
          <p:cNvSpPr/>
          <p:nvPr/>
        </p:nvSpPr>
        <p:spPr>
          <a:xfrm>
            <a:off x="8197596" y="2852928"/>
            <a:ext cx="2651760" cy="310896"/>
          </a:xfrm>
          <a:prstGeom prst="rect">
            <a:avLst/>
          </a:prstGeom>
          <a:noFill/>
          <a:ln/>
        </p:spPr>
        <p:txBody>
          <a:bodyPr wrap="square" lIns="0" tIns="0" rIns="0" bIns="0" rtlCol="0" anchor="ctr"/>
          <a:lstStyle/>
          <a:p>
            <a:pPr algn="ctr" indent="0" marL="0">
              <a:buNone/>
            </a:pPr>
            <a:r>
              <a:rPr lang="en-US" sz="1400" b="1" dirty="0">
                <a:solidFill>
                  <a:srgbClr val="F5F2FA"/>
                </a:solidFill>
                <a:latin typeface="Arial" pitchFamily="34" charset="0"/>
                <a:ea typeface="Arial" pitchFamily="34" charset="-122"/>
                <a:cs typeface="Arial" pitchFamily="34" charset="-120"/>
              </a:rPr>
              <a:t>WhatsApp</a:t>
            </a:r>
            <a:endParaRPr lang="en-US" sz="1400" dirty="0"/>
          </a:p>
        </p:txBody>
      </p:sp>
      <p:sp>
        <p:nvSpPr>
          <p:cNvPr id="18" name="Text 16"/>
          <p:cNvSpPr/>
          <p:nvPr/>
        </p:nvSpPr>
        <p:spPr>
          <a:xfrm>
            <a:off x="8197596" y="3218688"/>
            <a:ext cx="2651760" cy="411480"/>
          </a:xfrm>
          <a:prstGeom prst="rect">
            <a:avLst/>
          </a:prstGeom>
          <a:noFill/>
          <a:ln/>
        </p:spPr>
        <p:txBody>
          <a:bodyPr wrap="square" lIns="0" tIns="0" rIns="0" bIns="0" rtlCol="0" anchor="t"/>
          <a:lstStyle/>
          <a:p>
            <a:pPr algn="ctr" indent="0" marL="0">
              <a:buNone/>
            </a:pPr>
            <a:r>
              <a:rPr lang="en-US" sz="1150" dirty="0">
                <a:solidFill>
                  <a:srgbClr val="A79DBF"/>
                </a:solidFill>
                <a:latin typeface="Calibri" pitchFamily="34" charset="0"/>
                <a:ea typeface="Calibri" pitchFamily="34" charset="-122"/>
                <a:cs typeface="Calibri" pitchFamily="34" charset="-120"/>
              </a:rPr>
              <a:t>Send a fixed confirmation</a:t>
            </a:r>
            <a:endParaRPr lang="en-US" sz="1150" dirty="0"/>
          </a:p>
        </p:txBody>
      </p:sp>
      <p:sp>
        <p:nvSpPr>
          <p:cNvPr id="19" name="Shape 17"/>
          <p:cNvSpPr/>
          <p:nvPr/>
        </p:nvSpPr>
        <p:spPr>
          <a:xfrm>
            <a:off x="640080" y="4343400"/>
            <a:ext cx="10908792" cy="960120"/>
          </a:xfrm>
          <a:prstGeom prst="roundRect">
            <a:avLst>
              <a:gd name="adj" fmla="val 9524"/>
            </a:avLst>
          </a:prstGeom>
          <a:solidFill>
            <a:srgbClr val="262038"/>
          </a:solidFill>
          <a:ln w="12700">
            <a:solidFill>
              <a:srgbClr val="EA4B71"/>
            </a:solidFill>
            <a:prstDash val="solid"/>
          </a:ln>
        </p:spPr>
      </p:sp>
      <p:sp>
        <p:nvSpPr>
          <p:cNvPr id="20" name="Shape 18"/>
          <p:cNvSpPr/>
          <p:nvPr/>
        </p:nvSpPr>
        <p:spPr>
          <a:xfrm>
            <a:off x="932688" y="4507992"/>
            <a:ext cx="621792" cy="621792"/>
          </a:xfrm>
          <a:prstGeom prst="ellipse">
            <a:avLst/>
          </a:prstGeom>
          <a:solidFill>
            <a:srgbClr val="2E2745"/>
          </a:solidFill>
          <a:ln/>
        </p:spPr>
      </p:sp>
      <p:pic>
        <p:nvPicPr>
          <p:cNvPr id="21" name="Image 0" descr="preencoded.png">    </p:cNvPr>
          <p:cNvPicPr>
            <a:picLocks noChangeAspect="1"/>
          </p:cNvPicPr>
          <p:nvPr/>
        </p:nvPicPr>
        <p:blipFill>
          <a:blip r:embed="rId1"/>
          <a:stretch>
            <a:fillRect/>
          </a:stretch>
        </p:blipFill>
        <p:spPr>
          <a:xfrm>
            <a:off x="1088136" y="4663440"/>
            <a:ext cx="310896" cy="310896"/>
          </a:xfrm>
          <a:prstGeom prst="rect">
            <a:avLst/>
          </a:prstGeom>
        </p:spPr>
      </p:pic>
      <p:sp>
        <p:nvSpPr>
          <p:cNvPr id="22" name="Text 19"/>
          <p:cNvSpPr/>
          <p:nvPr/>
        </p:nvSpPr>
        <p:spPr>
          <a:xfrm>
            <a:off x="1737360" y="4526280"/>
            <a:ext cx="9445752" cy="594360"/>
          </a:xfrm>
          <a:prstGeom prst="rect">
            <a:avLst/>
          </a:prstGeom>
          <a:noFill/>
          <a:ln/>
        </p:spPr>
        <p:txBody>
          <a:bodyPr wrap="square" lIns="0" tIns="0" rIns="0" bIns="0" rtlCol="0" anchor="ctr"/>
          <a:lstStyle/>
          <a:p>
            <a:pPr indent="0" marL="0">
              <a:buNone/>
            </a:pPr>
            <a:r>
              <a:rPr lang="en-US" sz="1400" dirty="0">
                <a:solidFill>
                  <a:srgbClr val="F5F2FA"/>
                </a:solidFill>
                <a:latin typeface="Calibri" pitchFamily="34" charset="0"/>
                <a:ea typeface="Calibri" pitchFamily="34" charset="-122"/>
                <a:cs typeface="Calibri" pitchFamily="34" charset="-120"/>
              </a:rPr>
              <a:t>Every order gets identical treatment — including the one that says “size galat aaya”.</a:t>
            </a:r>
            <a:endParaRPr lang="en-US" sz="1400" dirty="0"/>
          </a:p>
        </p:txBody>
      </p:sp>
      <p:sp>
        <p:nvSpPr>
          <p:cNvPr id="23" name="Text 20"/>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24" name="Text 21"/>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8B7FD7"/>
                </a:solidFill>
                <a:latin typeface="Arial" pitchFamily="34" charset="0"/>
                <a:ea typeface="Arial" pitchFamily="34" charset="-122"/>
                <a:cs typeface="Arial" pitchFamily="34" charset="-120"/>
              </a:rPr>
              <a:t>TIER 2</a:t>
            </a:r>
            <a:endParaRPr lang="en-US" sz="1300" dirty="0"/>
          </a:p>
        </p:txBody>
      </p:sp>
      <p:sp>
        <p:nvSpPr>
          <p:cNvPr id="3" name="Text 1"/>
          <p:cNvSpPr/>
          <p:nvPr/>
        </p:nvSpPr>
        <p:spPr>
          <a:xfrm>
            <a:off x="640080" y="822960"/>
            <a:ext cx="8138160" cy="566928"/>
          </a:xfrm>
          <a:prstGeom prst="rect">
            <a:avLst/>
          </a:prstGeom>
          <a:noFill/>
          <a:ln/>
        </p:spPr>
        <p:txBody>
          <a:bodyPr wrap="square" lIns="0" tIns="0" rIns="0" bIns="0" rtlCol="0" anchor="ctr"/>
          <a:lstStyle/>
          <a:p>
            <a:pPr indent="0" marL="0">
              <a:buNone/>
            </a:pPr>
            <a:r>
              <a:rPr lang="en-US" sz="3200" b="1" dirty="0">
                <a:solidFill>
                  <a:srgbClr val="F5F2FA"/>
                </a:solidFill>
                <a:latin typeface="Arial" pitchFamily="34" charset="0"/>
                <a:ea typeface="Arial" pitchFamily="34" charset="-122"/>
                <a:cs typeface="Arial" pitchFamily="34" charset="-120"/>
              </a:rPr>
              <a:t>AI Workflow — AI Inside a Fixed Process</a:t>
            </a:r>
            <a:endParaRPr lang="en-US" sz="3200" dirty="0"/>
          </a:p>
        </p:txBody>
      </p:sp>
      <p:sp>
        <p:nvSpPr>
          <p:cNvPr id="4" name="Shape 2"/>
          <p:cNvSpPr/>
          <p:nvPr/>
        </p:nvSpPr>
        <p:spPr>
          <a:xfrm>
            <a:off x="9052560" y="621792"/>
            <a:ext cx="2496312" cy="384048"/>
          </a:xfrm>
          <a:prstGeom prst="roundRect">
            <a:avLst>
              <a:gd name="adj" fmla="val 16667"/>
            </a:avLst>
          </a:prstGeom>
          <a:solidFill>
            <a:srgbClr val="1B1526"/>
          </a:solidFill>
          <a:ln w="9525">
            <a:solidFill>
              <a:srgbClr val="2E2745"/>
            </a:solidFill>
            <a:prstDash val="solid"/>
          </a:ln>
        </p:spPr>
      </p:sp>
      <p:sp>
        <p:nvSpPr>
          <p:cNvPr id="5" name="Text 3"/>
          <p:cNvSpPr/>
          <p:nvPr/>
        </p:nvSpPr>
        <p:spPr>
          <a:xfrm>
            <a:off x="9198864" y="621792"/>
            <a:ext cx="2221992" cy="384048"/>
          </a:xfrm>
          <a:prstGeom prst="rect">
            <a:avLst/>
          </a:prstGeom>
          <a:noFill/>
          <a:ln/>
        </p:spPr>
        <p:txBody>
          <a:bodyPr wrap="square" lIns="0" tIns="0" rIns="0" bIns="0" rtlCol="0" anchor="ctr"/>
          <a:lstStyle/>
          <a:p>
            <a:pPr indent="0" marL="0">
              <a:buNone/>
            </a:pPr>
            <a:r>
              <a:rPr lang="en-US" sz="950" b="1" dirty="0">
                <a:solidFill>
                  <a:srgbClr val="2E2745"/>
                </a:solidFill>
                <a:latin typeface="Arial" pitchFamily="34" charset="0"/>
                <a:ea typeface="Arial" pitchFamily="34" charset="-122"/>
                <a:cs typeface="Arial" pitchFamily="34" charset="-120"/>
              </a:rPr>
              <a:t>3   AI AGENT</a:t>
            </a:r>
            <a:endParaRPr lang="en-US" sz="950" dirty="0"/>
          </a:p>
        </p:txBody>
      </p:sp>
      <p:sp>
        <p:nvSpPr>
          <p:cNvPr id="6" name="Shape 4"/>
          <p:cNvSpPr/>
          <p:nvPr/>
        </p:nvSpPr>
        <p:spPr>
          <a:xfrm>
            <a:off x="9052560" y="1088136"/>
            <a:ext cx="2496312" cy="384048"/>
          </a:xfrm>
          <a:prstGeom prst="roundRect">
            <a:avLst>
              <a:gd name="adj" fmla="val 16667"/>
            </a:avLst>
          </a:prstGeom>
          <a:solidFill>
            <a:srgbClr val="262038"/>
          </a:solidFill>
          <a:ln w="15875">
            <a:solidFill>
              <a:srgbClr val="8B7FD7"/>
            </a:solidFill>
            <a:prstDash val="solid"/>
          </a:ln>
        </p:spPr>
      </p:sp>
      <p:sp>
        <p:nvSpPr>
          <p:cNvPr id="7" name="Text 5"/>
          <p:cNvSpPr/>
          <p:nvPr/>
        </p:nvSpPr>
        <p:spPr>
          <a:xfrm>
            <a:off x="9198864" y="1088136"/>
            <a:ext cx="2221992" cy="384048"/>
          </a:xfrm>
          <a:prstGeom prst="rect">
            <a:avLst/>
          </a:prstGeom>
          <a:noFill/>
          <a:ln/>
        </p:spPr>
        <p:txBody>
          <a:bodyPr wrap="square" lIns="0" tIns="0" rIns="0" bIns="0" rtlCol="0" anchor="ctr"/>
          <a:lstStyle/>
          <a:p>
            <a:pPr indent="0" marL="0">
              <a:buNone/>
            </a:pPr>
            <a:r>
              <a:rPr lang="en-US" sz="950" b="1" dirty="0">
                <a:solidFill>
                  <a:srgbClr val="8B7FD7"/>
                </a:solidFill>
                <a:latin typeface="Arial" pitchFamily="34" charset="0"/>
                <a:ea typeface="Arial" pitchFamily="34" charset="-122"/>
                <a:cs typeface="Arial" pitchFamily="34" charset="-120"/>
              </a:rPr>
              <a:t>2   AI WORKFLOW</a:t>
            </a:r>
            <a:endParaRPr lang="en-US" sz="950" dirty="0"/>
          </a:p>
        </p:txBody>
      </p:sp>
      <p:sp>
        <p:nvSpPr>
          <p:cNvPr id="8" name="Shape 6"/>
          <p:cNvSpPr/>
          <p:nvPr/>
        </p:nvSpPr>
        <p:spPr>
          <a:xfrm>
            <a:off x="9052560" y="1554480"/>
            <a:ext cx="2496312" cy="384048"/>
          </a:xfrm>
          <a:prstGeom prst="roundRect">
            <a:avLst>
              <a:gd name="adj" fmla="val 16667"/>
            </a:avLst>
          </a:prstGeom>
          <a:solidFill>
            <a:srgbClr val="1B1526"/>
          </a:solidFill>
          <a:ln w="9525">
            <a:solidFill>
              <a:srgbClr val="2E2745"/>
            </a:solidFill>
            <a:prstDash val="solid"/>
          </a:ln>
        </p:spPr>
      </p:sp>
      <p:sp>
        <p:nvSpPr>
          <p:cNvPr id="9" name="Text 7"/>
          <p:cNvSpPr/>
          <p:nvPr/>
        </p:nvSpPr>
        <p:spPr>
          <a:xfrm>
            <a:off x="9198864" y="1554480"/>
            <a:ext cx="2221992" cy="384048"/>
          </a:xfrm>
          <a:prstGeom prst="rect">
            <a:avLst/>
          </a:prstGeom>
          <a:noFill/>
          <a:ln/>
        </p:spPr>
        <p:txBody>
          <a:bodyPr wrap="square" lIns="0" tIns="0" rIns="0" bIns="0" rtlCol="0" anchor="ctr"/>
          <a:lstStyle/>
          <a:p>
            <a:pPr indent="0" marL="0">
              <a:buNone/>
            </a:pPr>
            <a:r>
              <a:rPr lang="en-US" sz="950" b="1" dirty="0">
                <a:solidFill>
                  <a:srgbClr val="2E2745"/>
                </a:solidFill>
                <a:latin typeface="Arial" pitchFamily="34" charset="0"/>
                <a:ea typeface="Arial" pitchFamily="34" charset="-122"/>
                <a:cs typeface="Arial" pitchFamily="34" charset="-120"/>
              </a:rPr>
              <a:t>1   AUTOMATION</a:t>
            </a:r>
            <a:endParaRPr lang="en-US" sz="950" dirty="0"/>
          </a:p>
        </p:txBody>
      </p:sp>
      <p:sp>
        <p:nvSpPr>
          <p:cNvPr id="10" name="Shape 8"/>
          <p:cNvSpPr/>
          <p:nvPr/>
        </p:nvSpPr>
        <p:spPr>
          <a:xfrm>
            <a:off x="640080" y="2057400"/>
            <a:ext cx="10908792" cy="1325880"/>
          </a:xfrm>
          <a:prstGeom prst="roundRect">
            <a:avLst>
              <a:gd name="adj" fmla="val 8276"/>
            </a:avLst>
          </a:prstGeom>
          <a:solidFill>
            <a:srgbClr val="262038"/>
          </a:solidFill>
          <a:ln/>
        </p:spPr>
      </p:sp>
      <p:sp>
        <p:nvSpPr>
          <p:cNvPr id="11" name="Shape 9"/>
          <p:cNvSpPr/>
          <p:nvPr/>
        </p:nvSpPr>
        <p:spPr>
          <a:xfrm>
            <a:off x="960120" y="2377440"/>
            <a:ext cx="658368" cy="658368"/>
          </a:xfrm>
          <a:prstGeom prst="ellipse">
            <a:avLst/>
          </a:prstGeom>
          <a:solidFill>
            <a:srgbClr val="2E2745"/>
          </a:solidFill>
          <a:ln/>
        </p:spPr>
      </p:sp>
      <p:pic>
        <p:nvPicPr>
          <p:cNvPr id="12" name="Image 0" descr="preencoded.png">    </p:cNvPr>
          <p:cNvPicPr>
            <a:picLocks noChangeAspect="1"/>
          </p:cNvPicPr>
          <p:nvPr/>
        </p:nvPicPr>
        <p:blipFill>
          <a:blip r:embed="rId1"/>
          <a:stretch>
            <a:fillRect/>
          </a:stretch>
        </p:blipFill>
        <p:spPr>
          <a:xfrm>
            <a:off x="1124712" y="2542032"/>
            <a:ext cx="329184" cy="329184"/>
          </a:xfrm>
          <a:prstGeom prst="rect">
            <a:avLst/>
          </a:prstGeom>
        </p:spPr>
      </p:pic>
      <p:sp>
        <p:nvSpPr>
          <p:cNvPr id="13" name="Text 10"/>
          <p:cNvSpPr/>
          <p:nvPr/>
        </p:nvSpPr>
        <p:spPr>
          <a:xfrm>
            <a:off x="1810512" y="2286000"/>
            <a:ext cx="9308592" cy="914400"/>
          </a:xfrm>
          <a:prstGeom prst="rect">
            <a:avLst/>
          </a:prstGeom>
          <a:noFill/>
          <a:ln/>
        </p:spPr>
        <p:txBody>
          <a:bodyPr wrap="square" lIns="0" tIns="0" rIns="0" bIns="0" rtlCol="0" anchor="ctr"/>
          <a:lstStyle/>
          <a:p>
            <a:pPr indent="0" marL="0">
              <a:lnSpc>
                <a:spcPts val="2000"/>
              </a:lnSpc>
              <a:buNone/>
            </a:pPr>
            <a:r>
              <a:rPr lang="en-US" sz="1400" dirty="0">
                <a:solidFill>
                  <a:srgbClr val="F5F2FA"/>
                </a:solidFill>
                <a:latin typeface="Calibri" pitchFamily="34" charset="0"/>
                <a:ea typeface="Calibri" pitchFamily="34" charset="-122"/>
                <a:cs typeface="Calibri" pitchFamily="34" charset="-120"/>
              </a:rPr>
              <a:t>A process you design and fully control — but one or more steps use an LLM to do what a fixed rule cannot: classify, summarise, extract, rewrite. The path stays fixed; AI makes one step smart.</a:t>
            </a:r>
            <a:endParaRPr lang="en-US" sz="1400" dirty="0"/>
          </a:p>
        </p:txBody>
      </p:sp>
      <p:sp>
        <p:nvSpPr>
          <p:cNvPr id="14" name="Shape 11"/>
          <p:cNvSpPr/>
          <p:nvPr/>
        </p:nvSpPr>
        <p:spPr>
          <a:xfrm>
            <a:off x="640080" y="3566160"/>
            <a:ext cx="5225796" cy="1508760"/>
          </a:xfrm>
          <a:prstGeom prst="roundRect">
            <a:avLst>
              <a:gd name="adj" fmla="val 7273"/>
            </a:avLst>
          </a:prstGeom>
          <a:solidFill>
            <a:srgbClr val="262038"/>
          </a:solidFill>
          <a:ln/>
        </p:spPr>
      </p:sp>
      <p:sp>
        <p:nvSpPr>
          <p:cNvPr id="15" name="Shape 12"/>
          <p:cNvSpPr/>
          <p:nvPr/>
        </p:nvSpPr>
        <p:spPr>
          <a:xfrm>
            <a:off x="932688" y="3785616"/>
            <a:ext cx="566928" cy="566928"/>
          </a:xfrm>
          <a:prstGeom prst="ellipse">
            <a:avLst/>
          </a:prstGeom>
          <a:solidFill>
            <a:srgbClr val="2E2745"/>
          </a:solidFill>
          <a:ln/>
        </p:spPr>
      </p:sp>
      <p:pic>
        <p:nvPicPr>
          <p:cNvPr id="16" name="Image 1" descr="preencoded.png">    </p:cNvPr>
          <p:cNvPicPr>
            <a:picLocks noChangeAspect="1"/>
          </p:cNvPicPr>
          <p:nvPr/>
        </p:nvPicPr>
        <p:blipFill>
          <a:blip r:embed="rId2"/>
          <a:stretch>
            <a:fillRect/>
          </a:stretch>
        </p:blipFill>
        <p:spPr>
          <a:xfrm>
            <a:off x="1074420" y="3927348"/>
            <a:ext cx="283464" cy="283464"/>
          </a:xfrm>
          <a:prstGeom prst="rect">
            <a:avLst/>
          </a:prstGeom>
        </p:spPr>
      </p:pic>
      <p:sp>
        <p:nvSpPr>
          <p:cNvPr id="17" name="Text 13"/>
          <p:cNvSpPr/>
          <p:nvPr/>
        </p:nvSpPr>
        <p:spPr>
          <a:xfrm>
            <a:off x="1645920" y="3840480"/>
            <a:ext cx="3945636" cy="274320"/>
          </a:xfrm>
          <a:prstGeom prst="rect">
            <a:avLst/>
          </a:prstGeom>
          <a:noFill/>
          <a:ln/>
        </p:spPr>
        <p:txBody>
          <a:bodyPr wrap="square" lIns="0" tIns="0" rIns="0" bIns="0" rtlCol="0" anchor="ctr"/>
          <a:lstStyle/>
          <a:p>
            <a:pPr indent="0" marL="0">
              <a:buNone/>
            </a:pPr>
            <a:r>
              <a:rPr lang="en-US" sz="1450" b="1" dirty="0">
                <a:solidFill>
                  <a:srgbClr val="34D399"/>
                </a:solidFill>
                <a:latin typeface="Arial" pitchFamily="34" charset="0"/>
                <a:ea typeface="Arial" pitchFamily="34" charset="-122"/>
                <a:cs typeface="Arial" pitchFamily="34" charset="-120"/>
              </a:rPr>
              <a:t>Strength</a:t>
            </a:r>
            <a:endParaRPr lang="en-US" sz="1450" dirty="0"/>
          </a:p>
        </p:txBody>
      </p:sp>
      <p:sp>
        <p:nvSpPr>
          <p:cNvPr id="18" name="Text 14"/>
          <p:cNvSpPr/>
          <p:nvPr/>
        </p:nvSpPr>
        <p:spPr>
          <a:xfrm>
            <a:off x="932688" y="4370832"/>
            <a:ext cx="4640580" cy="594360"/>
          </a:xfrm>
          <a:prstGeom prst="rect">
            <a:avLst/>
          </a:prstGeom>
          <a:noFill/>
          <a:ln/>
        </p:spPr>
        <p:txBody>
          <a:bodyPr wrap="square" lIns="0" tIns="0" rIns="0" bIns="0" rtlCol="0" anchor="t"/>
          <a:lstStyle/>
          <a:p>
            <a:pPr indent="0" marL="0">
              <a:buNone/>
            </a:pPr>
            <a:r>
              <a:rPr lang="en-US" sz="1300" dirty="0">
                <a:solidFill>
                  <a:srgbClr val="A79DBF"/>
                </a:solidFill>
                <a:latin typeface="Calibri" pitchFamily="34" charset="0"/>
                <a:ea typeface="Calibri" pitchFamily="34" charset="-122"/>
                <a:cs typeface="Calibri" pitchFamily="34" charset="-120"/>
              </a:rPr>
              <a:t>Reliable and repeatable — yet it handles messy, natural language.</a:t>
            </a:r>
            <a:endParaRPr lang="en-US" sz="1300" dirty="0"/>
          </a:p>
        </p:txBody>
      </p:sp>
      <p:sp>
        <p:nvSpPr>
          <p:cNvPr id="19" name="Shape 15"/>
          <p:cNvSpPr/>
          <p:nvPr/>
        </p:nvSpPr>
        <p:spPr>
          <a:xfrm>
            <a:off x="6323076" y="3566160"/>
            <a:ext cx="5225796" cy="1508760"/>
          </a:xfrm>
          <a:prstGeom prst="roundRect">
            <a:avLst>
              <a:gd name="adj" fmla="val 7273"/>
            </a:avLst>
          </a:prstGeom>
          <a:solidFill>
            <a:srgbClr val="262038"/>
          </a:solidFill>
          <a:ln/>
        </p:spPr>
      </p:sp>
      <p:sp>
        <p:nvSpPr>
          <p:cNvPr id="20" name="Shape 16"/>
          <p:cNvSpPr/>
          <p:nvPr/>
        </p:nvSpPr>
        <p:spPr>
          <a:xfrm>
            <a:off x="6615684" y="3785616"/>
            <a:ext cx="566928" cy="566928"/>
          </a:xfrm>
          <a:prstGeom prst="ellipse">
            <a:avLst/>
          </a:prstGeom>
          <a:solidFill>
            <a:srgbClr val="2E2745"/>
          </a:solidFill>
          <a:ln/>
        </p:spPr>
      </p:sp>
      <p:pic>
        <p:nvPicPr>
          <p:cNvPr id="21" name="Image 2" descr="preencoded.png">    </p:cNvPr>
          <p:cNvPicPr>
            <a:picLocks noChangeAspect="1"/>
          </p:cNvPicPr>
          <p:nvPr/>
        </p:nvPicPr>
        <p:blipFill>
          <a:blip r:embed="rId3"/>
          <a:stretch>
            <a:fillRect/>
          </a:stretch>
        </p:blipFill>
        <p:spPr>
          <a:xfrm>
            <a:off x="6757416" y="3927348"/>
            <a:ext cx="283464" cy="283464"/>
          </a:xfrm>
          <a:prstGeom prst="rect">
            <a:avLst/>
          </a:prstGeom>
        </p:spPr>
      </p:pic>
      <p:sp>
        <p:nvSpPr>
          <p:cNvPr id="22" name="Text 17"/>
          <p:cNvSpPr/>
          <p:nvPr/>
        </p:nvSpPr>
        <p:spPr>
          <a:xfrm>
            <a:off x="7328916" y="3840480"/>
            <a:ext cx="3945636" cy="274320"/>
          </a:xfrm>
          <a:prstGeom prst="rect">
            <a:avLst/>
          </a:prstGeom>
          <a:noFill/>
          <a:ln/>
        </p:spPr>
        <p:txBody>
          <a:bodyPr wrap="square" lIns="0" tIns="0" rIns="0" bIns="0" rtlCol="0" anchor="ctr"/>
          <a:lstStyle/>
          <a:p>
            <a:pPr indent="0" marL="0">
              <a:buNone/>
            </a:pPr>
            <a:r>
              <a:rPr lang="en-US" sz="1450" b="1" dirty="0">
                <a:solidFill>
                  <a:srgbClr val="EA4B71"/>
                </a:solidFill>
                <a:latin typeface="Arial" pitchFamily="34" charset="0"/>
                <a:ea typeface="Arial" pitchFamily="34" charset="-122"/>
                <a:cs typeface="Arial" pitchFamily="34" charset="-120"/>
              </a:rPr>
              <a:t>Limit</a:t>
            </a:r>
            <a:endParaRPr lang="en-US" sz="1450" dirty="0"/>
          </a:p>
        </p:txBody>
      </p:sp>
      <p:sp>
        <p:nvSpPr>
          <p:cNvPr id="23" name="Text 18"/>
          <p:cNvSpPr/>
          <p:nvPr/>
        </p:nvSpPr>
        <p:spPr>
          <a:xfrm>
            <a:off x="6615684" y="4370832"/>
            <a:ext cx="4640580" cy="594360"/>
          </a:xfrm>
          <a:prstGeom prst="rect">
            <a:avLst/>
          </a:prstGeom>
          <a:noFill/>
          <a:ln/>
        </p:spPr>
        <p:txBody>
          <a:bodyPr wrap="square" lIns="0" tIns="0" rIns="0" bIns="0" rtlCol="0" anchor="t"/>
          <a:lstStyle/>
          <a:p>
            <a:pPr indent="0" marL="0">
              <a:buNone/>
            </a:pPr>
            <a:r>
              <a:rPr lang="en-US" sz="1300" dirty="0">
                <a:solidFill>
                  <a:srgbClr val="A79DBF"/>
                </a:solidFill>
                <a:latin typeface="Calibri" pitchFamily="34" charset="0"/>
                <a:ea typeface="Calibri" pitchFamily="34" charset="-122"/>
                <a:cs typeface="Calibri" pitchFamily="34" charset="-120"/>
              </a:rPr>
              <a:t>AI cannot change the plan. A new case needs a new path from you.</a:t>
            </a:r>
            <a:endParaRPr lang="en-US" sz="1300" dirty="0"/>
          </a:p>
        </p:txBody>
      </p:sp>
      <p:sp>
        <p:nvSpPr>
          <p:cNvPr id="24" name="Text 19"/>
          <p:cNvSpPr/>
          <p:nvPr/>
        </p:nvSpPr>
        <p:spPr>
          <a:xfrm>
            <a:off x="640080" y="5285232"/>
            <a:ext cx="10908792" cy="457200"/>
          </a:xfrm>
          <a:prstGeom prst="rect">
            <a:avLst/>
          </a:prstGeom>
          <a:noFill/>
          <a:ln/>
        </p:spPr>
        <p:txBody>
          <a:bodyPr wrap="square" lIns="0" tIns="0" rIns="0" bIns="0" rtlCol="0" anchor="t"/>
          <a:lstStyle/>
          <a:p>
            <a:pPr indent="0" marL="0">
              <a:buNone/>
            </a:pPr>
            <a:r>
              <a:rPr lang="en-US" sz="1300" i="1" dirty="0">
                <a:solidFill>
                  <a:srgbClr val="A79DBF"/>
                </a:solidFill>
                <a:latin typeface="Calibri" pitchFamily="34" charset="0"/>
                <a:ea typeface="Calibri" pitchFamily="34" charset="-122"/>
                <a:cs typeface="Calibri" pitchFamily="34" charset="-120"/>
              </a:rPr>
              <a:t>“Systems where LLMs and tools are orchestrated through predefined code paths.”   — Anthropic</a:t>
            </a:r>
            <a:endParaRPr lang="en-US" sz="1300" dirty="0"/>
          </a:p>
        </p:txBody>
      </p:sp>
      <p:sp>
        <p:nvSpPr>
          <p:cNvPr id="25" name="Text 20"/>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26" name="Text 21"/>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8B7FD7"/>
                </a:solidFill>
                <a:latin typeface="Arial" pitchFamily="34" charset="0"/>
                <a:ea typeface="Arial" pitchFamily="34" charset="-122"/>
                <a:cs typeface="Arial" pitchFamily="34" charset="-120"/>
              </a:rPr>
              <a:t>TIER 2  ·  IN PRACTICE</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Smart Router</a:t>
            </a:r>
            <a:endParaRPr lang="en-US" sz="3400" dirty="0"/>
          </a:p>
        </p:txBody>
      </p:sp>
      <p:sp>
        <p:nvSpPr>
          <p:cNvPr id="4" name="Text 2"/>
          <p:cNvSpPr/>
          <p:nvPr/>
        </p:nvSpPr>
        <p:spPr>
          <a:xfrm>
            <a:off x="640080" y="1426464"/>
            <a:ext cx="10908792" cy="292608"/>
          </a:xfrm>
          <a:prstGeom prst="rect">
            <a:avLst/>
          </a:prstGeom>
          <a:noFill/>
          <a:ln/>
        </p:spPr>
        <p:txBody>
          <a:bodyPr wrap="square" lIns="0" tIns="0" rIns="0" bIns="0" rtlCol="0" anchor="ctr"/>
          <a:lstStyle/>
          <a:p>
            <a:pPr indent="0" marL="0">
              <a:buNone/>
            </a:pPr>
            <a:r>
              <a:rPr lang="en-US" sz="1350" dirty="0">
                <a:solidFill>
                  <a:srgbClr val="A79DBF"/>
                </a:solidFill>
                <a:latin typeface="Calibri" pitchFamily="34" charset="0"/>
                <a:ea typeface="Calibri" pitchFamily="34" charset="-122"/>
                <a:cs typeface="Calibri" pitchFamily="34" charset="-120"/>
              </a:rPr>
              <a:t>Karachi Kicks — a customer message lands on WhatsApp.</a:t>
            </a:r>
            <a:endParaRPr lang="en-US" sz="1350" dirty="0"/>
          </a:p>
        </p:txBody>
      </p:sp>
      <p:sp>
        <p:nvSpPr>
          <p:cNvPr id="5" name="Text 3"/>
          <p:cNvSpPr/>
          <p:nvPr/>
        </p:nvSpPr>
        <p:spPr>
          <a:xfrm>
            <a:off x="745236" y="2340864"/>
            <a:ext cx="2331720" cy="237744"/>
          </a:xfrm>
          <a:prstGeom prst="rect">
            <a:avLst/>
          </a:prstGeom>
          <a:noFill/>
          <a:ln/>
        </p:spPr>
        <p:txBody>
          <a:bodyPr wrap="square" lIns="0" tIns="0" rIns="0" bIns="0" rtlCol="0" anchor="ctr"/>
          <a:lstStyle/>
          <a:p>
            <a:pPr algn="ctr" indent="0" marL="0">
              <a:buNone/>
            </a:pPr>
            <a:r>
              <a:rPr lang="en-US" sz="950" b="1" spc="160" kern="0" dirty="0">
                <a:solidFill>
                  <a:srgbClr val="8B7FD7"/>
                </a:solidFill>
                <a:latin typeface="Arial" pitchFamily="34" charset="0"/>
                <a:ea typeface="Arial" pitchFamily="34" charset="-122"/>
                <a:cs typeface="Arial" pitchFamily="34" charset="-120"/>
              </a:rPr>
              <a:t>TRIGGER</a:t>
            </a:r>
            <a:endParaRPr lang="en-US" sz="950" dirty="0"/>
          </a:p>
        </p:txBody>
      </p:sp>
      <p:sp>
        <p:nvSpPr>
          <p:cNvPr id="6" name="Shape 4"/>
          <p:cNvSpPr/>
          <p:nvPr/>
        </p:nvSpPr>
        <p:spPr>
          <a:xfrm>
            <a:off x="745236" y="2651760"/>
            <a:ext cx="2331720" cy="1325880"/>
          </a:xfrm>
          <a:prstGeom prst="roundRect">
            <a:avLst>
              <a:gd name="adj" fmla="val 6897"/>
            </a:avLst>
          </a:prstGeom>
          <a:solidFill>
            <a:srgbClr val="262038"/>
          </a:solidFill>
          <a:ln w="12700">
            <a:solidFill>
              <a:srgbClr val="2E2745"/>
            </a:solidFill>
            <a:prstDash val="solid"/>
          </a:ln>
        </p:spPr>
      </p:sp>
      <p:sp>
        <p:nvSpPr>
          <p:cNvPr id="7" name="Text 5"/>
          <p:cNvSpPr/>
          <p:nvPr/>
        </p:nvSpPr>
        <p:spPr>
          <a:xfrm>
            <a:off x="882396" y="2852928"/>
            <a:ext cx="2057400" cy="310896"/>
          </a:xfrm>
          <a:prstGeom prst="rect">
            <a:avLst/>
          </a:prstGeom>
          <a:noFill/>
          <a:ln/>
        </p:spPr>
        <p:txBody>
          <a:bodyPr wrap="square" lIns="0" tIns="0" rIns="0" bIns="0" rtlCol="0" anchor="ctr"/>
          <a:lstStyle/>
          <a:p>
            <a:pPr algn="ctr" indent="0" marL="0">
              <a:buNone/>
            </a:pPr>
            <a:r>
              <a:rPr lang="en-US" sz="1400" b="1" dirty="0">
                <a:solidFill>
                  <a:srgbClr val="F5F2FA"/>
                </a:solidFill>
                <a:latin typeface="Arial" pitchFamily="34" charset="0"/>
                <a:ea typeface="Arial" pitchFamily="34" charset="-122"/>
                <a:cs typeface="Arial" pitchFamily="34" charset="-120"/>
              </a:rPr>
              <a:t>WhatsApp</a:t>
            </a:r>
            <a:endParaRPr lang="en-US" sz="1400" dirty="0"/>
          </a:p>
        </p:txBody>
      </p:sp>
      <p:sp>
        <p:nvSpPr>
          <p:cNvPr id="8" name="Text 6"/>
          <p:cNvSpPr/>
          <p:nvPr/>
        </p:nvSpPr>
        <p:spPr>
          <a:xfrm>
            <a:off x="882396" y="3218688"/>
            <a:ext cx="2057400" cy="640080"/>
          </a:xfrm>
          <a:prstGeom prst="rect">
            <a:avLst/>
          </a:prstGeom>
          <a:noFill/>
          <a:ln/>
        </p:spPr>
        <p:txBody>
          <a:bodyPr wrap="square" lIns="0" tIns="0" rIns="0" bIns="0" rtlCol="0" anchor="t"/>
          <a:lstStyle/>
          <a:p>
            <a:pPr algn="ctr" indent="0" marL="0">
              <a:buNone/>
            </a:pPr>
            <a:r>
              <a:rPr lang="en-US" sz="1150" dirty="0">
                <a:solidFill>
                  <a:srgbClr val="A79DBF"/>
                </a:solidFill>
                <a:latin typeface="Calibri" pitchFamily="34" charset="0"/>
                <a:ea typeface="Calibri" pitchFamily="34" charset="-122"/>
                <a:cs typeface="Calibri" pitchFamily="34" charset="-120"/>
              </a:rPr>
              <a:t>Customer message arrives</a:t>
            </a:r>
            <a:endParaRPr lang="en-US" sz="1150" dirty="0"/>
          </a:p>
        </p:txBody>
      </p:sp>
      <p:sp>
        <p:nvSpPr>
          <p:cNvPr id="9" name="Text 7"/>
          <p:cNvSpPr/>
          <p:nvPr/>
        </p:nvSpPr>
        <p:spPr>
          <a:xfrm>
            <a:off x="3095244" y="3246120"/>
            <a:ext cx="457200" cy="365760"/>
          </a:xfrm>
          <a:prstGeom prst="rect">
            <a:avLst/>
          </a:prstGeom>
          <a:noFill/>
          <a:ln/>
        </p:spPr>
        <p:txBody>
          <a:bodyPr wrap="square" lIns="0" tIns="0" rIns="0" bIns="0" rtlCol="0" anchor="ctr"/>
          <a:lstStyle/>
          <a:p>
            <a:pPr algn="ctr" indent="0" marL="0">
              <a:buNone/>
            </a:pPr>
            <a:r>
              <a:rPr lang="en-US" sz="2200" dirty="0">
                <a:solidFill>
                  <a:srgbClr val="A79DBF"/>
                </a:solidFill>
                <a:latin typeface="Arial" pitchFamily="34" charset="0"/>
                <a:ea typeface="Arial" pitchFamily="34" charset="-122"/>
                <a:cs typeface="Arial" pitchFamily="34" charset="-120"/>
              </a:rPr>
              <a:t>→</a:t>
            </a:r>
            <a:endParaRPr lang="en-US" sz="2200" dirty="0"/>
          </a:p>
        </p:txBody>
      </p:sp>
      <p:sp>
        <p:nvSpPr>
          <p:cNvPr id="10" name="Text 8"/>
          <p:cNvSpPr/>
          <p:nvPr/>
        </p:nvSpPr>
        <p:spPr>
          <a:xfrm>
            <a:off x="3534156" y="2340864"/>
            <a:ext cx="2331720" cy="237744"/>
          </a:xfrm>
          <a:prstGeom prst="rect">
            <a:avLst/>
          </a:prstGeom>
          <a:noFill/>
          <a:ln/>
        </p:spPr>
        <p:txBody>
          <a:bodyPr wrap="square" lIns="0" tIns="0" rIns="0" bIns="0" rtlCol="0" anchor="ctr"/>
          <a:lstStyle/>
          <a:p>
            <a:pPr algn="ctr" indent="0" marL="0">
              <a:buNone/>
            </a:pPr>
            <a:r>
              <a:rPr lang="en-US" sz="950" b="1" spc="160" kern="0" dirty="0">
                <a:solidFill>
                  <a:srgbClr val="8B7FD7"/>
                </a:solidFill>
                <a:latin typeface="Arial" pitchFamily="34" charset="0"/>
                <a:ea typeface="Arial" pitchFamily="34" charset="-122"/>
                <a:cs typeface="Arial" pitchFamily="34" charset="-120"/>
              </a:rPr>
              <a:t>AI STEP</a:t>
            </a:r>
            <a:endParaRPr lang="en-US" sz="950" dirty="0"/>
          </a:p>
        </p:txBody>
      </p:sp>
      <p:sp>
        <p:nvSpPr>
          <p:cNvPr id="11" name="Shape 9"/>
          <p:cNvSpPr/>
          <p:nvPr/>
        </p:nvSpPr>
        <p:spPr>
          <a:xfrm>
            <a:off x="3534156" y="2651760"/>
            <a:ext cx="2331720" cy="1325880"/>
          </a:xfrm>
          <a:prstGeom prst="roundRect">
            <a:avLst>
              <a:gd name="adj" fmla="val 6897"/>
            </a:avLst>
          </a:prstGeom>
          <a:solidFill>
            <a:srgbClr val="262038"/>
          </a:solidFill>
          <a:ln w="17780">
            <a:solidFill>
              <a:srgbClr val="8B7FD7"/>
            </a:solidFill>
            <a:prstDash val="solid"/>
          </a:ln>
        </p:spPr>
      </p:sp>
      <p:sp>
        <p:nvSpPr>
          <p:cNvPr id="12" name="Text 10"/>
          <p:cNvSpPr/>
          <p:nvPr/>
        </p:nvSpPr>
        <p:spPr>
          <a:xfrm>
            <a:off x="3671316" y="2852928"/>
            <a:ext cx="2057400" cy="310896"/>
          </a:xfrm>
          <a:prstGeom prst="rect">
            <a:avLst/>
          </a:prstGeom>
          <a:noFill/>
          <a:ln/>
        </p:spPr>
        <p:txBody>
          <a:bodyPr wrap="square" lIns="0" tIns="0" rIns="0" bIns="0" rtlCol="0" anchor="ctr"/>
          <a:lstStyle/>
          <a:p>
            <a:pPr algn="ctr" indent="0" marL="0">
              <a:buNone/>
            </a:pPr>
            <a:r>
              <a:rPr lang="en-US" sz="1400" b="1" dirty="0">
                <a:solidFill>
                  <a:srgbClr val="8B7FD7"/>
                </a:solidFill>
                <a:latin typeface="Arial" pitchFamily="34" charset="0"/>
                <a:ea typeface="Arial" pitchFamily="34" charset="-122"/>
                <a:cs typeface="Arial" pitchFamily="34" charset="-120"/>
              </a:rPr>
              <a:t>LLM Node</a:t>
            </a:r>
            <a:endParaRPr lang="en-US" sz="1400" dirty="0"/>
          </a:p>
        </p:txBody>
      </p:sp>
      <p:sp>
        <p:nvSpPr>
          <p:cNvPr id="13" name="Text 11"/>
          <p:cNvSpPr/>
          <p:nvPr/>
        </p:nvSpPr>
        <p:spPr>
          <a:xfrm>
            <a:off x="3671316" y="3218688"/>
            <a:ext cx="2057400" cy="640080"/>
          </a:xfrm>
          <a:prstGeom prst="rect">
            <a:avLst/>
          </a:prstGeom>
          <a:noFill/>
          <a:ln/>
        </p:spPr>
        <p:txBody>
          <a:bodyPr wrap="square" lIns="0" tIns="0" rIns="0" bIns="0" rtlCol="0" anchor="t"/>
          <a:lstStyle/>
          <a:p>
            <a:pPr algn="ctr" indent="0" marL="0">
              <a:buNone/>
            </a:pPr>
            <a:r>
              <a:rPr lang="en-US" sz="1150" dirty="0">
                <a:solidFill>
                  <a:srgbClr val="A79DBF"/>
                </a:solidFill>
                <a:latin typeface="Calibri" pitchFamily="34" charset="0"/>
                <a:ea typeface="Calibri" pitchFamily="34" charset="-122"/>
                <a:cs typeface="Calibri" pitchFamily="34" charset="-120"/>
              </a:rPr>
              <a:t>Classify: inquiry / complaint / refund</a:t>
            </a:r>
            <a:endParaRPr lang="en-US" sz="1150" dirty="0"/>
          </a:p>
        </p:txBody>
      </p:sp>
      <p:sp>
        <p:nvSpPr>
          <p:cNvPr id="14" name="Text 12"/>
          <p:cNvSpPr/>
          <p:nvPr/>
        </p:nvSpPr>
        <p:spPr>
          <a:xfrm>
            <a:off x="5884164" y="3246120"/>
            <a:ext cx="457200" cy="365760"/>
          </a:xfrm>
          <a:prstGeom prst="rect">
            <a:avLst/>
          </a:prstGeom>
          <a:noFill/>
          <a:ln/>
        </p:spPr>
        <p:txBody>
          <a:bodyPr wrap="square" lIns="0" tIns="0" rIns="0" bIns="0" rtlCol="0" anchor="ctr"/>
          <a:lstStyle/>
          <a:p>
            <a:pPr algn="ctr" indent="0" marL="0">
              <a:buNone/>
            </a:pPr>
            <a:r>
              <a:rPr lang="en-US" sz="2200" dirty="0">
                <a:solidFill>
                  <a:srgbClr val="A79DBF"/>
                </a:solidFill>
                <a:latin typeface="Arial" pitchFamily="34" charset="0"/>
                <a:ea typeface="Arial" pitchFamily="34" charset="-122"/>
                <a:cs typeface="Arial" pitchFamily="34" charset="-120"/>
              </a:rPr>
              <a:t>→</a:t>
            </a:r>
            <a:endParaRPr lang="en-US" sz="2200" dirty="0"/>
          </a:p>
        </p:txBody>
      </p:sp>
      <p:sp>
        <p:nvSpPr>
          <p:cNvPr id="15" name="Text 13"/>
          <p:cNvSpPr/>
          <p:nvPr/>
        </p:nvSpPr>
        <p:spPr>
          <a:xfrm>
            <a:off x="6323076" y="2340864"/>
            <a:ext cx="2331720" cy="237744"/>
          </a:xfrm>
          <a:prstGeom prst="rect">
            <a:avLst/>
          </a:prstGeom>
          <a:noFill/>
          <a:ln/>
        </p:spPr>
        <p:txBody>
          <a:bodyPr wrap="square" lIns="0" tIns="0" rIns="0" bIns="0" rtlCol="0" anchor="ctr"/>
          <a:lstStyle/>
          <a:p>
            <a:pPr algn="ctr" indent="0" marL="0">
              <a:buNone/>
            </a:pPr>
            <a:r>
              <a:rPr lang="en-US" sz="950" b="1" spc="160" kern="0" dirty="0">
                <a:solidFill>
                  <a:srgbClr val="A79DBF"/>
                </a:solidFill>
                <a:latin typeface="Arial" pitchFamily="34" charset="0"/>
                <a:ea typeface="Arial" pitchFamily="34" charset="-122"/>
                <a:cs typeface="Arial" pitchFamily="34" charset="-120"/>
              </a:rPr>
              <a:t>STEP</a:t>
            </a:r>
            <a:endParaRPr lang="en-US" sz="950" dirty="0"/>
          </a:p>
        </p:txBody>
      </p:sp>
      <p:sp>
        <p:nvSpPr>
          <p:cNvPr id="16" name="Shape 14"/>
          <p:cNvSpPr/>
          <p:nvPr/>
        </p:nvSpPr>
        <p:spPr>
          <a:xfrm>
            <a:off x="6323076" y="2651760"/>
            <a:ext cx="2331720" cy="1325880"/>
          </a:xfrm>
          <a:prstGeom prst="roundRect">
            <a:avLst>
              <a:gd name="adj" fmla="val 6897"/>
            </a:avLst>
          </a:prstGeom>
          <a:solidFill>
            <a:srgbClr val="262038"/>
          </a:solidFill>
          <a:ln w="12700">
            <a:solidFill>
              <a:srgbClr val="2E2745"/>
            </a:solidFill>
            <a:prstDash val="solid"/>
          </a:ln>
        </p:spPr>
      </p:sp>
      <p:sp>
        <p:nvSpPr>
          <p:cNvPr id="17" name="Text 15"/>
          <p:cNvSpPr/>
          <p:nvPr/>
        </p:nvSpPr>
        <p:spPr>
          <a:xfrm>
            <a:off x="6460236" y="2852928"/>
            <a:ext cx="2057400" cy="310896"/>
          </a:xfrm>
          <a:prstGeom prst="rect">
            <a:avLst/>
          </a:prstGeom>
          <a:noFill/>
          <a:ln/>
        </p:spPr>
        <p:txBody>
          <a:bodyPr wrap="square" lIns="0" tIns="0" rIns="0" bIns="0" rtlCol="0" anchor="ctr"/>
          <a:lstStyle/>
          <a:p>
            <a:pPr algn="ctr" indent="0" marL="0">
              <a:buNone/>
            </a:pPr>
            <a:r>
              <a:rPr lang="en-US" sz="1400" b="1" dirty="0">
                <a:solidFill>
                  <a:srgbClr val="F5F2FA"/>
                </a:solidFill>
                <a:latin typeface="Arial" pitchFamily="34" charset="0"/>
                <a:ea typeface="Arial" pitchFamily="34" charset="-122"/>
                <a:cs typeface="Arial" pitchFamily="34" charset="-120"/>
              </a:rPr>
              <a:t>Switch</a:t>
            </a:r>
            <a:endParaRPr lang="en-US" sz="1400" dirty="0"/>
          </a:p>
        </p:txBody>
      </p:sp>
      <p:sp>
        <p:nvSpPr>
          <p:cNvPr id="18" name="Text 16"/>
          <p:cNvSpPr/>
          <p:nvPr/>
        </p:nvSpPr>
        <p:spPr>
          <a:xfrm>
            <a:off x="6460236" y="3218688"/>
            <a:ext cx="2057400" cy="640080"/>
          </a:xfrm>
          <a:prstGeom prst="rect">
            <a:avLst/>
          </a:prstGeom>
          <a:noFill/>
          <a:ln/>
        </p:spPr>
        <p:txBody>
          <a:bodyPr wrap="square" lIns="0" tIns="0" rIns="0" bIns="0" rtlCol="0" anchor="t"/>
          <a:lstStyle/>
          <a:p>
            <a:pPr algn="ctr" indent="0" marL="0">
              <a:buNone/>
            </a:pPr>
            <a:r>
              <a:rPr lang="en-US" sz="1150" dirty="0">
                <a:solidFill>
                  <a:srgbClr val="A79DBF"/>
                </a:solidFill>
                <a:latin typeface="Calibri" pitchFamily="34" charset="0"/>
                <a:ea typeface="Calibri" pitchFamily="34" charset="-122"/>
                <a:cs typeface="Calibri" pitchFamily="34" charset="-120"/>
              </a:rPr>
              <a:t>Route to the right branch</a:t>
            </a:r>
            <a:endParaRPr lang="en-US" sz="1150" dirty="0"/>
          </a:p>
        </p:txBody>
      </p:sp>
      <p:sp>
        <p:nvSpPr>
          <p:cNvPr id="19" name="Text 17"/>
          <p:cNvSpPr/>
          <p:nvPr/>
        </p:nvSpPr>
        <p:spPr>
          <a:xfrm>
            <a:off x="8673084" y="3246120"/>
            <a:ext cx="457200" cy="365760"/>
          </a:xfrm>
          <a:prstGeom prst="rect">
            <a:avLst/>
          </a:prstGeom>
          <a:noFill/>
          <a:ln/>
        </p:spPr>
        <p:txBody>
          <a:bodyPr wrap="square" lIns="0" tIns="0" rIns="0" bIns="0" rtlCol="0" anchor="ctr"/>
          <a:lstStyle/>
          <a:p>
            <a:pPr algn="ctr" indent="0" marL="0">
              <a:buNone/>
            </a:pPr>
            <a:r>
              <a:rPr lang="en-US" sz="2200" dirty="0">
                <a:solidFill>
                  <a:srgbClr val="A79DBF"/>
                </a:solidFill>
                <a:latin typeface="Arial" pitchFamily="34" charset="0"/>
                <a:ea typeface="Arial" pitchFamily="34" charset="-122"/>
                <a:cs typeface="Arial" pitchFamily="34" charset="-120"/>
              </a:rPr>
              <a:t>→</a:t>
            </a:r>
            <a:endParaRPr lang="en-US" sz="2200" dirty="0"/>
          </a:p>
        </p:txBody>
      </p:sp>
      <p:sp>
        <p:nvSpPr>
          <p:cNvPr id="20" name="Text 18"/>
          <p:cNvSpPr/>
          <p:nvPr/>
        </p:nvSpPr>
        <p:spPr>
          <a:xfrm>
            <a:off x="9111996" y="2340864"/>
            <a:ext cx="2331720" cy="237744"/>
          </a:xfrm>
          <a:prstGeom prst="rect">
            <a:avLst/>
          </a:prstGeom>
          <a:noFill/>
          <a:ln/>
        </p:spPr>
        <p:txBody>
          <a:bodyPr wrap="square" lIns="0" tIns="0" rIns="0" bIns="0" rtlCol="0" anchor="ctr"/>
          <a:lstStyle/>
          <a:p>
            <a:pPr algn="ctr" indent="0" marL="0">
              <a:buNone/>
            </a:pPr>
            <a:r>
              <a:rPr lang="en-US" sz="950" b="1" spc="160" kern="0" dirty="0">
                <a:solidFill>
                  <a:srgbClr val="A79DBF"/>
                </a:solidFill>
                <a:latin typeface="Arial" pitchFamily="34" charset="0"/>
                <a:ea typeface="Arial" pitchFamily="34" charset="-122"/>
                <a:cs typeface="Arial" pitchFamily="34" charset="-120"/>
              </a:rPr>
              <a:t>STEP</a:t>
            </a:r>
            <a:endParaRPr lang="en-US" sz="950" dirty="0"/>
          </a:p>
        </p:txBody>
      </p:sp>
      <p:sp>
        <p:nvSpPr>
          <p:cNvPr id="21" name="Shape 19"/>
          <p:cNvSpPr/>
          <p:nvPr/>
        </p:nvSpPr>
        <p:spPr>
          <a:xfrm>
            <a:off x="9111996" y="2651760"/>
            <a:ext cx="2331720" cy="1325880"/>
          </a:xfrm>
          <a:prstGeom prst="roundRect">
            <a:avLst>
              <a:gd name="adj" fmla="val 6897"/>
            </a:avLst>
          </a:prstGeom>
          <a:solidFill>
            <a:srgbClr val="262038"/>
          </a:solidFill>
          <a:ln w="12700">
            <a:solidFill>
              <a:srgbClr val="2E2745"/>
            </a:solidFill>
            <a:prstDash val="solid"/>
          </a:ln>
        </p:spPr>
      </p:sp>
      <p:sp>
        <p:nvSpPr>
          <p:cNvPr id="22" name="Text 20"/>
          <p:cNvSpPr/>
          <p:nvPr/>
        </p:nvSpPr>
        <p:spPr>
          <a:xfrm>
            <a:off x="9249156" y="2852928"/>
            <a:ext cx="2057400" cy="310896"/>
          </a:xfrm>
          <a:prstGeom prst="rect">
            <a:avLst/>
          </a:prstGeom>
          <a:noFill/>
          <a:ln/>
        </p:spPr>
        <p:txBody>
          <a:bodyPr wrap="square" lIns="0" tIns="0" rIns="0" bIns="0" rtlCol="0" anchor="ctr"/>
          <a:lstStyle/>
          <a:p>
            <a:pPr algn="ctr" indent="0" marL="0">
              <a:buNone/>
            </a:pPr>
            <a:r>
              <a:rPr lang="en-US" sz="1400" b="1" dirty="0">
                <a:solidFill>
                  <a:srgbClr val="F5F2FA"/>
                </a:solidFill>
                <a:latin typeface="Arial" pitchFamily="34" charset="0"/>
                <a:ea typeface="Arial" pitchFamily="34" charset="-122"/>
                <a:cs typeface="Arial" pitchFamily="34" charset="-120"/>
              </a:rPr>
              <a:t>Reply</a:t>
            </a:r>
            <a:endParaRPr lang="en-US" sz="1400" dirty="0"/>
          </a:p>
        </p:txBody>
      </p:sp>
      <p:sp>
        <p:nvSpPr>
          <p:cNvPr id="23" name="Text 21"/>
          <p:cNvSpPr/>
          <p:nvPr/>
        </p:nvSpPr>
        <p:spPr>
          <a:xfrm>
            <a:off x="9249156" y="3218688"/>
            <a:ext cx="2057400" cy="640080"/>
          </a:xfrm>
          <a:prstGeom prst="rect">
            <a:avLst/>
          </a:prstGeom>
          <a:noFill/>
          <a:ln/>
        </p:spPr>
        <p:txBody>
          <a:bodyPr wrap="square" lIns="0" tIns="0" rIns="0" bIns="0" rtlCol="0" anchor="t"/>
          <a:lstStyle/>
          <a:p>
            <a:pPr algn="ctr" indent="0" marL="0">
              <a:buNone/>
            </a:pPr>
            <a:r>
              <a:rPr lang="en-US" sz="1150" dirty="0">
                <a:solidFill>
                  <a:srgbClr val="A79DBF"/>
                </a:solidFill>
                <a:latin typeface="Calibri" pitchFamily="34" charset="0"/>
                <a:ea typeface="Calibri" pitchFamily="34" charset="-122"/>
                <a:cs typeface="Calibri" pitchFamily="34" charset="-120"/>
              </a:rPr>
              <a:t>One of three templates you wrote</a:t>
            </a:r>
            <a:endParaRPr lang="en-US" sz="1150" dirty="0"/>
          </a:p>
        </p:txBody>
      </p:sp>
      <p:sp>
        <p:nvSpPr>
          <p:cNvPr id="24" name="Shape 22"/>
          <p:cNvSpPr/>
          <p:nvPr/>
        </p:nvSpPr>
        <p:spPr>
          <a:xfrm>
            <a:off x="640080" y="4663440"/>
            <a:ext cx="10908792" cy="960120"/>
          </a:xfrm>
          <a:prstGeom prst="roundRect">
            <a:avLst>
              <a:gd name="adj" fmla="val 9524"/>
            </a:avLst>
          </a:prstGeom>
          <a:solidFill>
            <a:srgbClr val="262038"/>
          </a:solidFill>
          <a:ln w="12700">
            <a:solidFill>
              <a:srgbClr val="8B7FD7"/>
            </a:solidFill>
            <a:prstDash val="solid"/>
          </a:ln>
        </p:spPr>
      </p:sp>
      <p:sp>
        <p:nvSpPr>
          <p:cNvPr id="25" name="Shape 23"/>
          <p:cNvSpPr/>
          <p:nvPr/>
        </p:nvSpPr>
        <p:spPr>
          <a:xfrm>
            <a:off x="932688" y="4828032"/>
            <a:ext cx="621792" cy="621792"/>
          </a:xfrm>
          <a:prstGeom prst="ellipse">
            <a:avLst/>
          </a:prstGeom>
          <a:solidFill>
            <a:srgbClr val="2E2745"/>
          </a:solidFill>
          <a:ln/>
        </p:spPr>
      </p:sp>
      <p:pic>
        <p:nvPicPr>
          <p:cNvPr id="26" name="Image 0" descr="preencoded.png">    </p:cNvPr>
          <p:cNvPicPr>
            <a:picLocks noChangeAspect="1"/>
          </p:cNvPicPr>
          <p:nvPr/>
        </p:nvPicPr>
        <p:blipFill>
          <a:blip r:embed="rId1"/>
          <a:stretch>
            <a:fillRect/>
          </a:stretch>
        </p:blipFill>
        <p:spPr>
          <a:xfrm>
            <a:off x="1088136" y="4983480"/>
            <a:ext cx="310896" cy="310896"/>
          </a:xfrm>
          <a:prstGeom prst="rect">
            <a:avLst/>
          </a:prstGeom>
        </p:spPr>
      </p:pic>
      <p:sp>
        <p:nvSpPr>
          <p:cNvPr id="27" name="Text 24"/>
          <p:cNvSpPr/>
          <p:nvPr/>
        </p:nvSpPr>
        <p:spPr>
          <a:xfrm>
            <a:off x="1737360" y="4846320"/>
            <a:ext cx="9445752" cy="594360"/>
          </a:xfrm>
          <a:prstGeom prst="rect">
            <a:avLst/>
          </a:prstGeom>
          <a:noFill/>
          <a:ln/>
        </p:spPr>
        <p:txBody>
          <a:bodyPr wrap="square" lIns="0" tIns="0" rIns="0" bIns="0" rtlCol="0" anchor="ctr"/>
          <a:lstStyle/>
          <a:p>
            <a:pPr indent="0" marL="0">
              <a:buNone/>
            </a:pPr>
            <a:r>
              <a:rPr lang="en-US" sz="1400" dirty="0">
                <a:solidFill>
                  <a:srgbClr val="F5F2FA"/>
                </a:solidFill>
                <a:latin typeface="Calibri" pitchFamily="34" charset="0"/>
                <a:ea typeface="Calibri" pitchFamily="34" charset="-122"/>
                <a:cs typeface="Calibri" pitchFamily="34" charset="-120"/>
              </a:rPr>
              <a:t>The buckets are yours. The replies are yours. AI only reads the message.</a:t>
            </a:r>
            <a:endParaRPr lang="en-US" sz="1400" dirty="0"/>
          </a:p>
        </p:txBody>
      </p:sp>
      <p:sp>
        <p:nvSpPr>
          <p:cNvPr id="28" name="Text 25"/>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29" name="Text 26"/>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TIER 3</a:t>
            </a:r>
            <a:endParaRPr lang="en-US" sz="1300" dirty="0"/>
          </a:p>
        </p:txBody>
      </p:sp>
      <p:sp>
        <p:nvSpPr>
          <p:cNvPr id="3" name="Text 1"/>
          <p:cNvSpPr/>
          <p:nvPr/>
        </p:nvSpPr>
        <p:spPr>
          <a:xfrm>
            <a:off x="640080" y="822960"/>
            <a:ext cx="8138160" cy="566928"/>
          </a:xfrm>
          <a:prstGeom prst="rect">
            <a:avLst/>
          </a:prstGeom>
          <a:noFill/>
          <a:ln/>
        </p:spPr>
        <p:txBody>
          <a:bodyPr wrap="square" lIns="0" tIns="0" rIns="0" bIns="0" rtlCol="0" anchor="ctr"/>
          <a:lstStyle/>
          <a:p>
            <a:pPr indent="0" marL="0">
              <a:buNone/>
            </a:pPr>
            <a:r>
              <a:rPr lang="en-US" sz="3200" b="1" dirty="0">
                <a:solidFill>
                  <a:srgbClr val="F5F2FA"/>
                </a:solidFill>
                <a:latin typeface="Arial" pitchFamily="34" charset="0"/>
                <a:ea typeface="Arial" pitchFamily="34" charset="-122"/>
                <a:cs typeface="Arial" pitchFamily="34" charset="-120"/>
              </a:rPr>
              <a:t>AI Agent — The Model Decides</a:t>
            </a:r>
            <a:endParaRPr lang="en-US" sz="3200" dirty="0"/>
          </a:p>
        </p:txBody>
      </p:sp>
      <p:sp>
        <p:nvSpPr>
          <p:cNvPr id="4" name="Shape 2"/>
          <p:cNvSpPr/>
          <p:nvPr/>
        </p:nvSpPr>
        <p:spPr>
          <a:xfrm>
            <a:off x="9052560" y="621792"/>
            <a:ext cx="2496312" cy="384048"/>
          </a:xfrm>
          <a:prstGeom prst="roundRect">
            <a:avLst>
              <a:gd name="adj" fmla="val 16667"/>
            </a:avLst>
          </a:prstGeom>
          <a:solidFill>
            <a:srgbClr val="262038"/>
          </a:solidFill>
          <a:ln w="15875">
            <a:solidFill>
              <a:srgbClr val="EA4B71"/>
            </a:solidFill>
            <a:prstDash val="solid"/>
          </a:ln>
        </p:spPr>
      </p:sp>
      <p:sp>
        <p:nvSpPr>
          <p:cNvPr id="5" name="Text 3"/>
          <p:cNvSpPr/>
          <p:nvPr/>
        </p:nvSpPr>
        <p:spPr>
          <a:xfrm>
            <a:off x="9198864" y="621792"/>
            <a:ext cx="2221992" cy="384048"/>
          </a:xfrm>
          <a:prstGeom prst="rect">
            <a:avLst/>
          </a:prstGeom>
          <a:noFill/>
          <a:ln/>
        </p:spPr>
        <p:txBody>
          <a:bodyPr wrap="square" lIns="0" tIns="0" rIns="0" bIns="0" rtlCol="0" anchor="ctr"/>
          <a:lstStyle/>
          <a:p>
            <a:pPr indent="0" marL="0">
              <a:buNone/>
            </a:pPr>
            <a:r>
              <a:rPr lang="en-US" sz="950" b="1" dirty="0">
                <a:solidFill>
                  <a:srgbClr val="EA4B71"/>
                </a:solidFill>
                <a:latin typeface="Arial" pitchFamily="34" charset="0"/>
                <a:ea typeface="Arial" pitchFamily="34" charset="-122"/>
                <a:cs typeface="Arial" pitchFamily="34" charset="-120"/>
              </a:rPr>
              <a:t>3   AI AGENT</a:t>
            </a:r>
            <a:endParaRPr lang="en-US" sz="950" dirty="0"/>
          </a:p>
        </p:txBody>
      </p:sp>
      <p:sp>
        <p:nvSpPr>
          <p:cNvPr id="6" name="Shape 4"/>
          <p:cNvSpPr/>
          <p:nvPr/>
        </p:nvSpPr>
        <p:spPr>
          <a:xfrm>
            <a:off x="9052560" y="1088136"/>
            <a:ext cx="2496312" cy="384048"/>
          </a:xfrm>
          <a:prstGeom prst="roundRect">
            <a:avLst>
              <a:gd name="adj" fmla="val 16667"/>
            </a:avLst>
          </a:prstGeom>
          <a:solidFill>
            <a:srgbClr val="1B1526"/>
          </a:solidFill>
          <a:ln w="9525">
            <a:solidFill>
              <a:srgbClr val="2E2745"/>
            </a:solidFill>
            <a:prstDash val="solid"/>
          </a:ln>
        </p:spPr>
      </p:sp>
      <p:sp>
        <p:nvSpPr>
          <p:cNvPr id="7" name="Text 5"/>
          <p:cNvSpPr/>
          <p:nvPr/>
        </p:nvSpPr>
        <p:spPr>
          <a:xfrm>
            <a:off x="9198864" y="1088136"/>
            <a:ext cx="2221992" cy="384048"/>
          </a:xfrm>
          <a:prstGeom prst="rect">
            <a:avLst/>
          </a:prstGeom>
          <a:noFill/>
          <a:ln/>
        </p:spPr>
        <p:txBody>
          <a:bodyPr wrap="square" lIns="0" tIns="0" rIns="0" bIns="0" rtlCol="0" anchor="ctr"/>
          <a:lstStyle/>
          <a:p>
            <a:pPr indent="0" marL="0">
              <a:buNone/>
            </a:pPr>
            <a:r>
              <a:rPr lang="en-US" sz="950" b="1" dirty="0">
                <a:solidFill>
                  <a:srgbClr val="2E2745"/>
                </a:solidFill>
                <a:latin typeface="Arial" pitchFamily="34" charset="0"/>
                <a:ea typeface="Arial" pitchFamily="34" charset="-122"/>
                <a:cs typeface="Arial" pitchFamily="34" charset="-120"/>
              </a:rPr>
              <a:t>2   AI WORKFLOW</a:t>
            </a:r>
            <a:endParaRPr lang="en-US" sz="950" dirty="0"/>
          </a:p>
        </p:txBody>
      </p:sp>
      <p:sp>
        <p:nvSpPr>
          <p:cNvPr id="8" name="Shape 6"/>
          <p:cNvSpPr/>
          <p:nvPr/>
        </p:nvSpPr>
        <p:spPr>
          <a:xfrm>
            <a:off x="9052560" y="1554480"/>
            <a:ext cx="2496312" cy="384048"/>
          </a:xfrm>
          <a:prstGeom prst="roundRect">
            <a:avLst>
              <a:gd name="adj" fmla="val 16667"/>
            </a:avLst>
          </a:prstGeom>
          <a:solidFill>
            <a:srgbClr val="1B1526"/>
          </a:solidFill>
          <a:ln w="9525">
            <a:solidFill>
              <a:srgbClr val="2E2745"/>
            </a:solidFill>
            <a:prstDash val="solid"/>
          </a:ln>
        </p:spPr>
      </p:sp>
      <p:sp>
        <p:nvSpPr>
          <p:cNvPr id="9" name="Text 7"/>
          <p:cNvSpPr/>
          <p:nvPr/>
        </p:nvSpPr>
        <p:spPr>
          <a:xfrm>
            <a:off x="9198864" y="1554480"/>
            <a:ext cx="2221992" cy="384048"/>
          </a:xfrm>
          <a:prstGeom prst="rect">
            <a:avLst/>
          </a:prstGeom>
          <a:noFill/>
          <a:ln/>
        </p:spPr>
        <p:txBody>
          <a:bodyPr wrap="square" lIns="0" tIns="0" rIns="0" bIns="0" rtlCol="0" anchor="ctr"/>
          <a:lstStyle/>
          <a:p>
            <a:pPr indent="0" marL="0">
              <a:buNone/>
            </a:pPr>
            <a:r>
              <a:rPr lang="en-US" sz="950" b="1" dirty="0">
                <a:solidFill>
                  <a:srgbClr val="2E2745"/>
                </a:solidFill>
                <a:latin typeface="Arial" pitchFamily="34" charset="0"/>
                <a:ea typeface="Arial" pitchFamily="34" charset="-122"/>
                <a:cs typeface="Arial" pitchFamily="34" charset="-120"/>
              </a:rPr>
              <a:t>1   AUTOMATION</a:t>
            </a:r>
            <a:endParaRPr lang="en-US" sz="950" dirty="0"/>
          </a:p>
        </p:txBody>
      </p:sp>
      <p:sp>
        <p:nvSpPr>
          <p:cNvPr id="10" name="Shape 8"/>
          <p:cNvSpPr/>
          <p:nvPr/>
        </p:nvSpPr>
        <p:spPr>
          <a:xfrm>
            <a:off x="640080" y="2057400"/>
            <a:ext cx="10908792" cy="1325880"/>
          </a:xfrm>
          <a:prstGeom prst="roundRect">
            <a:avLst>
              <a:gd name="adj" fmla="val 8276"/>
            </a:avLst>
          </a:prstGeom>
          <a:solidFill>
            <a:srgbClr val="262038"/>
          </a:solidFill>
          <a:ln/>
        </p:spPr>
      </p:sp>
      <p:sp>
        <p:nvSpPr>
          <p:cNvPr id="11" name="Shape 9"/>
          <p:cNvSpPr/>
          <p:nvPr/>
        </p:nvSpPr>
        <p:spPr>
          <a:xfrm>
            <a:off x="960120" y="2377440"/>
            <a:ext cx="658368" cy="658368"/>
          </a:xfrm>
          <a:prstGeom prst="ellipse">
            <a:avLst/>
          </a:prstGeom>
          <a:solidFill>
            <a:srgbClr val="2E2745"/>
          </a:solidFill>
          <a:ln/>
        </p:spPr>
      </p:sp>
      <p:pic>
        <p:nvPicPr>
          <p:cNvPr id="12" name="Image 0" descr="preencoded.png">    </p:cNvPr>
          <p:cNvPicPr>
            <a:picLocks noChangeAspect="1"/>
          </p:cNvPicPr>
          <p:nvPr/>
        </p:nvPicPr>
        <p:blipFill>
          <a:blip r:embed="rId1"/>
          <a:stretch>
            <a:fillRect/>
          </a:stretch>
        </p:blipFill>
        <p:spPr>
          <a:xfrm>
            <a:off x="1124712" y="2542032"/>
            <a:ext cx="329184" cy="329184"/>
          </a:xfrm>
          <a:prstGeom prst="rect">
            <a:avLst/>
          </a:prstGeom>
        </p:spPr>
      </p:pic>
      <p:sp>
        <p:nvSpPr>
          <p:cNvPr id="13" name="Text 10"/>
          <p:cNvSpPr/>
          <p:nvPr/>
        </p:nvSpPr>
        <p:spPr>
          <a:xfrm>
            <a:off x="1810512" y="2286000"/>
            <a:ext cx="9308592" cy="914400"/>
          </a:xfrm>
          <a:prstGeom prst="rect">
            <a:avLst/>
          </a:prstGeom>
          <a:noFill/>
          <a:ln/>
        </p:spPr>
        <p:txBody>
          <a:bodyPr wrap="square" lIns="0" tIns="0" rIns="0" bIns="0" rtlCol="0" anchor="ctr"/>
          <a:lstStyle/>
          <a:p>
            <a:pPr indent="0" marL="0">
              <a:lnSpc>
                <a:spcPts val="2000"/>
              </a:lnSpc>
              <a:buNone/>
            </a:pPr>
            <a:r>
              <a:rPr lang="en-US" sz="1400" dirty="0">
                <a:solidFill>
                  <a:srgbClr val="F5F2FA"/>
                </a:solidFill>
                <a:latin typeface="Calibri" pitchFamily="34" charset="0"/>
                <a:ea typeface="Calibri" pitchFamily="34" charset="-122"/>
                <a:cs typeface="Calibri" pitchFamily="34" charset="-120"/>
              </a:rPr>
              <a:t>You give the system a goal and a set of tools. The LLM then decides what to do, which tool to call, and in what order — looping until the goal is met. The path is not pre-set.</a:t>
            </a:r>
            <a:endParaRPr lang="en-US" sz="1400" dirty="0"/>
          </a:p>
        </p:txBody>
      </p:sp>
      <p:sp>
        <p:nvSpPr>
          <p:cNvPr id="14" name="Shape 11"/>
          <p:cNvSpPr/>
          <p:nvPr/>
        </p:nvSpPr>
        <p:spPr>
          <a:xfrm>
            <a:off x="640080" y="3566160"/>
            <a:ext cx="5225796" cy="1508760"/>
          </a:xfrm>
          <a:prstGeom prst="roundRect">
            <a:avLst>
              <a:gd name="adj" fmla="val 7273"/>
            </a:avLst>
          </a:prstGeom>
          <a:solidFill>
            <a:srgbClr val="262038"/>
          </a:solidFill>
          <a:ln/>
        </p:spPr>
      </p:sp>
      <p:sp>
        <p:nvSpPr>
          <p:cNvPr id="15" name="Shape 12"/>
          <p:cNvSpPr/>
          <p:nvPr/>
        </p:nvSpPr>
        <p:spPr>
          <a:xfrm>
            <a:off x="932688" y="3785616"/>
            <a:ext cx="566928" cy="566928"/>
          </a:xfrm>
          <a:prstGeom prst="ellipse">
            <a:avLst/>
          </a:prstGeom>
          <a:solidFill>
            <a:srgbClr val="2E2745"/>
          </a:solidFill>
          <a:ln/>
        </p:spPr>
      </p:sp>
      <p:pic>
        <p:nvPicPr>
          <p:cNvPr id="16" name="Image 1" descr="preencoded.png">    </p:cNvPr>
          <p:cNvPicPr>
            <a:picLocks noChangeAspect="1"/>
          </p:cNvPicPr>
          <p:nvPr/>
        </p:nvPicPr>
        <p:blipFill>
          <a:blip r:embed="rId2"/>
          <a:stretch>
            <a:fillRect/>
          </a:stretch>
        </p:blipFill>
        <p:spPr>
          <a:xfrm>
            <a:off x="1074420" y="3927348"/>
            <a:ext cx="283464" cy="283464"/>
          </a:xfrm>
          <a:prstGeom prst="rect">
            <a:avLst/>
          </a:prstGeom>
        </p:spPr>
      </p:pic>
      <p:sp>
        <p:nvSpPr>
          <p:cNvPr id="17" name="Text 13"/>
          <p:cNvSpPr/>
          <p:nvPr/>
        </p:nvSpPr>
        <p:spPr>
          <a:xfrm>
            <a:off x="1645920" y="3840480"/>
            <a:ext cx="3945636" cy="274320"/>
          </a:xfrm>
          <a:prstGeom prst="rect">
            <a:avLst/>
          </a:prstGeom>
          <a:noFill/>
          <a:ln/>
        </p:spPr>
        <p:txBody>
          <a:bodyPr wrap="square" lIns="0" tIns="0" rIns="0" bIns="0" rtlCol="0" anchor="ctr"/>
          <a:lstStyle/>
          <a:p>
            <a:pPr indent="0" marL="0">
              <a:buNone/>
            </a:pPr>
            <a:r>
              <a:rPr lang="en-US" sz="1450" b="1" dirty="0">
                <a:solidFill>
                  <a:srgbClr val="34D399"/>
                </a:solidFill>
                <a:latin typeface="Arial" pitchFamily="34" charset="0"/>
                <a:ea typeface="Arial" pitchFamily="34" charset="-122"/>
                <a:cs typeface="Arial" pitchFamily="34" charset="-120"/>
              </a:rPr>
              <a:t>Strength</a:t>
            </a:r>
            <a:endParaRPr lang="en-US" sz="1450" dirty="0"/>
          </a:p>
        </p:txBody>
      </p:sp>
      <p:sp>
        <p:nvSpPr>
          <p:cNvPr id="18" name="Text 14"/>
          <p:cNvSpPr/>
          <p:nvPr/>
        </p:nvSpPr>
        <p:spPr>
          <a:xfrm>
            <a:off x="932688" y="4370832"/>
            <a:ext cx="4640580" cy="594360"/>
          </a:xfrm>
          <a:prstGeom prst="rect">
            <a:avLst/>
          </a:prstGeom>
          <a:noFill/>
          <a:ln/>
        </p:spPr>
        <p:txBody>
          <a:bodyPr wrap="square" lIns="0" tIns="0" rIns="0" bIns="0" rtlCol="0" anchor="t"/>
          <a:lstStyle/>
          <a:p>
            <a:pPr indent="0" marL="0">
              <a:buNone/>
            </a:pPr>
            <a:r>
              <a:rPr lang="en-US" sz="1300" dirty="0">
                <a:solidFill>
                  <a:srgbClr val="A79DBF"/>
                </a:solidFill>
                <a:latin typeface="Calibri" pitchFamily="34" charset="0"/>
                <a:ea typeface="Calibri" pitchFamily="34" charset="-122"/>
                <a:cs typeface="Calibri" pitchFamily="34" charset="-120"/>
              </a:rPr>
              <a:t>Flexible — handles open-ended tasks and cases you never coded for.</a:t>
            </a:r>
            <a:endParaRPr lang="en-US" sz="1300" dirty="0"/>
          </a:p>
        </p:txBody>
      </p:sp>
      <p:sp>
        <p:nvSpPr>
          <p:cNvPr id="19" name="Shape 15"/>
          <p:cNvSpPr/>
          <p:nvPr/>
        </p:nvSpPr>
        <p:spPr>
          <a:xfrm>
            <a:off x="6323076" y="3566160"/>
            <a:ext cx="5225796" cy="1508760"/>
          </a:xfrm>
          <a:prstGeom prst="roundRect">
            <a:avLst>
              <a:gd name="adj" fmla="val 7273"/>
            </a:avLst>
          </a:prstGeom>
          <a:solidFill>
            <a:srgbClr val="262038"/>
          </a:solidFill>
          <a:ln/>
        </p:spPr>
      </p:sp>
      <p:sp>
        <p:nvSpPr>
          <p:cNvPr id="20" name="Shape 16"/>
          <p:cNvSpPr/>
          <p:nvPr/>
        </p:nvSpPr>
        <p:spPr>
          <a:xfrm>
            <a:off x="6615684" y="3785616"/>
            <a:ext cx="566928" cy="566928"/>
          </a:xfrm>
          <a:prstGeom prst="ellipse">
            <a:avLst/>
          </a:prstGeom>
          <a:solidFill>
            <a:srgbClr val="2E2745"/>
          </a:solidFill>
          <a:ln/>
        </p:spPr>
      </p:sp>
      <p:pic>
        <p:nvPicPr>
          <p:cNvPr id="21" name="Image 2" descr="preencoded.png">    </p:cNvPr>
          <p:cNvPicPr>
            <a:picLocks noChangeAspect="1"/>
          </p:cNvPicPr>
          <p:nvPr/>
        </p:nvPicPr>
        <p:blipFill>
          <a:blip r:embed="rId3"/>
          <a:stretch>
            <a:fillRect/>
          </a:stretch>
        </p:blipFill>
        <p:spPr>
          <a:xfrm>
            <a:off x="6757416" y="3927348"/>
            <a:ext cx="283464" cy="283464"/>
          </a:xfrm>
          <a:prstGeom prst="rect">
            <a:avLst/>
          </a:prstGeom>
        </p:spPr>
      </p:pic>
      <p:sp>
        <p:nvSpPr>
          <p:cNvPr id="22" name="Text 17"/>
          <p:cNvSpPr/>
          <p:nvPr/>
        </p:nvSpPr>
        <p:spPr>
          <a:xfrm>
            <a:off x="7328916" y="3840480"/>
            <a:ext cx="3945636" cy="274320"/>
          </a:xfrm>
          <a:prstGeom prst="rect">
            <a:avLst/>
          </a:prstGeom>
          <a:noFill/>
          <a:ln/>
        </p:spPr>
        <p:txBody>
          <a:bodyPr wrap="square" lIns="0" tIns="0" rIns="0" bIns="0" rtlCol="0" anchor="ctr"/>
          <a:lstStyle/>
          <a:p>
            <a:pPr indent="0" marL="0">
              <a:buNone/>
            </a:pPr>
            <a:r>
              <a:rPr lang="en-US" sz="1450" b="1" dirty="0">
                <a:solidFill>
                  <a:srgbClr val="EA4B71"/>
                </a:solidFill>
                <a:latin typeface="Arial" pitchFamily="34" charset="0"/>
                <a:ea typeface="Arial" pitchFamily="34" charset="-122"/>
                <a:cs typeface="Arial" pitchFamily="34" charset="-120"/>
              </a:rPr>
              <a:t>Limit</a:t>
            </a:r>
            <a:endParaRPr lang="en-US" sz="1450" dirty="0"/>
          </a:p>
        </p:txBody>
      </p:sp>
      <p:sp>
        <p:nvSpPr>
          <p:cNvPr id="23" name="Text 18"/>
          <p:cNvSpPr/>
          <p:nvPr/>
        </p:nvSpPr>
        <p:spPr>
          <a:xfrm>
            <a:off x="6615684" y="4370832"/>
            <a:ext cx="4640580" cy="594360"/>
          </a:xfrm>
          <a:prstGeom prst="rect">
            <a:avLst/>
          </a:prstGeom>
          <a:noFill/>
          <a:ln/>
        </p:spPr>
        <p:txBody>
          <a:bodyPr wrap="square" lIns="0" tIns="0" rIns="0" bIns="0" rtlCol="0" anchor="t"/>
          <a:lstStyle/>
          <a:p>
            <a:pPr indent="0" marL="0">
              <a:buNone/>
            </a:pPr>
            <a:r>
              <a:rPr lang="en-US" sz="1300" dirty="0">
                <a:solidFill>
                  <a:srgbClr val="A79DBF"/>
                </a:solidFill>
                <a:latin typeface="Calibri" pitchFamily="34" charset="0"/>
                <a:ea typeface="Calibri" pitchFamily="34" charset="-122"/>
                <a:cs typeface="Calibri" pitchFamily="34" charset="-120"/>
              </a:rPr>
              <a:t>Less predictable, higher cost and latency. Needs guardrails. Overkill for simple work.</a:t>
            </a:r>
            <a:endParaRPr lang="en-US" sz="1300" dirty="0"/>
          </a:p>
        </p:txBody>
      </p:sp>
      <p:sp>
        <p:nvSpPr>
          <p:cNvPr id="24" name="Text 19"/>
          <p:cNvSpPr/>
          <p:nvPr/>
        </p:nvSpPr>
        <p:spPr>
          <a:xfrm>
            <a:off x="640080" y="5285232"/>
            <a:ext cx="10908792" cy="457200"/>
          </a:xfrm>
          <a:prstGeom prst="rect">
            <a:avLst/>
          </a:prstGeom>
          <a:noFill/>
          <a:ln/>
        </p:spPr>
        <p:txBody>
          <a:bodyPr wrap="square" lIns="0" tIns="0" rIns="0" bIns="0" rtlCol="0" anchor="t"/>
          <a:lstStyle/>
          <a:p>
            <a:pPr indent="0" marL="0">
              <a:buNone/>
            </a:pPr>
            <a:r>
              <a:rPr lang="en-US" sz="1300" i="1" dirty="0">
                <a:solidFill>
                  <a:srgbClr val="A79DBF"/>
                </a:solidFill>
                <a:latin typeface="Calibri" pitchFamily="34" charset="0"/>
                <a:ea typeface="Calibri" pitchFamily="34" charset="-122"/>
                <a:cs typeface="Calibri" pitchFamily="34" charset="-120"/>
              </a:rPr>
              <a:t>“Systems where LLMs dynamically direct their own processes and tool usage.”   — Anthropic</a:t>
            </a:r>
            <a:endParaRPr lang="en-US" sz="1300" dirty="0"/>
          </a:p>
        </p:txBody>
      </p:sp>
      <p:sp>
        <p:nvSpPr>
          <p:cNvPr id="25" name="Text 20"/>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26" name="Text 21"/>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TIER 3  ·  IN PRACTICE</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Support Agent</a:t>
            </a:r>
            <a:endParaRPr lang="en-US" sz="3400" dirty="0"/>
          </a:p>
        </p:txBody>
      </p:sp>
      <p:sp>
        <p:nvSpPr>
          <p:cNvPr id="4" name="Text 2"/>
          <p:cNvSpPr/>
          <p:nvPr/>
        </p:nvSpPr>
        <p:spPr>
          <a:xfrm>
            <a:off x="640080" y="1426464"/>
            <a:ext cx="10908792" cy="292608"/>
          </a:xfrm>
          <a:prstGeom prst="rect">
            <a:avLst/>
          </a:prstGeom>
          <a:noFill/>
          <a:ln/>
        </p:spPr>
        <p:txBody>
          <a:bodyPr wrap="square" lIns="0" tIns="0" rIns="0" bIns="0" rtlCol="0" anchor="ctr"/>
          <a:lstStyle/>
          <a:p>
            <a:pPr indent="0" marL="0">
              <a:buNone/>
            </a:pPr>
            <a:r>
              <a:rPr lang="en-US" sz="1350" dirty="0">
                <a:solidFill>
                  <a:srgbClr val="A79DBF"/>
                </a:solidFill>
                <a:latin typeface="Calibri" pitchFamily="34" charset="0"/>
                <a:ea typeface="Calibri" pitchFamily="34" charset="-122"/>
                <a:cs typeface="Calibri" pitchFamily="34" charset="-120"/>
              </a:rPr>
              <a:t>Karachi Kicks — a customer asks anything at all.</a:t>
            </a:r>
            <a:endParaRPr lang="en-US" sz="1350" dirty="0"/>
          </a:p>
        </p:txBody>
      </p:sp>
      <p:sp>
        <p:nvSpPr>
          <p:cNvPr id="5" name="Text 3"/>
          <p:cNvSpPr/>
          <p:nvPr/>
        </p:nvSpPr>
        <p:spPr>
          <a:xfrm>
            <a:off x="640080" y="2523744"/>
            <a:ext cx="2286000" cy="237744"/>
          </a:xfrm>
          <a:prstGeom prst="rect">
            <a:avLst/>
          </a:prstGeom>
          <a:noFill/>
          <a:ln/>
        </p:spPr>
        <p:txBody>
          <a:bodyPr wrap="square" lIns="0" tIns="0" rIns="0" bIns="0" rtlCol="0" anchor="ctr"/>
          <a:lstStyle/>
          <a:p>
            <a:pPr algn="ctr" indent="0" marL="0">
              <a:buNone/>
            </a:pPr>
            <a:r>
              <a:rPr lang="en-US" sz="950" b="1" spc="160" kern="0" dirty="0">
                <a:solidFill>
                  <a:srgbClr val="EA4B71"/>
                </a:solidFill>
                <a:latin typeface="Arial" pitchFamily="34" charset="0"/>
                <a:ea typeface="Arial" pitchFamily="34" charset="-122"/>
                <a:cs typeface="Arial" pitchFamily="34" charset="-120"/>
              </a:rPr>
              <a:t>TRIGGER</a:t>
            </a:r>
            <a:endParaRPr lang="en-US" sz="950" dirty="0"/>
          </a:p>
        </p:txBody>
      </p:sp>
      <p:sp>
        <p:nvSpPr>
          <p:cNvPr id="6" name="Shape 4"/>
          <p:cNvSpPr/>
          <p:nvPr/>
        </p:nvSpPr>
        <p:spPr>
          <a:xfrm>
            <a:off x="640080" y="2834640"/>
            <a:ext cx="2286000" cy="1097280"/>
          </a:xfrm>
          <a:prstGeom prst="roundRect">
            <a:avLst>
              <a:gd name="adj" fmla="val 8333"/>
            </a:avLst>
          </a:prstGeom>
          <a:solidFill>
            <a:srgbClr val="262038"/>
          </a:solidFill>
          <a:ln w="12700">
            <a:solidFill>
              <a:srgbClr val="2E2745"/>
            </a:solidFill>
            <a:prstDash val="solid"/>
          </a:ln>
        </p:spPr>
      </p:sp>
      <p:sp>
        <p:nvSpPr>
          <p:cNvPr id="7" name="Text 5"/>
          <p:cNvSpPr/>
          <p:nvPr/>
        </p:nvSpPr>
        <p:spPr>
          <a:xfrm>
            <a:off x="777240" y="3035808"/>
            <a:ext cx="2011680" cy="310896"/>
          </a:xfrm>
          <a:prstGeom prst="rect">
            <a:avLst/>
          </a:prstGeom>
          <a:noFill/>
          <a:ln/>
        </p:spPr>
        <p:txBody>
          <a:bodyPr wrap="square" lIns="0" tIns="0" rIns="0" bIns="0" rtlCol="0" anchor="ctr"/>
          <a:lstStyle/>
          <a:p>
            <a:pPr algn="ctr" indent="0" marL="0">
              <a:buNone/>
            </a:pPr>
            <a:r>
              <a:rPr lang="en-US" sz="1400" b="1" dirty="0">
                <a:solidFill>
                  <a:srgbClr val="F5F2FA"/>
                </a:solidFill>
                <a:latin typeface="Arial" pitchFamily="34" charset="0"/>
                <a:ea typeface="Arial" pitchFamily="34" charset="-122"/>
                <a:cs typeface="Arial" pitchFamily="34" charset="-120"/>
              </a:rPr>
              <a:t>Chat Trigger</a:t>
            </a:r>
            <a:endParaRPr lang="en-US" sz="1400" dirty="0"/>
          </a:p>
        </p:txBody>
      </p:sp>
      <p:sp>
        <p:nvSpPr>
          <p:cNvPr id="8" name="Text 6"/>
          <p:cNvSpPr/>
          <p:nvPr/>
        </p:nvSpPr>
        <p:spPr>
          <a:xfrm>
            <a:off x="777240" y="3401568"/>
            <a:ext cx="2011680" cy="411480"/>
          </a:xfrm>
          <a:prstGeom prst="rect">
            <a:avLst/>
          </a:prstGeom>
          <a:noFill/>
          <a:ln/>
        </p:spPr>
        <p:txBody>
          <a:bodyPr wrap="square" lIns="0" tIns="0" rIns="0" bIns="0" rtlCol="0" anchor="t"/>
          <a:lstStyle/>
          <a:p>
            <a:pPr algn="ctr" indent="0" marL="0">
              <a:buNone/>
            </a:pPr>
            <a:r>
              <a:rPr lang="en-US" sz="1150" dirty="0">
                <a:solidFill>
                  <a:srgbClr val="A79DBF"/>
                </a:solidFill>
                <a:latin typeface="Calibri" pitchFamily="34" charset="0"/>
                <a:ea typeface="Calibri" pitchFamily="34" charset="-122"/>
                <a:cs typeface="Calibri" pitchFamily="34" charset="-120"/>
              </a:rPr>
              <a:t>Any question, any time</a:t>
            </a:r>
            <a:endParaRPr lang="en-US" sz="1150" dirty="0"/>
          </a:p>
        </p:txBody>
      </p:sp>
      <p:sp>
        <p:nvSpPr>
          <p:cNvPr id="9" name="Text 7"/>
          <p:cNvSpPr/>
          <p:nvPr/>
        </p:nvSpPr>
        <p:spPr>
          <a:xfrm>
            <a:off x="2999232" y="3200400"/>
            <a:ext cx="457200" cy="365760"/>
          </a:xfrm>
          <a:prstGeom prst="rect">
            <a:avLst/>
          </a:prstGeom>
          <a:noFill/>
          <a:ln/>
        </p:spPr>
        <p:txBody>
          <a:bodyPr wrap="square" lIns="0" tIns="0" rIns="0" bIns="0" rtlCol="0" anchor="ctr"/>
          <a:lstStyle/>
          <a:p>
            <a:pPr algn="ctr" indent="0" marL="0">
              <a:buNone/>
            </a:pPr>
            <a:r>
              <a:rPr lang="en-US" sz="2200" dirty="0">
                <a:solidFill>
                  <a:srgbClr val="A79DBF"/>
                </a:solidFill>
                <a:latin typeface="Arial" pitchFamily="34" charset="0"/>
                <a:ea typeface="Arial" pitchFamily="34" charset="-122"/>
                <a:cs typeface="Arial" pitchFamily="34" charset="-120"/>
              </a:rPr>
              <a:t>→</a:t>
            </a:r>
            <a:endParaRPr lang="en-US" sz="2200" dirty="0"/>
          </a:p>
        </p:txBody>
      </p:sp>
      <p:sp>
        <p:nvSpPr>
          <p:cNvPr id="10" name="Shape 8"/>
          <p:cNvSpPr/>
          <p:nvPr/>
        </p:nvSpPr>
        <p:spPr>
          <a:xfrm>
            <a:off x="3520440" y="2377440"/>
            <a:ext cx="3383280" cy="2011680"/>
          </a:xfrm>
          <a:prstGeom prst="roundRect">
            <a:avLst>
              <a:gd name="adj" fmla="val 4545"/>
            </a:avLst>
          </a:prstGeom>
          <a:solidFill>
            <a:srgbClr val="262038"/>
          </a:solidFill>
          <a:ln w="19050">
            <a:solidFill>
              <a:srgbClr val="EA4B71"/>
            </a:solidFill>
            <a:prstDash val="solid"/>
          </a:ln>
        </p:spPr>
      </p:sp>
      <p:sp>
        <p:nvSpPr>
          <p:cNvPr id="11" name="Text 9"/>
          <p:cNvSpPr/>
          <p:nvPr/>
        </p:nvSpPr>
        <p:spPr>
          <a:xfrm>
            <a:off x="3520440" y="2066544"/>
            <a:ext cx="3383280" cy="237744"/>
          </a:xfrm>
          <a:prstGeom prst="rect">
            <a:avLst/>
          </a:prstGeom>
          <a:noFill/>
          <a:ln/>
        </p:spPr>
        <p:txBody>
          <a:bodyPr wrap="square" lIns="0" tIns="0" rIns="0" bIns="0" rtlCol="0" anchor="ctr"/>
          <a:lstStyle/>
          <a:p>
            <a:pPr algn="ctr" indent="0" marL="0">
              <a:buNone/>
            </a:pPr>
            <a:r>
              <a:rPr lang="en-US" sz="950" b="1" spc="160" kern="0" dirty="0">
                <a:solidFill>
                  <a:srgbClr val="EA4B71"/>
                </a:solidFill>
                <a:latin typeface="Arial" pitchFamily="34" charset="0"/>
                <a:ea typeface="Arial" pitchFamily="34" charset="-122"/>
                <a:cs typeface="Arial" pitchFamily="34" charset="-120"/>
              </a:rPr>
              <a:t>AI AGENT NODE</a:t>
            </a:r>
            <a:endParaRPr lang="en-US" sz="950" dirty="0"/>
          </a:p>
        </p:txBody>
      </p:sp>
      <p:sp>
        <p:nvSpPr>
          <p:cNvPr id="12" name="Text 10"/>
          <p:cNvSpPr/>
          <p:nvPr/>
        </p:nvSpPr>
        <p:spPr>
          <a:xfrm>
            <a:off x="3611880" y="2560320"/>
            <a:ext cx="3200400" cy="310896"/>
          </a:xfrm>
          <a:prstGeom prst="rect">
            <a:avLst/>
          </a:prstGeom>
          <a:noFill/>
          <a:ln/>
        </p:spPr>
        <p:txBody>
          <a:bodyPr wrap="square" lIns="0" tIns="0" rIns="0" bIns="0" rtlCol="0" anchor="ctr"/>
          <a:lstStyle/>
          <a:p>
            <a:pPr algn="ctr" indent="0" marL="0">
              <a:buNone/>
            </a:pPr>
            <a:r>
              <a:rPr lang="en-US" sz="1500" b="1" dirty="0">
                <a:solidFill>
                  <a:srgbClr val="EA4B71"/>
                </a:solidFill>
                <a:latin typeface="Arial" pitchFamily="34" charset="0"/>
                <a:ea typeface="Arial" pitchFamily="34" charset="-122"/>
                <a:cs typeface="Arial" pitchFamily="34" charset="-120"/>
              </a:rPr>
              <a:t>Decides everything</a:t>
            </a:r>
            <a:endParaRPr lang="en-US" sz="1500" dirty="0"/>
          </a:p>
        </p:txBody>
      </p:sp>
      <p:sp>
        <p:nvSpPr>
          <p:cNvPr id="13" name="Text 11"/>
          <p:cNvSpPr/>
          <p:nvPr/>
        </p:nvSpPr>
        <p:spPr>
          <a:xfrm>
            <a:off x="3611880" y="2926080"/>
            <a:ext cx="3200400" cy="640080"/>
          </a:xfrm>
          <a:prstGeom prst="rect">
            <a:avLst/>
          </a:prstGeom>
          <a:noFill/>
          <a:ln/>
        </p:spPr>
        <p:txBody>
          <a:bodyPr wrap="square" lIns="0" tIns="0" rIns="0" bIns="0" rtlCol="0" anchor="t"/>
          <a:lstStyle/>
          <a:p>
            <a:pPr algn="ctr" indent="0" marL="0">
              <a:buNone/>
            </a:pPr>
            <a:r>
              <a:rPr lang="en-US" sz="1150" dirty="0">
                <a:solidFill>
                  <a:srgbClr val="A79DBF"/>
                </a:solidFill>
                <a:latin typeface="Calibri" pitchFamily="34" charset="0"/>
                <a:ea typeface="Calibri" pitchFamily="34" charset="-122"/>
                <a:cs typeface="Calibri" pitchFamily="34" charset="-120"/>
              </a:rPr>
              <a:t>Which tool? In what order?</a:t>
            </a:r>
            <a:endParaRPr lang="en-US" sz="1150" dirty="0"/>
          </a:p>
          <a:p>
            <a:pPr algn="ctr" indent="0" marL="0">
              <a:buNone/>
            </a:pPr>
            <a:r>
              <a:rPr lang="en-US" sz="1150" dirty="0">
                <a:solidFill>
                  <a:srgbClr val="A79DBF"/>
                </a:solidFill>
                <a:latin typeface="Calibri" pitchFamily="34" charset="0"/>
                <a:ea typeface="Calibri" pitchFamily="34" charset="-122"/>
                <a:cs typeface="Calibri" pitchFamily="34" charset="-120"/>
              </a:rPr>
              <a:t>Loops until the answer is ready.</a:t>
            </a:r>
            <a:endParaRPr lang="en-US" sz="1150" dirty="0"/>
          </a:p>
        </p:txBody>
      </p:sp>
      <p:sp>
        <p:nvSpPr>
          <p:cNvPr id="14" name="Shape 12"/>
          <p:cNvSpPr/>
          <p:nvPr/>
        </p:nvSpPr>
        <p:spPr>
          <a:xfrm>
            <a:off x="3657600" y="3794760"/>
            <a:ext cx="1554480" cy="347472"/>
          </a:xfrm>
          <a:prstGeom prst="roundRect">
            <a:avLst>
              <a:gd name="adj" fmla="val 26316"/>
            </a:avLst>
          </a:prstGeom>
          <a:solidFill>
            <a:srgbClr val="2E2745"/>
          </a:solidFill>
          <a:ln/>
        </p:spPr>
      </p:sp>
      <p:sp>
        <p:nvSpPr>
          <p:cNvPr id="15" name="Text 13"/>
          <p:cNvSpPr/>
          <p:nvPr/>
        </p:nvSpPr>
        <p:spPr>
          <a:xfrm>
            <a:off x="3657600" y="3794760"/>
            <a:ext cx="1554480" cy="347472"/>
          </a:xfrm>
          <a:prstGeom prst="rect">
            <a:avLst/>
          </a:prstGeom>
          <a:noFill/>
          <a:ln/>
        </p:spPr>
        <p:txBody>
          <a:bodyPr wrap="square" lIns="0" tIns="0" rIns="0" bIns="0" rtlCol="0" anchor="ctr"/>
          <a:lstStyle/>
          <a:p>
            <a:pPr algn="ctr" indent="0" marL="0">
              <a:buNone/>
            </a:pPr>
            <a:r>
              <a:rPr lang="en-US" sz="1050" dirty="0">
                <a:solidFill>
                  <a:srgbClr val="A79DBF"/>
                </a:solidFill>
                <a:latin typeface="Calibri" pitchFamily="34" charset="0"/>
                <a:ea typeface="Calibri" pitchFamily="34" charset="-122"/>
                <a:cs typeface="Calibri" pitchFamily="34" charset="-120"/>
              </a:rPr>
              <a:t>Model</a:t>
            </a:r>
            <a:endParaRPr lang="en-US" sz="1050" dirty="0"/>
          </a:p>
        </p:txBody>
      </p:sp>
      <p:sp>
        <p:nvSpPr>
          <p:cNvPr id="16" name="Shape 14"/>
          <p:cNvSpPr/>
          <p:nvPr/>
        </p:nvSpPr>
        <p:spPr>
          <a:xfrm>
            <a:off x="5257800" y="3794760"/>
            <a:ext cx="1554480" cy="347472"/>
          </a:xfrm>
          <a:prstGeom prst="roundRect">
            <a:avLst>
              <a:gd name="adj" fmla="val 26316"/>
            </a:avLst>
          </a:prstGeom>
          <a:solidFill>
            <a:srgbClr val="2E2745"/>
          </a:solidFill>
          <a:ln/>
        </p:spPr>
      </p:sp>
      <p:sp>
        <p:nvSpPr>
          <p:cNvPr id="17" name="Text 15"/>
          <p:cNvSpPr/>
          <p:nvPr/>
        </p:nvSpPr>
        <p:spPr>
          <a:xfrm>
            <a:off x="5257800" y="3794760"/>
            <a:ext cx="1554480" cy="347472"/>
          </a:xfrm>
          <a:prstGeom prst="rect">
            <a:avLst/>
          </a:prstGeom>
          <a:noFill/>
          <a:ln/>
        </p:spPr>
        <p:txBody>
          <a:bodyPr wrap="square" lIns="0" tIns="0" rIns="0" bIns="0" rtlCol="0" anchor="ctr"/>
          <a:lstStyle/>
          <a:p>
            <a:pPr algn="ctr" indent="0" marL="0">
              <a:buNone/>
            </a:pPr>
            <a:r>
              <a:rPr lang="en-US" sz="1050" dirty="0">
                <a:solidFill>
                  <a:srgbClr val="A79DBF"/>
                </a:solidFill>
                <a:latin typeface="Calibri" pitchFamily="34" charset="0"/>
                <a:ea typeface="Calibri" pitchFamily="34" charset="-122"/>
                <a:cs typeface="Calibri" pitchFamily="34" charset="-120"/>
              </a:rPr>
              <a:t>Memory</a:t>
            </a:r>
            <a:endParaRPr lang="en-US" sz="1050" dirty="0"/>
          </a:p>
        </p:txBody>
      </p:sp>
      <p:sp>
        <p:nvSpPr>
          <p:cNvPr id="18" name="Text 16"/>
          <p:cNvSpPr/>
          <p:nvPr/>
        </p:nvSpPr>
        <p:spPr>
          <a:xfrm>
            <a:off x="7022592" y="3200400"/>
            <a:ext cx="457200" cy="365760"/>
          </a:xfrm>
          <a:prstGeom prst="rect">
            <a:avLst/>
          </a:prstGeom>
          <a:noFill/>
          <a:ln/>
        </p:spPr>
        <p:txBody>
          <a:bodyPr wrap="square" lIns="0" tIns="0" rIns="0" bIns="0" rtlCol="0" anchor="ctr"/>
          <a:lstStyle/>
          <a:p>
            <a:pPr algn="ctr" indent="0" marL="0">
              <a:buNone/>
            </a:pPr>
            <a:r>
              <a:rPr lang="en-US" sz="2200" dirty="0">
                <a:solidFill>
                  <a:srgbClr val="A79DBF"/>
                </a:solidFill>
                <a:latin typeface="Arial" pitchFamily="34" charset="0"/>
                <a:ea typeface="Arial" pitchFamily="34" charset="-122"/>
                <a:cs typeface="Arial" pitchFamily="34" charset="-120"/>
              </a:rPr>
              <a:t>→</a:t>
            </a:r>
            <a:endParaRPr lang="en-US" sz="2200" dirty="0"/>
          </a:p>
        </p:txBody>
      </p:sp>
      <p:sp>
        <p:nvSpPr>
          <p:cNvPr id="19" name="Text 17"/>
          <p:cNvSpPr/>
          <p:nvPr/>
        </p:nvSpPr>
        <p:spPr>
          <a:xfrm>
            <a:off x="7543800" y="2066544"/>
            <a:ext cx="4005072" cy="237744"/>
          </a:xfrm>
          <a:prstGeom prst="rect">
            <a:avLst/>
          </a:prstGeom>
          <a:noFill/>
          <a:ln/>
        </p:spPr>
        <p:txBody>
          <a:bodyPr wrap="square" lIns="0" tIns="0" rIns="0" bIns="0" rtlCol="0" anchor="ctr"/>
          <a:lstStyle/>
          <a:p>
            <a:pPr algn="ctr" indent="0" marL="0">
              <a:buNone/>
            </a:pPr>
            <a:r>
              <a:rPr lang="en-US" sz="950" b="1" spc="160" kern="0" dirty="0">
                <a:solidFill>
                  <a:srgbClr val="34D399"/>
                </a:solidFill>
                <a:latin typeface="Arial" pitchFamily="34" charset="0"/>
                <a:ea typeface="Arial" pitchFamily="34" charset="-122"/>
                <a:cs typeface="Arial" pitchFamily="34" charset="-120"/>
              </a:rPr>
              <a:t>TOOLS</a:t>
            </a:r>
            <a:endParaRPr lang="en-US" sz="950" dirty="0"/>
          </a:p>
        </p:txBody>
      </p:sp>
      <p:sp>
        <p:nvSpPr>
          <p:cNvPr id="20" name="Shape 18"/>
          <p:cNvSpPr/>
          <p:nvPr/>
        </p:nvSpPr>
        <p:spPr>
          <a:xfrm>
            <a:off x="7543800" y="2377440"/>
            <a:ext cx="4005072" cy="987552"/>
          </a:xfrm>
          <a:prstGeom prst="roundRect">
            <a:avLst>
              <a:gd name="adj" fmla="val 9259"/>
            </a:avLst>
          </a:prstGeom>
          <a:solidFill>
            <a:srgbClr val="262038"/>
          </a:solidFill>
          <a:ln w="12700">
            <a:solidFill>
              <a:srgbClr val="2E2745"/>
            </a:solidFill>
            <a:prstDash val="solid"/>
          </a:ln>
        </p:spPr>
      </p:sp>
      <p:sp>
        <p:nvSpPr>
          <p:cNvPr id="21" name="Text 19"/>
          <p:cNvSpPr/>
          <p:nvPr/>
        </p:nvSpPr>
        <p:spPr>
          <a:xfrm>
            <a:off x="7680960" y="2542032"/>
            <a:ext cx="3730752" cy="292608"/>
          </a:xfrm>
          <a:prstGeom prst="rect">
            <a:avLst/>
          </a:prstGeom>
          <a:noFill/>
          <a:ln/>
        </p:spPr>
        <p:txBody>
          <a:bodyPr wrap="square" lIns="0" tIns="0" rIns="0" bIns="0" rtlCol="0" anchor="ctr"/>
          <a:lstStyle/>
          <a:p>
            <a:pPr algn="ctr" indent="0" marL="0">
              <a:buNone/>
            </a:pPr>
            <a:r>
              <a:rPr lang="en-US" sz="1350" b="1" dirty="0">
                <a:solidFill>
                  <a:srgbClr val="F5F2FA"/>
                </a:solidFill>
                <a:latin typeface="Arial" pitchFamily="34" charset="0"/>
                <a:ea typeface="Arial" pitchFamily="34" charset="-122"/>
                <a:cs typeface="Arial" pitchFamily="34" charset="-120"/>
              </a:rPr>
              <a:t>Get Order Status</a:t>
            </a:r>
            <a:endParaRPr lang="en-US" sz="1350" dirty="0"/>
          </a:p>
        </p:txBody>
      </p:sp>
      <p:sp>
        <p:nvSpPr>
          <p:cNvPr id="22" name="Text 20"/>
          <p:cNvSpPr/>
          <p:nvPr/>
        </p:nvSpPr>
        <p:spPr>
          <a:xfrm>
            <a:off x="7680960" y="2889504"/>
            <a:ext cx="3730752" cy="274320"/>
          </a:xfrm>
          <a:prstGeom prst="rect">
            <a:avLst/>
          </a:prstGeom>
          <a:noFill/>
          <a:ln/>
        </p:spPr>
        <p:txBody>
          <a:bodyPr wrap="square" lIns="0" tIns="0" rIns="0" bIns="0" rtlCol="0" anchor="ctr"/>
          <a:lstStyle/>
          <a:p>
            <a:pPr algn="ctr" indent="0" marL="0">
              <a:buNone/>
            </a:pPr>
            <a:r>
              <a:rPr lang="en-US" sz="1150" dirty="0">
                <a:solidFill>
                  <a:srgbClr val="A79DBF"/>
                </a:solidFill>
                <a:latin typeface="Calibri" pitchFamily="34" charset="0"/>
                <a:ea typeface="Calibri" pitchFamily="34" charset="-122"/>
                <a:cs typeface="Calibri" pitchFamily="34" charset="-120"/>
              </a:rPr>
              <a:t>Google Sheets lookup</a:t>
            </a:r>
            <a:endParaRPr lang="en-US" sz="1150" dirty="0"/>
          </a:p>
        </p:txBody>
      </p:sp>
      <p:sp>
        <p:nvSpPr>
          <p:cNvPr id="23" name="Shape 21"/>
          <p:cNvSpPr/>
          <p:nvPr/>
        </p:nvSpPr>
        <p:spPr>
          <a:xfrm>
            <a:off x="7543800" y="3401568"/>
            <a:ext cx="4005072" cy="987552"/>
          </a:xfrm>
          <a:prstGeom prst="roundRect">
            <a:avLst>
              <a:gd name="adj" fmla="val 9259"/>
            </a:avLst>
          </a:prstGeom>
          <a:solidFill>
            <a:srgbClr val="262038"/>
          </a:solidFill>
          <a:ln w="12700">
            <a:solidFill>
              <a:srgbClr val="2E2745"/>
            </a:solidFill>
            <a:prstDash val="solid"/>
          </a:ln>
        </p:spPr>
      </p:sp>
      <p:sp>
        <p:nvSpPr>
          <p:cNvPr id="24" name="Text 22"/>
          <p:cNvSpPr/>
          <p:nvPr/>
        </p:nvSpPr>
        <p:spPr>
          <a:xfrm>
            <a:off x="7680960" y="3566160"/>
            <a:ext cx="3730752" cy="292608"/>
          </a:xfrm>
          <a:prstGeom prst="rect">
            <a:avLst/>
          </a:prstGeom>
          <a:noFill/>
          <a:ln/>
        </p:spPr>
        <p:txBody>
          <a:bodyPr wrap="square" lIns="0" tIns="0" rIns="0" bIns="0" rtlCol="0" anchor="ctr"/>
          <a:lstStyle/>
          <a:p>
            <a:pPr algn="ctr" indent="0" marL="0">
              <a:buNone/>
            </a:pPr>
            <a:r>
              <a:rPr lang="en-US" sz="1350" b="1" dirty="0">
                <a:solidFill>
                  <a:srgbClr val="F5F2FA"/>
                </a:solidFill>
                <a:latin typeface="Arial" pitchFamily="34" charset="0"/>
                <a:ea typeface="Arial" pitchFamily="34" charset="-122"/>
                <a:cs typeface="Arial" pitchFamily="34" charset="-120"/>
              </a:rPr>
              <a:t>Refund Policy</a:t>
            </a:r>
            <a:endParaRPr lang="en-US" sz="1350" dirty="0"/>
          </a:p>
        </p:txBody>
      </p:sp>
      <p:sp>
        <p:nvSpPr>
          <p:cNvPr id="25" name="Text 23"/>
          <p:cNvSpPr/>
          <p:nvPr/>
        </p:nvSpPr>
        <p:spPr>
          <a:xfrm>
            <a:off x="7680960" y="3913632"/>
            <a:ext cx="3730752" cy="274320"/>
          </a:xfrm>
          <a:prstGeom prst="rect">
            <a:avLst/>
          </a:prstGeom>
          <a:noFill/>
          <a:ln/>
        </p:spPr>
        <p:txBody>
          <a:bodyPr wrap="square" lIns="0" tIns="0" rIns="0" bIns="0" rtlCol="0" anchor="ctr"/>
          <a:lstStyle/>
          <a:p>
            <a:pPr algn="ctr" indent="0" marL="0">
              <a:buNone/>
            </a:pPr>
            <a:r>
              <a:rPr lang="en-US" sz="1150" dirty="0">
                <a:solidFill>
                  <a:srgbClr val="A79DBF"/>
                </a:solidFill>
                <a:latin typeface="Calibri" pitchFamily="34" charset="0"/>
                <a:ea typeface="Calibri" pitchFamily="34" charset="-122"/>
                <a:cs typeface="Calibri" pitchFamily="34" charset="-120"/>
              </a:rPr>
              <a:t>Business document</a:t>
            </a:r>
            <a:endParaRPr lang="en-US" sz="1150" dirty="0"/>
          </a:p>
        </p:txBody>
      </p:sp>
      <p:sp>
        <p:nvSpPr>
          <p:cNvPr id="26" name="Text 24"/>
          <p:cNvSpPr/>
          <p:nvPr/>
        </p:nvSpPr>
        <p:spPr>
          <a:xfrm>
            <a:off x="640080" y="4892040"/>
            <a:ext cx="10908792" cy="365760"/>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No buckets. No fixed replies. The agent chooses the tools — and the order.</a:t>
            </a:r>
            <a:endParaRPr lang="en-US" sz="1400" dirty="0"/>
          </a:p>
        </p:txBody>
      </p:sp>
      <p:sp>
        <p:nvSpPr>
          <p:cNvPr id="27" name="Text 25"/>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28" name="Text 26"/>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AN IMPORTANT DISTINCTION</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The Model Is Not the Architecture</a:t>
            </a:r>
            <a:endParaRPr lang="en-US" sz="3400" dirty="0"/>
          </a:p>
        </p:txBody>
      </p:sp>
      <p:sp>
        <p:nvSpPr>
          <p:cNvPr id="4" name="Shape 2"/>
          <p:cNvSpPr/>
          <p:nvPr/>
        </p:nvSpPr>
        <p:spPr>
          <a:xfrm>
            <a:off x="640080" y="1737360"/>
            <a:ext cx="5225796" cy="3200400"/>
          </a:xfrm>
          <a:prstGeom prst="roundRect">
            <a:avLst>
              <a:gd name="adj" fmla="val 3429"/>
            </a:avLst>
          </a:prstGeom>
          <a:solidFill>
            <a:srgbClr val="262038"/>
          </a:solidFill>
          <a:ln/>
        </p:spPr>
      </p:sp>
      <p:sp>
        <p:nvSpPr>
          <p:cNvPr id="5" name="Text 3"/>
          <p:cNvSpPr/>
          <p:nvPr/>
        </p:nvSpPr>
        <p:spPr>
          <a:xfrm>
            <a:off x="960120" y="1965960"/>
            <a:ext cx="4585716" cy="256032"/>
          </a:xfrm>
          <a:prstGeom prst="rect">
            <a:avLst/>
          </a:prstGeom>
          <a:noFill/>
          <a:ln/>
        </p:spPr>
        <p:txBody>
          <a:bodyPr wrap="square" lIns="0" tIns="0" rIns="0" bIns="0" rtlCol="0" anchor="ctr"/>
          <a:lstStyle/>
          <a:p>
            <a:pPr indent="0" marL="0">
              <a:buNone/>
            </a:pPr>
            <a:r>
              <a:rPr lang="en-US" sz="1100" b="1" spc="160" kern="0" dirty="0">
                <a:solidFill>
                  <a:srgbClr val="8B7FD7"/>
                </a:solidFill>
                <a:latin typeface="Arial" pitchFamily="34" charset="0"/>
                <a:ea typeface="Arial" pitchFamily="34" charset="-122"/>
                <a:cs typeface="Arial" pitchFamily="34" charset="-120"/>
              </a:rPr>
              <a:t>MENTAL MODEL</a:t>
            </a:r>
            <a:endParaRPr lang="en-US" sz="1100" dirty="0"/>
          </a:p>
        </p:txBody>
      </p:sp>
      <p:sp>
        <p:nvSpPr>
          <p:cNvPr id="6" name="Shape 4"/>
          <p:cNvSpPr/>
          <p:nvPr/>
        </p:nvSpPr>
        <p:spPr>
          <a:xfrm>
            <a:off x="960120" y="2377440"/>
            <a:ext cx="4585716" cy="457200"/>
          </a:xfrm>
          <a:prstGeom prst="roundRect">
            <a:avLst>
              <a:gd name="adj" fmla="val 16000"/>
            </a:avLst>
          </a:prstGeom>
          <a:solidFill>
            <a:srgbClr val="1B1526"/>
          </a:solidFill>
          <a:ln w="12700">
            <a:solidFill>
              <a:srgbClr val="EA4B71"/>
            </a:solidFill>
            <a:prstDash val="solid"/>
          </a:ln>
        </p:spPr>
      </p:sp>
      <p:sp>
        <p:nvSpPr>
          <p:cNvPr id="7" name="Text 5"/>
          <p:cNvSpPr/>
          <p:nvPr/>
        </p:nvSpPr>
        <p:spPr>
          <a:xfrm>
            <a:off x="1143000" y="2377440"/>
            <a:ext cx="4219956" cy="457200"/>
          </a:xfrm>
          <a:prstGeom prst="rect">
            <a:avLst/>
          </a:prstGeom>
          <a:noFill/>
          <a:ln/>
        </p:spPr>
        <p:txBody>
          <a:bodyPr wrap="square" lIns="0" tIns="0" rIns="0" bIns="0" rtlCol="0" anchor="ctr"/>
          <a:lstStyle/>
          <a:p>
            <a:pPr indent="0" marL="0">
              <a:buNone/>
            </a:pPr>
            <a:r>
              <a:rPr lang="en-US" sz="1250" b="1" dirty="0">
                <a:solidFill>
                  <a:srgbClr val="EA4B71"/>
                </a:solidFill>
                <a:latin typeface="Arial" pitchFamily="34" charset="0"/>
                <a:ea typeface="Arial" pitchFamily="34" charset="-122"/>
                <a:cs typeface="Arial" pitchFamily="34" charset="-120"/>
              </a:rPr>
              <a:t>3   AI Agent</a:t>
            </a:r>
            <a:endParaRPr lang="en-US" sz="1250" dirty="0"/>
          </a:p>
        </p:txBody>
      </p:sp>
      <p:sp>
        <p:nvSpPr>
          <p:cNvPr id="8" name="Shape 6"/>
          <p:cNvSpPr/>
          <p:nvPr/>
        </p:nvSpPr>
        <p:spPr>
          <a:xfrm>
            <a:off x="960120" y="2944368"/>
            <a:ext cx="4585716" cy="457200"/>
          </a:xfrm>
          <a:prstGeom prst="roundRect">
            <a:avLst>
              <a:gd name="adj" fmla="val 16000"/>
            </a:avLst>
          </a:prstGeom>
          <a:solidFill>
            <a:srgbClr val="1B1526"/>
          </a:solidFill>
          <a:ln w="12700">
            <a:solidFill>
              <a:srgbClr val="8B7FD7"/>
            </a:solidFill>
            <a:prstDash val="solid"/>
          </a:ln>
        </p:spPr>
      </p:sp>
      <p:sp>
        <p:nvSpPr>
          <p:cNvPr id="9" name="Text 7"/>
          <p:cNvSpPr/>
          <p:nvPr/>
        </p:nvSpPr>
        <p:spPr>
          <a:xfrm>
            <a:off x="1143000" y="2944368"/>
            <a:ext cx="4219956" cy="457200"/>
          </a:xfrm>
          <a:prstGeom prst="rect">
            <a:avLst/>
          </a:prstGeom>
          <a:noFill/>
          <a:ln/>
        </p:spPr>
        <p:txBody>
          <a:bodyPr wrap="square" lIns="0" tIns="0" rIns="0" bIns="0" rtlCol="0" anchor="ctr"/>
          <a:lstStyle/>
          <a:p>
            <a:pPr indent="0" marL="0">
              <a:buNone/>
            </a:pPr>
            <a:r>
              <a:rPr lang="en-US" sz="1250" b="1" dirty="0">
                <a:solidFill>
                  <a:srgbClr val="8B7FD7"/>
                </a:solidFill>
                <a:latin typeface="Arial" pitchFamily="34" charset="0"/>
                <a:ea typeface="Arial" pitchFamily="34" charset="-122"/>
                <a:cs typeface="Arial" pitchFamily="34" charset="-120"/>
              </a:rPr>
              <a:t>2   AI Workflow</a:t>
            </a:r>
            <a:endParaRPr lang="en-US" sz="1250" dirty="0"/>
          </a:p>
        </p:txBody>
      </p:sp>
      <p:sp>
        <p:nvSpPr>
          <p:cNvPr id="10" name="Shape 8"/>
          <p:cNvSpPr/>
          <p:nvPr/>
        </p:nvSpPr>
        <p:spPr>
          <a:xfrm>
            <a:off x="960120" y="3511296"/>
            <a:ext cx="4585716" cy="457200"/>
          </a:xfrm>
          <a:prstGeom prst="roundRect">
            <a:avLst>
              <a:gd name="adj" fmla="val 16000"/>
            </a:avLst>
          </a:prstGeom>
          <a:solidFill>
            <a:srgbClr val="1B1526"/>
          </a:solidFill>
          <a:ln w="12700">
            <a:solidFill>
              <a:srgbClr val="34D399"/>
            </a:solidFill>
            <a:prstDash val="solid"/>
          </a:ln>
        </p:spPr>
      </p:sp>
      <p:sp>
        <p:nvSpPr>
          <p:cNvPr id="11" name="Text 9"/>
          <p:cNvSpPr/>
          <p:nvPr/>
        </p:nvSpPr>
        <p:spPr>
          <a:xfrm>
            <a:off x="1143000" y="3511296"/>
            <a:ext cx="4219956" cy="457200"/>
          </a:xfrm>
          <a:prstGeom prst="rect">
            <a:avLst/>
          </a:prstGeom>
          <a:noFill/>
          <a:ln/>
        </p:spPr>
        <p:txBody>
          <a:bodyPr wrap="square" lIns="0" tIns="0" rIns="0" bIns="0" rtlCol="0" anchor="ctr"/>
          <a:lstStyle/>
          <a:p>
            <a:pPr indent="0" marL="0">
              <a:buNone/>
            </a:pPr>
            <a:r>
              <a:rPr lang="en-US" sz="1250" b="1" dirty="0">
                <a:solidFill>
                  <a:srgbClr val="34D399"/>
                </a:solidFill>
                <a:latin typeface="Arial" pitchFamily="34" charset="0"/>
                <a:ea typeface="Arial" pitchFamily="34" charset="-122"/>
                <a:cs typeface="Arial" pitchFamily="34" charset="-120"/>
              </a:rPr>
              <a:t>1   Automation</a:t>
            </a:r>
            <a:endParaRPr lang="en-US" sz="1250" dirty="0"/>
          </a:p>
        </p:txBody>
      </p:sp>
      <p:sp>
        <p:nvSpPr>
          <p:cNvPr id="12" name="Text 10"/>
          <p:cNvSpPr/>
          <p:nvPr/>
        </p:nvSpPr>
        <p:spPr>
          <a:xfrm>
            <a:off x="960120" y="4206240"/>
            <a:ext cx="4585716" cy="594360"/>
          </a:xfrm>
          <a:prstGeom prst="rect">
            <a:avLst/>
          </a:prstGeom>
          <a:noFill/>
          <a:ln/>
        </p:spPr>
        <p:txBody>
          <a:bodyPr wrap="square" lIns="0" tIns="0" rIns="0" bIns="0" rtlCol="0" anchor="t"/>
          <a:lstStyle/>
          <a:p>
            <a:pPr indent="0" marL="0">
              <a:buNone/>
            </a:pPr>
            <a:r>
              <a:rPr lang="en-US" sz="1300" dirty="0">
                <a:solidFill>
                  <a:srgbClr val="A79DBF"/>
                </a:solidFill>
                <a:latin typeface="Calibri" pitchFamily="34" charset="0"/>
                <a:ea typeface="Calibri" pitchFamily="34" charset="-122"/>
                <a:cs typeface="Calibri" pitchFamily="34" charset="-120"/>
              </a:rPr>
              <a:t>Three clean levels — built to explain the difference. This is a teaching tool.</a:t>
            </a:r>
            <a:endParaRPr lang="en-US" sz="1300" dirty="0"/>
          </a:p>
        </p:txBody>
      </p:sp>
      <p:sp>
        <p:nvSpPr>
          <p:cNvPr id="13" name="Shape 11"/>
          <p:cNvSpPr/>
          <p:nvPr/>
        </p:nvSpPr>
        <p:spPr>
          <a:xfrm>
            <a:off x="6323076" y="1737360"/>
            <a:ext cx="5225796" cy="3200400"/>
          </a:xfrm>
          <a:prstGeom prst="roundRect">
            <a:avLst>
              <a:gd name="adj" fmla="val 3429"/>
            </a:avLst>
          </a:prstGeom>
          <a:solidFill>
            <a:srgbClr val="262038"/>
          </a:solidFill>
          <a:ln/>
        </p:spPr>
      </p:sp>
      <p:sp>
        <p:nvSpPr>
          <p:cNvPr id="14" name="Text 12"/>
          <p:cNvSpPr/>
          <p:nvPr/>
        </p:nvSpPr>
        <p:spPr>
          <a:xfrm>
            <a:off x="6643116" y="1965960"/>
            <a:ext cx="4585716" cy="256032"/>
          </a:xfrm>
          <a:prstGeom prst="rect">
            <a:avLst/>
          </a:prstGeom>
          <a:noFill/>
          <a:ln/>
        </p:spPr>
        <p:txBody>
          <a:bodyPr wrap="square" lIns="0" tIns="0" rIns="0" bIns="0" rtlCol="0" anchor="ctr"/>
          <a:lstStyle/>
          <a:p>
            <a:pPr indent="0" marL="0">
              <a:buNone/>
            </a:pPr>
            <a:r>
              <a:rPr lang="en-US" sz="1100" b="1" spc="160" kern="0" dirty="0">
                <a:solidFill>
                  <a:srgbClr val="EA4B71"/>
                </a:solidFill>
                <a:latin typeface="Arial" pitchFamily="34" charset="0"/>
                <a:ea typeface="Arial" pitchFamily="34" charset="-122"/>
                <a:cs typeface="Arial" pitchFamily="34" charset="-120"/>
              </a:rPr>
              <a:t>REAL ARCHITECTURE</a:t>
            </a:r>
            <a:endParaRPr lang="en-US" sz="1100" dirty="0"/>
          </a:p>
        </p:txBody>
      </p:sp>
      <p:sp>
        <p:nvSpPr>
          <p:cNvPr id="15" name="Text 13"/>
          <p:cNvSpPr/>
          <p:nvPr/>
        </p:nvSpPr>
        <p:spPr>
          <a:xfrm>
            <a:off x="6643116" y="2377440"/>
            <a:ext cx="4585716" cy="1737360"/>
          </a:xfrm>
          <a:prstGeom prst="rect">
            <a:avLst/>
          </a:prstGeom>
          <a:noFill/>
          <a:ln/>
        </p:spPr>
        <p:txBody>
          <a:bodyPr wrap="square" lIns="0" tIns="0" rIns="0" bIns="0" rtlCol="0" anchor="t"/>
          <a:lstStyle/>
          <a:p>
            <a:pPr indent="0" marL="0">
              <a:lnSpc>
                <a:spcPts val="2100"/>
              </a:lnSpc>
              <a:buNone/>
            </a:pPr>
            <a:r>
              <a:rPr lang="en-US" sz="1400" dirty="0">
                <a:solidFill>
                  <a:srgbClr val="F5F2FA"/>
                </a:solidFill>
                <a:latin typeface="Calibri" pitchFamily="34" charset="0"/>
                <a:ea typeface="Calibri" pitchFamily="34" charset="-122"/>
                <a:cs typeface="Calibri" pitchFamily="34" charset="-120"/>
              </a:rPr>
              <a:t>The tiers do not sit in separate boxes.</a:t>
            </a:r>
            <a:endParaRPr lang="en-US" sz="1400" dirty="0"/>
          </a:p>
          <a:p>
            <a:pPr indent="0" marL="0">
              <a:lnSpc>
                <a:spcPts val="2100"/>
              </a:lnSpc>
              <a:buNone/>
            </a:pPr>
            <a:endParaRPr lang="en-US" sz="1400" dirty="0"/>
          </a:p>
          <a:p>
            <a:pPr indent="0" marL="0">
              <a:lnSpc>
                <a:spcPts val="2100"/>
              </a:lnSpc>
              <a:buNone/>
            </a:pPr>
            <a:r>
              <a:rPr lang="en-US" sz="1400" dirty="0">
                <a:solidFill>
                  <a:srgbClr val="F5F2FA"/>
                </a:solidFill>
                <a:latin typeface="Calibri" pitchFamily="34" charset="0"/>
                <a:ea typeface="Calibri" pitchFamily="34" charset="-122"/>
                <a:cs typeface="Calibri" pitchFamily="34" charset="-120"/>
              </a:rPr>
              <a:t>A single workflow can contain zero agents, one agent, or several — and an agent can also run completely on its own.</a:t>
            </a:r>
            <a:endParaRPr lang="en-US" sz="1400" dirty="0"/>
          </a:p>
        </p:txBody>
      </p:sp>
      <p:sp>
        <p:nvSpPr>
          <p:cNvPr id="16" name="Text 14"/>
          <p:cNvSpPr/>
          <p:nvPr/>
        </p:nvSpPr>
        <p:spPr>
          <a:xfrm>
            <a:off x="6643116" y="4206240"/>
            <a:ext cx="4585716" cy="594360"/>
          </a:xfrm>
          <a:prstGeom prst="rect">
            <a:avLst/>
          </a:prstGeom>
          <a:noFill/>
          <a:ln/>
        </p:spPr>
        <p:txBody>
          <a:bodyPr wrap="square" lIns="0" tIns="0" rIns="0" bIns="0" rtlCol="0" anchor="t"/>
          <a:lstStyle/>
          <a:p>
            <a:pPr indent="0" marL="0">
              <a:buNone/>
            </a:pPr>
            <a:r>
              <a:rPr lang="en-US" sz="1300" dirty="0">
                <a:solidFill>
                  <a:srgbClr val="A79DBF"/>
                </a:solidFill>
                <a:latin typeface="Calibri" pitchFamily="34" charset="0"/>
                <a:ea typeface="Calibri" pitchFamily="34" charset="-122"/>
                <a:cs typeface="Calibri" pitchFamily="34" charset="-120"/>
              </a:rPr>
              <a:t>This is what you actually build.</a:t>
            </a:r>
            <a:endParaRPr lang="en-US" sz="1300" dirty="0"/>
          </a:p>
        </p:txBody>
      </p:sp>
      <p:sp>
        <p:nvSpPr>
          <p:cNvPr id="17" name="Text 15"/>
          <p:cNvSpPr/>
          <p:nvPr/>
        </p:nvSpPr>
        <p:spPr>
          <a:xfrm>
            <a:off x="640080" y="5193792"/>
            <a:ext cx="10908792" cy="365760"/>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Do not confuse the map with the road.</a:t>
            </a:r>
            <a:endParaRPr lang="en-US" sz="1400" dirty="0"/>
          </a:p>
        </p:txBody>
      </p:sp>
      <p:sp>
        <p:nvSpPr>
          <p:cNvPr id="18" name="Text 16"/>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19" name="Text 17"/>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REAL ARCHITECTURE</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An Agent Can Live Inside a Workflow</a:t>
            </a:r>
            <a:endParaRPr lang="en-US" sz="3400" dirty="0"/>
          </a:p>
        </p:txBody>
      </p:sp>
      <p:sp>
        <p:nvSpPr>
          <p:cNvPr id="4" name="Text 2"/>
          <p:cNvSpPr/>
          <p:nvPr/>
        </p:nvSpPr>
        <p:spPr>
          <a:xfrm>
            <a:off x="640080" y="1426464"/>
            <a:ext cx="10908792" cy="292608"/>
          </a:xfrm>
          <a:prstGeom prst="rect">
            <a:avLst/>
          </a:prstGeom>
          <a:noFill/>
          <a:ln/>
        </p:spPr>
        <p:txBody>
          <a:bodyPr wrap="square" lIns="0" tIns="0" rIns="0" bIns="0" rtlCol="0" anchor="ctr"/>
          <a:lstStyle/>
          <a:p>
            <a:pPr indent="0" marL="0">
              <a:buNone/>
            </a:pPr>
            <a:r>
              <a:rPr lang="en-US" sz="1350" dirty="0">
                <a:solidFill>
                  <a:srgbClr val="A79DBF"/>
                </a:solidFill>
                <a:latin typeface="Calibri" pitchFamily="34" charset="0"/>
                <a:ea typeface="Calibri" pitchFamily="34" charset="-122"/>
                <a:cs typeface="Calibri" pitchFamily="34" charset="-120"/>
              </a:rPr>
              <a:t>You fixed the path. The agent handles only the step that needs judgment.</a:t>
            </a:r>
            <a:endParaRPr lang="en-US" sz="1350" dirty="0"/>
          </a:p>
        </p:txBody>
      </p:sp>
      <p:sp>
        <p:nvSpPr>
          <p:cNvPr id="5" name="Shape 3"/>
          <p:cNvSpPr/>
          <p:nvPr/>
        </p:nvSpPr>
        <p:spPr>
          <a:xfrm>
            <a:off x="745236" y="2743200"/>
            <a:ext cx="1920240" cy="1234440"/>
          </a:xfrm>
          <a:prstGeom prst="roundRect">
            <a:avLst>
              <a:gd name="adj" fmla="val 6667"/>
            </a:avLst>
          </a:prstGeom>
          <a:solidFill>
            <a:srgbClr val="262038"/>
          </a:solidFill>
          <a:ln w="12700">
            <a:solidFill>
              <a:srgbClr val="2E2745"/>
            </a:solidFill>
            <a:prstDash val="solid"/>
          </a:ln>
        </p:spPr>
      </p:sp>
      <p:sp>
        <p:nvSpPr>
          <p:cNvPr id="6" name="Text 4"/>
          <p:cNvSpPr/>
          <p:nvPr/>
        </p:nvSpPr>
        <p:spPr>
          <a:xfrm>
            <a:off x="836676" y="2926080"/>
            <a:ext cx="1737360" cy="292608"/>
          </a:xfrm>
          <a:prstGeom prst="rect">
            <a:avLst/>
          </a:prstGeom>
          <a:noFill/>
          <a:ln/>
        </p:spPr>
        <p:txBody>
          <a:bodyPr wrap="square" lIns="0" tIns="0" rIns="0" bIns="0" rtlCol="0" anchor="ctr"/>
          <a:lstStyle/>
          <a:p>
            <a:pPr algn="ctr" indent="0" marL="0">
              <a:buNone/>
            </a:pPr>
            <a:r>
              <a:rPr lang="en-US" sz="1250" b="1" dirty="0">
                <a:solidFill>
                  <a:srgbClr val="F5F2FA"/>
                </a:solidFill>
                <a:latin typeface="Arial" pitchFamily="34" charset="0"/>
                <a:ea typeface="Arial" pitchFamily="34" charset="-122"/>
                <a:cs typeface="Arial" pitchFamily="34" charset="-120"/>
              </a:rPr>
              <a:t>Email Trigger</a:t>
            </a:r>
            <a:endParaRPr lang="en-US" sz="1250" dirty="0"/>
          </a:p>
        </p:txBody>
      </p:sp>
      <p:sp>
        <p:nvSpPr>
          <p:cNvPr id="7" name="Text 5"/>
          <p:cNvSpPr/>
          <p:nvPr/>
        </p:nvSpPr>
        <p:spPr>
          <a:xfrm>
            <a:off x="836676" y="3255264"/>
            <a:ext cx="1737360" cy="630936"/>
          </a:xfrm>
          <a:prstGeom prst="rect">
            <a:avLst/>
          </a:prstGeom>
          <a:noFill/>
          <a:ln/>
        </p:spPr>
        <p:txBody>
          <a:bodyPr wrap="square" lIns="0" tIns="0" rIns="0" bIns="0" rtlCol="0" anchor="t"/>
          <a:lstStyle/>
          <a:p>
            <a:pPr algn="ctr" indent="0" marL="0">
              <a:buNone/>
            </a:pPr>
            <a:r>
              <a:rPr lang="en-US" sz="1050" dirty="0">
                <a:solidFill>
                  <a:srgbClr val="A79DBF"/>
                </a:solidFill>
                <a:latin typeface="Calibri" pitchFamily="34" charset="0"/>
                <a:ea typeface="Calibri" pitchFamily="34" charset="-122"/>
                <a:cs typeface="Calibri" pitchFamily="34" charset="-120"/>
              </a:rPr>
              <a:t>Invoice arrives</a:t>
            </a:r>
            <a:endParaRPr lang="en-US" sz="1050" dirty="0"/>
          </a:p>
        </p:txBody>
      </p:sp>
      <p:sp>
        <p:nvSpPr>
          <p:cNvPr id="8" name="Text 6"/>
          <p:cNvSpPr/>
          <p:nvPr/>
        </p:nvSpPr>
        <p:spPr>
          <a:xfrm>
            <a:off x="2638044" y="3182112"/>
            <a:ext cx="365760" cy="365760"/>
          </a:xfrm>
          <a:prstGeom prst="rect">
            <a:avLst/>
          </a:prstGeom>
          <a:noFill/>
          <a:ln/>
        </p:spPr>
        <p:txBody>
          <a:bodyPr wrap="square" lIns="0" tIns="0" rIns="0" bIns="0" rtlCol="0" anchor="ctr"/>
          <a:lstStyle/>
          <a:p>
            <a:pPr algn="ctr" indent="0" marL="0">
              <a:buNone/>
            </a:pPr>
            <a:r>
              <a:rPr lang="en-US" sz="1700" dirty="0">
                <a:solidFill>
                  <a:srgbClr val="A79DBF"/>
                </a:solidFill>
                <a:latin typeface="Arial" pitchFamily="34" charset="0"/>
                <a:ea typeface="Arial" pitchFamily="34" charset="-122"/>
                <a:cs typeface="Arial" pitchFamily="34" charset="-120"/>
              </a:rPr>
              <a:t>→</a:t>
            </a:r>
            <a:endParaRPr lang="en-US" sz="1700" dirty="0"/>
          </a:p>
        </p:txBody>
      </p:sp>
      <p:sp>
        <p:nvSpPr>
          <p:cNvPr id="9" name="Shape 7"/>
          <p:cNvSpPr/>
          <p:nvPr/>
        </p:nvSpPr>
        <p:spPr>
          <a:xfrm>
            <a:off x="2939796" y="2743200"/>
            <a:ext cx="1920240" cy="1234440"/>
          </a:xfrm>
          <a:prstGeom prst="roundRect">
            <a:avLst>
              <a:gd name="adj" fmla="val 6667"/>
            </a:avLst>
          </a:prstGeom>
          <a:solidFill>
            <a:srgbClr val="262038"/>
          </a:solidFill>
          <a:ln w="12700">
            <a:solidFill>
              <a:srgbClr val="2E2745"/>
            </a:solidFill>
            <a:prstDash val="solid"/>
          </a:ln>
        </p:spPr>
      </p:sp>
      <p:sp>
        <p:nvSpPr>
          <p:cNvPr id="10" name="Text 8"/>
          <p:cNvSpPr/>
          <p:nvPr/>
        </p:nvSpPr>
        <p:spPr>
          <a:xfrm>
            <a:off x="3031236" y="2926080"/>
            <a:ext cx="1737360" cy="292608"/>
          </a:xfrm>
          <a:prstGeom prst="rect">
            <a:avLst/>
          </a:prstGeom>
          <a:noFill/>
          <a:ln/>
        </p:spPr>
        <p:txBody>
          <a:bodyPr wrap="square" lIns="0" tIns="0" rIns="0" bIns="0" rtlCol="0" anchor="ctr"/>
          <a:lstStyle/>
          <a:p>
            <a:pPr algn="ctr" indent="0" marL="0">
              <a:buNone/>
            </a:pPr>
            <a:r>
              <a:rPr lang="en-US" sz="1250" b="1" dirty="0">
                <a:solidFill>
                  <a:srgbClr val="F5F2FA"/>
                </a:solidFill>
                <a:latin typeface="Arial" pitchFamily="34" charset="0"/>
                <a:ea typeface="Arial" pitchFamily="34" charset="-122"/>
                <a:cs typeface="Arial" pitchFamily="34" charset="-120"/>
              </a:rPr>
              <a:t>Extract</a:t>
            </a:r>
            <a:endParaRPr lang="en-US" sz="1250" dirty="0"/>
          </a:p>
        </p:txBody>
      </p:sp>
      <p:sp>
        <p:nvSpPr>
          <p:cNvPr id="11" name="Text 9"/>
          <p:cNvSpPr/>
          <p:nvPr/>
        </p:nvSpPr>
        <p:spPr>
          <a:xfrm>
            <a:off x="3031236" y="3255264"/>
            <a:ext cx="1737360" cy="630936"/>
          </a:xfrm>
          <a:prstGeom prst="rect">
            <a:avLst/>
          </a:prstGeom>
          <a:noFill/>
          <a:ln/>
        </p:spPr>
        <p:txBody>
          <a:bodyPr wrap="square" lIns="0" tIns="0" rIns="0" bIns="0" rtlCol="0" anchor="t"/>
          <a:lstStyle/>
          <a:p>
            <a:pPr algn="ctr" indent="0" marL="0">
              <a:buNone/>
            </a:pPr>
            <a:r>
              <a:rPr lang="en-US" sz="1050" dirty="0">
                <a:solidFill>
                  <a:srgbClr val="A79DBF"/>
                </a:solidFill>
                <a:latin typeface="Calibri" pitchFamily="34" charset="0"/>
                <a:ea typeface="Calibri" pitchFamily="34" charset="-122"/>
                <a:cs typeface="Calibri" pitchFamily="34" charset="-120"/>
              </a:rPr>
              <a:t>Pull the attachment</a:t>
            </a:r>
            <a:endParaRPr lang="en-US" sz="1050" dirty="0"/>
          </a:p>
        </p:txBody>
      </p:sp>
      <p:sp>
        <p:nvSpPr>
          <p:cNvPr id="12" name="Text 10"/>
          <p:cNvSpPr/>
          <p:nvPr/>
        </p:nvSpPr>
        <p:spPr>
          <a:xfrm>
            <a:off x="4832604" y="3182112"/>
            <a:ext cx="365760" cy="365760"/>
          </a:xfrm>
          <a:prstGeom prst="rect">
            <a:avLst/>
          </a:prstGeom>
          <a:noFill/>
          <a:ln/>
        </p:spPr>
        <p:txBody>
          <a:bodyPr wrap="square" lIns="0" tIns="0" rIns="0" bIns="0" rtlCol="0" anchor="ctr"/>
          <a:lstStyle/>
          <a:p>
            <a:pPr algn="ctr" indent="0" marL="0">
              <a:buNone/>
            </a:pPr>
            <a:r>
              <a:rPr lang="en-US" sz="1700" dirty="0">
                <a:solidFill>
                  <a:srgbClr val="A79DBF"/>
                </a:solidFill>
                <a:latin typeface="Arial" pitchFamily="34" charset="0"/>
                <a:ea typeface="Arial" pitchFamily="34" charset="-122"/>
                <a:cs typeface="Arial" pitchFamily="34" charset="-120"/>
              </a:rPr>
              <a:t>→</a:t>
            </a:r>
            <a:endParaRPr lang="en-US" sz="1700" dirty="0"/>
          </a:p>
        </p:txBody>
      </p:sp>
      <p:sp>
        <p:nvSpPr>
          <p:cNvPr id="13" name="Text 11"/>
          <p:cNvSpPr/>
          <p:nvPr/>
        </p:nvSpPr>
        <p:spPr>
          <a:xfrm>
            <a:off x="5134356" y="2450592"/>
            <a:ext cx="1920240" cy="219456"/>
          </a:xfrm>
          <a:prstGeom prst="rect">
            <a:avLst/>
          </a:prstGeom>
          <a:noFill/>
          <a:ln/>
        </p:spPr>
        <p:txBody>
          <a:bodyPr wrap="square" lIns="0" tIns="0" rIns="0" bIns="0" rtlCol="0" anchor="ctr"/>
          <a:lstStyle/>
          <a:p>
            <a:pPr algn="ctr" indent="0" marL="0">
              <a:buNone/>
            </a:pPr>
            <a:r>
              <a:rPr lang="en-US" sz="900" b="1" spc="140" kern="0" dirty="0">
                <a:solidFill>
                  <a:srgbClr val="EA4B71"/>
                </a:solidFill>
                <a:latin typeface="Arial" pitchFamily="34" charset="0"/>
                <a:ea typeface="Arial" pitchFamily="34" charset="-122"/>
                <a:cs typeface="Arial" pitchFamily="34" charset="-120"/>
              </a:rPr>
              <a:t>THE TRICKY STEP</a:t>
            </a:r>
            <a:endParaRPr lang="en-US" sz="900" dirty="0"/>
          </a:p>
        </p:txBody>
      </p:sp>
      <p:sp>
        <p:nvSpPr>
          <p:cNvPr id="14" name="Shape 12"/>
          <p:cNvSpPr/>
          <p:nvPr/>
        </p:nvSpPr>
        <p:spPr>
          <a:xfrm>
            <a:off x="5134356" y="2743200"/>
            <a:ext cx="1920240" cy="1234440"/>
          </a:xfrm>
          <a:prstGeom prst="roundRect">
            <a:avLst>
              <a:gd name="adj" fmla="val 6667"/>
            </a:avLst>
          </a:prstGeom>
          <a:solidFill>
            <a:srgbClr val="262038"/>
          </a:solidFill>
          <a:ln w="19050">
            <a:solidFill>
              <a:srgbClr val="EA4B71"/>
            </a:solidFill>
            <a:prstDash val="solid"/>
          </a:ln>
        </p:spPr>
      </p:sp>
      <p:sp>
        <p:nvSpPr>
          <p:cNvPr id="15" name="Text 13"/>
          <p:cNvSpPr/>
          <p:nvPr/>
        </p:nvSpPr>
        <p:spPr>
          <a:xfrm>
            <a:off x="5225796" y="2926080"/>
            <a:ext cx="1737360" cy="292608"/>
          </a:xfrm>
          <a:prstGeom prst="rect">
            <a:avLst/>
          </a:prstGeom>
          <a:noFill/>
          <a:ln/>
        </p:spPr>
        <p:txBody>
          <a:bodyPr wrap="square" lIns="0" tIns="0" rIns="0" bIns="0" rtlCol="0" anchor="ctr"/>
          <a:lstStyle/>
          <a:p>
            <a:pPr algn="ctr" indent="0" marL="0">
              <a:buNone/>
            </a:pPr>
            <a:r>
              <a:rPr lang="en-US" sz="1250" b="1" dirty="0">
                <a:solidFill>
                  <a:srgbClr val="EA4B71"/>
                </a:solidFill>
                <a:latin typeface="Arial" pitchFamily="34" charset="0"/>
                <a:ea typeface="Arial" pitchFamily="34" charset="-122"/>
                <a:cs typeface="Arial" pitchFamily="34" charset="-120"/>
              </a:rPr>
              <a:t>AI Agent</a:t>
            </a:r>
            <a:endParaRPr lang="en-US" sz="1250" dirty="0"/>
          </a:p>
        </p:txBody>
      </p:sp>
      <p:sp>
        <p:nvSpPr>
          <p:cNvPr id="16" name="Text 14"/>
          <p:cNvSpPr/>
          <p:nvPr/>
        </p:nvSpPr>
        <p:spPr>
          <a:xfrm>
            <a:off x="5225796" y="3255264"/>
            <a:ext cx="1737360" cy="630936"/>
          </a:xfrm>
          <a:prstGeom prst="rect">
            <a:avLst/>
          </a:prstGeom>
          <a:noFill/>
          <a:ln/>
        </p:spPr>
        <p:txBody>
          <a:bodyPr wrap="square" lIns="0" tIns="0" rIns="0" bIns="0" rtlCol="0" anchor="t"/>
          <a:lstStyle/>
          <a:p>
            <a:pPr algn="ctr" indent="0" marL="0">
              <a:buNone/>
            </a:pPr>
            <a:r>
              <a:rPr lang="en-US" sz="1050" dirty="0">
                <a:solidFill>
                  <a:srgbClr val="A79DBF"/>
                </a:solidFill>
                <a:latin typeface="Calibri" pitchFamily="34" charset="0"/>
                <a:ea typeface="Calibri" pitchFamily="34" charset="-122"/>
                <a:cs typeface="Calibri" pitchFamily="34" charset="-120"/>
              </a:rPr>
              <a:t>Reads it, decides what to do</a:t>
            </a:r>
            <a:endParaRPr lang="en-US" sz="1050" dirty="0"/>
          </a:p>
        </p:txBody>
      </p:sp>
      <p:sp>
        <p:nvSpPr>
          <p:cNvPr id="17" name="Text 15"/>
          <p:cNvSpPr/>
          <p:nvPr/>
        </p:nvSpPr>
        <p:spPr>
          <a:xfrm>
            <a:off x="7027164" y="3182112"/>
            <a:ext cx="365760" cy="365760"/>
          </a:xfrm>
          <a:prstGeom prst="rect">
            <a:avLst/>
          </a:prstGeom>
          <a:noFill/>
          <a:ln/>
        </p:spPr>
        <p:txBody>
          <a:bodyPr wrap="square" lIns="0" tIns="0" rIns="0" bIns="0" rtlCol="0" anchor="ctr"/>
          <a:lstStyle/>
          <a:p>
            <a:pPr algn="ctr" indent="0" marL="0">
              <a:buNone/>
            </a:pPr>
            <a:r>
              <a:rPr lang="en-US" sz="1700" dirty="0">
                <a:solidFill>
                  <a:srgbClr val="A79DBF"/>
                </a:solidFill>
                <a:latin typeface="Arial" pitchFamily="34" charset="0"/>
                <a:ea typeface="Arial" pitchFamily="34" charset="-122"/>
                <a:cs typeface="Arial" pitchFamily="34" charset="-120"/>
              </a:rPr>
              <a:t>→</a:t>
            </a:r>
            <a:endParaRPr lang="en-US" sz="1700" dirty="0"/>
          </a:p>
        </p:txBody>
      </p:sp>
      <p:sp>
        <p:nvSpPr>
          <p:cNvPr id="18" name="Shape 16"/>
          <p:cNvSpPr/>
          <p:nvPr/>
        </p:nvSpPr>
        <p:spPr>
          <a:xfrm>
            <a:off x="7328916" y="2743200"/>
            <a:ext cx="1920240" cy="1234440"/>
          </a:xfrm>
          <a:prstGeom prst="roundRect">
            <a:avLst>
              <a:gd name="adj" fmla="val 6667"/>
            </a:avLst>
          </a:prstGeom>
          <a:solidFill>
            <a:srgbClr val="262038"/>
          </a:solidFill>
          <a:ln w="12700">
            <a:solidFill>
              <a:srgbClr val="2E2745"/>
            </a:solidFill>
            <a:prstDash val="solid"/>
          </a:ln>
        </p:spPr>
      </p:sp>
      <p:sp>
        <p:nvSpPr>
          <p:cNvPr id="19" name="Text 17"/>
          <p:cNvSpPr/>
          <p:nvPr/>
        </p:nvSpPr>
        <p:spPr>
          <a:xfrm>
            <a:off x="7420356" y="2926080"/>
            <a:ext cx="1737360" cy="292608"/>
          </a:xfrm>
          <a:prstGeom prst="rect">
            <a:avLst/>
          </a:prstGeom>
          <a:noFill/>
          <a:ln/>
        </p:spPr>
        <p:txBody>
          <a:bodyPr wrap="square" lIns="0" tIns="0" rIns="0" bIns="0" rtlCol="0" anchor="ctr"/>
          <a:lstStyle/>
          <a:p>
            <a:pPr algn="ctr" indent="0" marL="0">
              <a:buNone/>
            </a:pPr>
            <a:r>
              <a:rPr lang="en-US" sz="1250" b="1" dirty="0">
                <a:solidFill>
                  <a:srgbClr val="F5F2FA"/>
                </a:solidFill>
                <a:latin typeface="Arial" pitchFamily="34" charset="0"/>
                <a:ea typeface="Arial" pitchFamily="34" charset="-122"/>
                <a:cs typeface="Arial" pitchFamily="34" charset="-120"/>
              </a:rPr>
              <a:t>Update CRM</a:t>
            </a:r>
            <a:endParaRPr lang="en-US" sz="1250" dirty="0"/>
          </a:p>
        </p:txBody>
      </p:sp>
      <p:sp>
        <p:nvSpPr>
          <p:cNvPr id="20" name="Text 18"/>
          <p:cNvSpPr/>
          <p:nvPr/>
        </p:nvSpPr>
        <p:spPr>
          <a:xfrm>
            <a:off x="7420356" y="3255264"/>
            <a:ext cx="1737360" cy="630936"/>
          </a:xfrm>
          <a:prstGeom prst="rect">
            <a:avLst/>
          </a:prstGeom>
          <a:noFill/>
          <a:ln/>
        </p:spPr>
        <p:txBody>
          <a:bodyPr wrap="square" lIns="0" tIns="0" rIns="0" bIns="0" rtlCol="0" anchor="t"/>
          <a:lstStyle/>
          <a:p>
            <a:pPr algn="ctr" indent="0" marL="0">
              <a:buNone/>
            </a:pPr>
            <a:r>
              <a:rPr lang="en-US" sz="1050" dirty="0">
                <a:solidFill>
                  <a:srgbClr val="A79DBF"/>
                </a:solidFill>
                <a:latin typeface="Calibri" pitchFamily="34" charset="0"/>
                <a:ea typeface="Calibri" pitchFamily="34" charset="-122"/>
                <a:cs typeface="Calibri" pitchFamily="34" charset="-120"/>
              </a:rPr>
              <a:t>Write the record</a:t>
            </a:r>
            <a:endParaRPr lang="en-US" sz="1050" dirty="0"/>
          </a:p>
        </p:txBody>
      </p:sp>
      <p:sp>
        <p:nvSpPr>
          <p:cNvPr id="21" name="Text 19"/>
          <p:cNvSpPr/>
          <p:nvPr/>
        </p:nvSpPr>
        <p:spPr>
          <a:xfrm>
            <a:off x="9221724" y="3182112"/>
            <a:ext cx="365760" cy="365760"/>
          </a:xfrm>
          <a:prstGeom prst="rect">
            <a:avLst/>
          </a:prstGeom>
          <a:noFill/>
          <a:ln/>
        </p:spPr>
        <p:txBody>
          <a:bodyPr wrap="square" lIns="0" tIns="0" rIns="0" bIns="0" rtlCol="0" anchor="ctr"/>
          <a:lstStyle/>
          <a:p>
            <a:pPr algn="ctr" indent="0" marL="0">
              <a:buNone/>
            </a:pPr>
            <a:r>
              <a:rPr lang="en-US" sz="1700" dirty="0">
                <a:solidFill>
                  <a:srgbClr val="A79DBF"/>
                </a:solidFill>
                <a:latin typeface="Arial" pitchFamily="34" charset="0"/>
                <a:ea typeface="Arial" pitchFamily="34" charset="-122"/>
                <a:cs typeface="Arial" pitchFamily="34" charset="-120"/>
              </a:rPr>
              <a:t>→</a:t>
            </a:r>
            <a:endParaRPr lang="en-US" sz="1700" dirty="0"/>
          </a:p>
        </p:txBody>
      </p:sp>
      <p:sp>
        <p:nvSpPr>
          <p:cNvPr id="22" name="Shape 20"/>
          <p:cNvSpPr/>
          <p:nvPr/>
        </p:nvSpPr>
        <p:spPr>
          <a:xfrm>
            <a:off x="9523476" y="2743200"/>
            <a:ext cx="1920240" cy="1234440"/>
          </a:xfrm>
          <a:prstGeom prst="roundRect">
            <a:avLst>
              <a:gd name="adj" fmla="val 6667"/>
            </a:avLst>
          </a:prstGeom>
          <a:solidFill>
            <a:srgbClr val="262038"/>
          </a:solidFill>
          <a:ln w="12700">
            <a:solidFill>
              <a:srgbClr val="2E2745"/>
            </a:solidFill>
            <a:prstDash val="solid"/>
          </a:ln>
        </p:spPr>
      </p:sp>
      <p:sp>
        <p:nvSpPr>
          <p:cNvPr id="23" name="Text 21"/>
          <p:cNvSpPr/>
          <p:nvPr/>
        </p:nvSpPr>
        <p:spPr>
          <a:xfrm>
            <a:off x="9614916" y="2926080"/>
            <a:ext cx="1737360" cy="292608"/>
          </a:xfrm>
          <a:prstGeom prst="rect">
            <a:avLst/>
          </a:prstGeom>
          <a:noFill/>
          <a:ln/>
        </p:spPr>
        <p:txBody>
          <a:bodyPr wrap="square" lIns="0" tIns="0" rIns="0" bIns="0" rtlCol="0" anchor="ctr"/>
          <a:lstStyle/>
          <a:p>
            <a:pPr algn="ctr" indent="0" marL="0">
              <a:buNone/>
            </a:pPr>
            <a:r>
              <a:rPr lang="en-US" sz="1250" b="1" dirty="0">
                <a:solidFill>
                  <a:srgbClr val="F5F2FA"/>
                </a:solidFill>
                <a:latin typeface="Arial" pitchFamily="34" charset="0"/>
                <a:ea typeface="Arial" pitchFamily="34" charset="-122"/>
                <a:cs typeface="Arial" pitchFamily="34" charset="-120"/>
              </a:rPr>
              <a:t>WhatsApp</a:t>
            </a:r>
            <a:endParaRPr lang="en-US" sz="1250" dirty="0"/>
          </a:p>
        </p:txBody>
      </p:sp>
      <p:sp>
        <p:nvSpPr>
          <p:cNvPr id="24" name="Text 22"/>
          <p:cNvSpPr/>
          <p:nvPr/>
        </p:nvSpPr>
        <p:spPr>
          <a:xfrm>
            <a:off x="9614916" y="3255264"/>
            <a:ext cx="1737360" cy="630936"/>
          </a:xfrm>
          <a:prstGeom prst="rect">
            <a:avLst/>
          </a:prstGeom>
          <a:noFill/>
          <a:ln/>
        </p:spPr>
        <p:txBody>
          <a:bodyPr wrap="square" lIns="0" tIns="0" rIns="0" bIns="0" rtlCol="0" anchor="t"/>
          <a:lstStyle/>
          <a:p>
            <a:pPr algn="ctr" indent="0" marL="0">
              <a:buNone/>
            </a:pPr>
            <a:r>
              <a:rPr lang="en-US" sz="1050" dirty="0">
                <a:solidFill>
                  <a:srgbClr val="A79DBF"/>
                </a:solidFill>
                <a:latin typeface="Calibri" pitchFamily="34" charset="0"/>
                <a:ea typeface="Calibri" pitchFamily="34" charset="-122"/>
                <a:cs typeface="Calibri" pitchFamily="34" charset="-120"/>
              </a:rPr>
              <a:t>Notify the owner</a:t>
            </a:r>
            <a:endParaRPr lang="en-US" sz="1050" dirty="0"/>
          </a:p>
        </p:txBody>
      </p:sp>
      <p:sp>
        <p:nvSpPr>
          <p:cNvPr id="25" name="Shape 23"/>
          <p:cNvSpPr/>
          <p:nvPr/>
        </p:nvSpPr>
        <p:spPr>
          <a:xfrm>
            <a:off x="640080" y="4315968"/>
            <a:ext cx="10908792" cy="502920"/>
          </a:xfrm>
          <a:prstGeom prst="roundRect">
            <a:avLst>
              <a:gd name="adj" fmla="val 14545"/>
            </a:avLst>
          </a:prstGeom>
          <a:solidFill>
            <a:srgbClr val="1B1526"/>
          </a:solidFill>
          <a:ln w="12700">
            <a:solidFill>
              <a:srgbClr val="8B7FD7"/>
            </a:solidFill>
            <a:prstDash val="solid"/>
          </a:ln>
        </p:spPr>
      </p:sp>
      <p:sp>
        <p:nvSpPr>
          <p:cNvPr id="26" name="Text 24"/>
          <p:cNvSpPr/>
          <p:nvPr/>
        </p:nvSpPr>
        <p:spPr>
          <a:xfrm>
            <a:off x="640080" y="4315968"/>
            <a:ext cx="10908792" cy="502920"/>
          </a:xfrm>
          <a:prstGeom prst="rect">
            <a:avLst/>
          </a:prstGeom>
          <a:noFill/>
          <a:ln/>
        </p:spPr>
        <p:txBody>
          <a:bodyPr wrap="square" lIns="0" tIns="0" rIns="0" bIns="0" rtlCol="0" anchor="ctr"/>
          <a:lstStyle/>
          <a:p>
            <a:pPr algn="ctr" indent="0" marL="0">
              <a:buNone/>
            </a:pPr>
            <a:r>
              <a:rPr lang="en-US" sz="1150" b="1" spc="160" kern="0" dirty="0">
                <a:solidFill>
                  <a:srgbClr val="8B7FD7"/>
                </a:solidFill>
                <a:latin typeface="Arial" pitchFamily="34" charset="0"/>
                <a:ea typeface="Arial" pitchFamily="34" charset="-122"/>
                <a:cs typeface="Arial" pitchFamily="34" charset="-120"/>
              </a:rPr>
              <a:t>ALL OF THIS TOGETHER  =  AN AI WORKFLOW</a:t>
            </a:r>
            <a:endParaRPr lang="en-US" sz="1150" dirty="0"/>
          </a:p>
        </p:txBody>
      </p:sp>
      <p:sp>
        <p:nvSpPr>
          <p:cNvPr id="27" name="Shape 25"/>
          <p:cNvSpPr/>
          <p:nvPr/>
        </p:nvSpPr>
        <p:spPr>
          <a:xfrm>
            <a:off x="640080" y="5029200"/>
            <a:ext cx="10908792" cy="868680"/>
          </a:xfrm>
          <a:prstGeom prst="roundRect">
            <a:avLst>
              <a:gd name="adj" fmla="val 10526"/>
            </a:avLst>
          </a:prstGeom>
          <a:solidFill>
            <a:srgbClr val="262038"/>
          </a:solidFill>
          <a:ln w="12700">
            <a:solidFill>
              <a:srgbClr val="2E2745"/>
            </a:solidFill>
            <a:prstDash val="solid"/>
          </a:ln>
        </p:spPr>
      </p:sp>
      <p:sp>
        <p:nvSpPr>
          <p:cNvPr id="28" name="Shape 26"/>
          <p:cNvSpPr/>
          <p:nvPr/>
        </p:nvSpPr>
        <p:spPr>
          <a:xfrm>
            <a:off x="914400" y="5157216"/>
            <a:ext cx="603504" cy="603504"/>
          </a:xfrm>
          <a:prstGeom prst="ellipse">
            <a:avLst/>
          </a:prstGeom>
          <a:solidFill>
            <a:srgbClr val="2E2745"/>
          </a:solidFill>
          <a:ln/>
        </p:spPr>
      </p:sp>
      <p:pic>
        <p:nvPicPr>
          <p:cNvPr id="29" name="Image 0" descr="preencoded.png">    </p:cNvPr>
          <p:cNvPicPr>
            <a:picLocks noChangeAspect="1"/>
          </p:cNvPicPr>
          <p:nvPr/>
        </p:nvPicPr>
        <p:blipFill>
          <a:blip r:embed="rId1"/>
          <a:stretch>
            <a:fillRect/>
          </a:stretch>
        </p:blipFill>
        <p:spPr>
          <a:xfrm>
            <a:off x="1065276" y="5308092"/>
            <a:ext cx="301752" cy="301752"/>
          </a:xfrm>
          <a:prstGeom prst="rect">
            <a:avLst/>
          </a:prstGeom>
        </p:spPr>
      </p:pic>
      <p:sp>
        <p:nvSpPr>
          <p:cNvPr id="30" name="Text 27"/>
          <p:cNvSpPr/>
          <p:nvPr/>
        </p:nvSpPr>
        <p:spPr>
          <a:xfrm>
            <a:off x="1691640" y="5138928"/>
            <a:ext cx="9537192" cy="548640"/>
          </a:xfrm>
          <a:prstGeom prst="rect">
            <a:avLst/>
          </a:prstGeom>
          <a:noFill/>
          <a:ln/>
        </p:spPr>
        <p:txBody>
          <a:bodyPr wrap="square" lIns="0" tIns="0" rIns="0" bIns="0" rtlCol="0" anchor="ctr"/>
          <a:lstStyle/>
          <a:p>
            <a:pPr indent="0" marL="0">
              <a:buNone/>
            </a:pPr>
            <a:r>
              <a:rPr lang="en-US" sz="1350" dirty="0">
                <a:solidFill>
                  <a:srgbClr val="F5F2FA"/>
                </a:solidFill>
                <a:latin typeface="Calibri" pitchFamily="34" charset="0"/>
                <a:ea typeface="Calibri" pitchFamily="34" charset="-122"/>
                <a:cs typeface="Calibri" pitchFamily="34" charset="-120"/>
              </a:rPr>
              <a:t>An agent can also run standalone — the customer talks to it directly, with no workflow around it.</a:t>
            </a:r>
            <a:endParaRPr lang="en-US" sz="1350" dirty="0"/>
          </a:p>
        </p:txBody>
      </p:sp>
      <p:sp>
        <p:nvSpPr>
          <p:cNvPr id="31" name="Text 28"/>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32" name="Text 29"/>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THE SAME ANALOGY, ONE LEVEL DEEPER</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Wedding Hall vs Event Planner</a:t>
            </a:r>
            <a:endParaRPr lang="en-US" sz="3400" dirty="0"/>
          </a:p>
        </p:txBody>
      </p:sp>
      <p:sp>
        <p:nvSpPr>
          <p:cNvPr id="4" name="Shape 2"/>
          <p:cNvSpPr/>
          <p:nvPr/>
        </p:nvSpPr>
        <p:spPr>
          <a:xfrm>
            <a:off x="640080" y="1737360"/>
            <a:ext cx="5225796" cy="3291840"/>
          </a:xfrm>
          <a:prstGeom prst="roundRect">
            <a:avLst>
              <a:gd name="adj" fmla="val 3333"/>
            </a:avLst>
          </a:prstGeom>
          <a:solidFill>
            <a:srgbClr val="262038"/>
          </a:solidFill>
          <a:ln/>
        </p:spPr>
      </p:sp>
      <p:sp>
        <p:nvSpPr>
          <p:cNvPr id="5" name="Shape 3"/>
          <p:cNvSpPr/>
          <p:nvPr/>
        </p:nvSpPr>
        <p:spPr>
          <a:xfrm>
            <a:off x="960120" y="1993392"/>
            <a:ext cx="658368" cy="658368"/>
          </a:xfrm>
          <a:prstGeom prst="ellipse">
            <a:avLst/>
          </a:prstGeom>
          <a:solidFill>
            <a:srgbClr val="2E2745"/>
          </a:solidFill>
          <a:ln/>
        </p:spPr>
      </p:sp>
      <p:pic>
        <p:nvPicPr>
          <p:cNvPr id="6" name="Image 0" descr="preencoded.png">    </p:cNvPr>
          <p:cNvPicPr>
            <a:picLocks noChangeAspect="1"/>
          </p:cNvPicPr>
          <p:nvPr/>
        </p:nvPicPr>
        <p:blipFill>
          <a:blip r:embed="rId1"/>
          <a:stretch>
            <a:fillRect/>
          </a:stretch>
        </p:blipFill>
        <p:spPr>
          <a:xfrm>
            <a:off x="1124712" y="2157984"/>
            <a:ext cx="329184" cy="329184"/>
          </a:xfrm>
          <a:prstGeom prst="rect">
            <a:avLst/>
          </a:prstGeom>
        </p:spPr>
      </p:pic>
      <p:sp>
        <p:nvSpPr>
          <p:cNvPr id="7" name="Text 4"/>
          <p:cNvSpPr/>
          <p:nvPr/>
        </p:nvSpPr>
        <p:spPr>
          <a:xfrm>
            <a:off x="1783080" y="2029968"/>
            <a:ext cx="3762756" cy="237744"/>
          </a:xfrm>
          <a:prstGeom prst="rect">
            <a:avLst/>
          </a:prstGeom>
          <a:noFill/>
          <a:ln/>
        </p:spPr>
        <p:txBody>
          <a:bodyPr wrap="square" lIns="0" tIns="0" rIns="0" bIns="0" rtlCol="0" anchor="ctr"/>
          <a:lstStyle/>
          <a:p>
            <a:pPr indent="0" marL="0">
              <a:buNone/>
            </a:pPr>
            <a:r>
              <a:rPr lang="en-US" sz="1000" b="1" spc="130" kern="0" dirty="0">
                <a:solidFill>
                  <a:srgbClr val="8B7FD7"/>
                </a:solidFill>
                <a:latin typeface="Arial" pitchFamily="34" charset="0"/>
                <a:ea typeface="Arial" pitchFamily="34" charset="-122"/>
                <a:cs typeface="Arial" pitchFamily="34" charset="-120"/>
              </a:rPr>
              <a:t>AGENT INSIDE A WORKFLOW</a:t>
            </a:r>
            <a:endParaRPr lang="en-US" sz="1000" dirty="0"/>
          </a:p>
        </p:txBody>
      </p:sp>
      <p:sp>
        <p:nvSpPr>
          <p:cNvPr id="8" name="Text 5"/>
          <p:cNvSpPr/>
          <p:nvPr/>
        </p:nvSpPr>
        <p:spPr>
          <a:xfrm>
            <a:off x="1783080" y="2286000"/>
            <a:ext cx="3762756" cy="329184"/>
          </a:xfrm>
          <a:prstGeom prst="rect">
            <a:avLst/>
          </a:prstGeom>
          <a:noFill/>
          <a:ln/>
        </p:spPr>
        <p:txBody>
          <a:bodyPr wrap="square" lIns="0" tIns="0" rIns="0" bIns="0" rtlCol="0" anchor="ctr"/>
          <a:lstStyle/>
          <a:p>
            <a:pPr indent="0" marL="0">
              <a:buNone/>
            </a:pPr>
            <a:r>
              <a:rPr lang="en-US" sz="1800" b="1" dirty="0">
                <a:solidFill>
                  <a:srgbClr val="F5F2FA"/>
                </a:solidFill>
                <a:latin typeface="Arial" pitchFamily="34" charset="0"/>
                <a:ea typeface="Arial" pitchFamily="34" charset="-122"/>
                <a:cs typeface="Arial" pitchFamily="34" charset="-120"/>
              </a:rPr>
              <a:t>The Wedding Hall</a:t>
            </a:r>
            <a:endParaRPr lang="en-US" sz="1800" dirty="0"/>
          </a:p>
        </p:txBody>
      </p:sp>
      <p:sp>
        <p:nvSpPr>
          <p:cNvPr id="9" name="Text 6"/>
          <p:cNvSpPr/>
          <p:nvPr/>
        </p:nvSpPr>
        <p:spPr>
          <a:xfrm>
            <a:off x="960120" y="2880360"/>
            <a:ext cx="4585716" cy="1920240"/>
          </a:xfrm>
          <a:prstGeom prst="rect">
            <a:avLst/>
          </a:prstGeom>
          <a:noFill/>
          <a:ln/>
        </p:spPr>
        <p:txBody>
          <a:bodyPr wrap="square" lIns="0" tIns="0" rIns="0" bIns="0" rtlCol="0" anchor="t"/>
          <a:lstStyle/>
          <a:p>
            <a:pPr indent="0" marL="0">
              <a:lnSpc>
                <a:spcPts val="1900"/>
              </a:lnSpc>
              <a:buNone/>
            </a:pPr>
            <a:r>
              <a:rPr lang="en-US" sz="1300" dirty="0">
                <a:solidFill>
                  <a:srgbClr val="A79DBF"/>
                </a:solidFill>
                <a:latin typeface="Calibri" pitchFamily="34" charset="0"/>
                <a:ea typeface="Calibri" pitchFamily="34" charset="-122"/>
                <a:cs typeface="Calibri" pitchFamily="34" charset="-120"/>
              </a:rPr>
              <a:t>The hall has its own fixed process: booking → menu → setup on the day. Those steps are theirs.</a:t>
            </a:r>
            <a:endParaRPr lang="en-US" sz="1300" dirty="0"/>
          </a:p>
          <a:p>
            <a:pPr indent="0" marL="0">
              <a:lnSpc>
                <a:spcPts val="1900"/>
              </a:lnSpc>
              <a:buNone/>
            </a:pPr>
            <a:endParaRPr lang="en-US" sz="1300" dirty="0"/>
          </a:p>
          <a:p>
            <a:pPr indent="0" marL="0">
              <a:lnSpc>
                <a:spcPts val="1900"/>
              </a:lnSpc>
              <a:buNone/>
            </a:pPr>
            <a:r>
              <a:rPr lang="en-US" sz="1300" dirty="0">
                <a:solidFill>
                  <a:srgbClr val="A79DBF"/>
                </a:solidFill>
                <a:latin typeface="Calibri" pitchFamily="34" charset="0"/>
                <a:ea typeface="Calibri" pitchFamily="34" charset="-122"/>
                <a:cs typeface="Calibri" pitchFamily="34" charset="-120"/>
              </a:rPr>
              <a:t>But for decoration they call in an event planner, who picks the theme, colours and arrangement himself.</a:t>
            </a:r>
            <a:endParaRPr lang="en-US" sz="1300" dirty="0"/>
          </a:p>
        </p:txBody>
      </p:sp>
      <p:sp>
        <p:nvSpPr>
          <p:cNvPr id="10" name="Shape 7"/>
          <p:cNvSpPr/>
          <p:nvPr/>
        </p:nvSpPr>
        <p:spPr>
          <a:xfrm>
            <a:off x="6323076" y="1737360"/>
            <a:ext cx="5225796" cy="3291840"/>
          </a:xfrm>
          <a:prstGeom prst="roundRect">
            <a:avLst>
              <a:gd name="adj" fmla="val 3333"/>
            </a:avLst>
          </a:prstGeom>
          <a:solidFill>
            <a:srgbClr val="262038"/>
          </a:solidFill>
          <a:ln/>
        </p:spPr>
      </p:sp>
      <p:sp>
        <p:nvSpPr>
          <p:cNvPr id="11" name="Shape 8"/>
          <p:cNvSpPr/>
          <p:nvPr/>
        </p:nvSpPr>
        <p:spPr>
          <a:xfrm>
            <a:off x="6643116" y="1993392"/>
            <a:ext cx="658368" cy="658368"/>
          </a:xfrm>
          <a:prstGeom prst="ellipse">
            <a:avLst/>
          </a:prstGeom>
          <a:solidFill>
            <a:srgbClr val="2E2745"/>
          </a:solidFill>
          <a:ln/>
        </p:spPr>
      </p:sp>
      <p:pic>
        <p:nvPicPr>
          <p:cNvPr id="12" name="Image 1" descr="preencoded.png">    </p:cNvPr>
          <p:cNvPicPr>
            <a:picLocks noChangeAspect="1"/>
          </p:cNvPicPr>
          <p:nvPr/>
        </p:nvPicPr>
        <p:blipFill>
          <a:blip r:embed="rId2"/>
          <a:stretch>
            <a:fillRect/>
          </a:stretch>
        </p:blipFill>
        <p:spPr>
          <a:xfrm>
            <a:off x="6807708" y="2157984"/>
            <a:ext cx="329184" cy="329184"/>
          </a:xfrm>
          <a:prstGeom prst="rect">
            <a:avLst/>
          </a:prstGeom>
        </p:spPr>
      </p:pic>
      <p:sp>
        <p:nvSpPr>
          <p:cNvPr id="13" name="Text 9"/>
          <p:cNvSpPr/>
          <p:nvPr/>
        </p:nvSpPr>
        <p:spPr>
          <a:xfrm>
            <a:off x="7466076" y="2029968"/>
            <a:ext cx="3762756" cy="237744"/>
          </a:xfrm>
          <a:prstGeom prst="rect">
            <a:avLst/>
          </a:prstGeom>
          <a:noFill/>
          <a:ln/>
        </p:spPr>
        <p:txBody>
          <a:bodyPr wrap="square" lIns="0" tIns="0" rIns="0" bIns="0" rtlCol="0" anchor="ctr"/>
          <a:lstStyle/>
          <a:p>
            <a:pPr indent="0" marL="0">
              <a:buNone/>
            </a:pPr>
            <a:r>
              <a:rPr lang="en-US" sz="1000" b="1" spc="130" kern="0" dirty="0">
                <a:solidFill>
                  <a:srgbClr val="EA4B71"/>
                </a:solidFill>
                <a:latin typeface="Arial" pitchFamily="34" charset="0"/>
                <a:ea typeface="Arial" pitchFamily="34" charset="-122"/>
                <a:cs typeface="Arial" pitchFamily="34" charset="-120"/>
              </a:rPr>
              <a:t>STANDALONE AGENT</a:t>
            </a:r>
            <a:endParaRPr lang="en-US" sz="1000" dirty="0"/>
          </a:p>
        </p:txBody>
      </p:sp>
      <p:sp>
        <p:nvSpPr>
          <p:cNvPr id="14" name="Text 10"/>
          <p:cNvSpPr/>
          <p:nvPr/>
        </p:nvSpPr>
        <p:spPr>
          <a:xfrm>
            <a:off x="7466076" y="2286000"/>
            <a:ext cx="3762756" cy="329184"/>
          </a:xfrm>
          <a:prstGeom prst="rect">
            <a:avLst/>
          </a:prstGeom>
          <a:noFill/>
          <a:ln/>
        </p:spPr>
        <p:txBody>
          <a:bodyPr wrap="square" lIns="0" tIns="0" rIns="0" bIns="0" rtlCol="0" anchor="ctr"/>
          <a:lstStyle/>
          <a:p>
            <a:pPr indent="0" marL="0">
              <a:buNone/>
            </a:pPr>
            <a:r>
              <a:rPr lang="en-US" sz="1800" b="1" dirty="0">
                <a:solidFill>
                  <a:srgbClr val="F5F2FA"/>
                </a:solidFill>
                <a:latin typeface="Arial" pitchFamily="34" charset="0"/>
                <a:ea typeface="Arial" pitchFamily="34" charset="-122"/>
                <a:cs typeface="Arial" pitchFamily="34" charset="-120"/>
              </a:rPr>
              <a:t>The Planner Direct</a:t>
            </a:r>
            <a:endParaRPr lang="en-US" sz="1800" dirty="0"/>
          </a:p>
        </p:txBody>
      </p:sp>
      <p:sp>
        <p:nvSpPr>
          <p:cNvPr id="15" name="Text 11"/>
          <p:cNvSpPr/>
          <p:nvPr/>
        </p:nvSpPr>
        <p:spPr>
          <a:xfrm>
            <a:off x="6643116" y="2880360"/>
            <a:ext cx="4585716" cy="1920240"/>
          </a:xfrm>
          <a:prstGeom prst="rect">
            <a:avLst/>
          </a:prstGeom>
          <a:noFill/>
          <a:ln/>
        </p:spPr>
        <p:txBody>
          <a:bodyPr wrap="square" lIns="0" tIns="0" rIns="0" bIns="0" rtlCol="0" anchor="t"/>
          <a:lstStyle/>
          <a:p>
            <a:pPr indent="0" marL="0">
              <a:lnSpc>
                <a:spcPts val="1900"/>
              </a:lnSpc>
              <a:buNone/>
            </a:pPr>
            <a:r>
              <a:rPr lang="en-US" sz="1300" dirty="0">
                <a:solidFill>
                  <a:srgbClr val="A79DBF"/>
                </a:solidFill>
                <a:latin typeface="Calibri" pitchFamily="34" charset="0"/>
                <a:ea typeface="Calibri" pitchFamily="34" charset="-122"/>
                <a:cs typeface="Calibri" pitchFamily="34" charset="-120"/>
              </a:rPr>
              <a:t>You skip the hall and hire the planner yourself: “5 lakh budget, make it good.”</a:t>
            </a:r>
            <a:endParaRPr lang="en-US" sz="1300" dirty="0"/>
          </a:p>
          <a:p>
            <a:pPr indent="0" marL="0">
              <a:lnSpc>
                <a:spcPts val="1900"/>
              </a:lnSpc>
              <a:buNone/>
            </a:pPr>
            <a:endParaRPr lang="en-US" sz="1300" dirty="0"/>
          </a:p>
          <a:p>
            <a:pPr indent="0" marL="0">
              <a:lnSpc>
                <a:spcPts val="1900"/>
              </a:lnSpc>
              <a:buNone/>
            </a:pPr>
            <a:r>
              <a:rPr lang="en-US" sz="1300" dirty="0">
                <a:solidFill>
                  <a:srgbClr val="A79DBF"/>
                </a:solidFill>
                <a:latin typeface="Calibri" pitchFamily="34" charset="0"/>
                <a:ea typeface="Calibri" pitchFamily="34" charset="-122"/>
                <a:cs typeface="Calibri" pitchFamily="34" charset="-120"/>
              </a:rPr>
              <a:t>Venue, food, decor, timing — every decision is his. You only handed over the goal.</a:t>
            </a:r>
            <a:endParaRPr lang="en-US" sz="1300" dirty="0"/>
          </a:p>
        </p:txBody>
      </p:sp>
      <p:sp>
        <p:nvSpPr>
          <p:cNvPr id="16" name="Text 12"/>
          <p:cNvSpPr/>
          <p:nvPr/>
        </p:nvSpPr>
        <p:spPr>
          <a:xfrm>
            <a:off x="640080" y="5285232"/>
            <a:ext cx="10908792" cy="365760"/>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Same planner both times. The only question is whether he runs one step — or the whole job.</a:t>
            </a:r>
            <a:endParaRPr lang="en-US" sz="1400" dirty="0"/>
          </a:p>
        </p:txBody>
      </p:sp>
      <p:sp>
        <p:nvSpPr>
          <p:cNvPr id="17" name="Text 13"/>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18" name="Text 14"/>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SIDE BY SIDE</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All Three, Compared</a:t>
            </a:r>
            <a:endParaRPr lang="en-US" sz="3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3063240"/>
                <a:gridCol w="2615184"/>
                <a:gridCol w="2615184"/>
                <a:gridCol w="2615184"/>
              </a:tblGrid>
              <a:tr h="502920">
                <a:tc>
                  <a:txBody>
                    <a:bodyPr/>
                    <a:lstStyle/>
                    <a:p>
                      <a:pPr algn="ctr" indent="0" marL="0">
                        <a:buNone/>
                      </a:pPr>
                      <a:endParaRPr lang="en-US" sz="130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E2745"/>
                    </a:solidFill>
                  </a:tcPr>
                </a:tc>
                <a:tc>
                  <a:txBody>
                    <a:bodyPr/>
                    <a:lstStyle/>
                    <a:p>
                      <a:pPr algn="ctr" indent="0" marL="0">
                        <a:buNone/>
                      </a:pPr>
                      <a:r>
                        <a:rPr lang="en-US" sz="1300" b="1" dirty="0">
                          <a:solidFill>
                            <a:srgbClr val="34D399"/>
                          </a:solidFill>
                          <a:latin typeface="Calibri" pitchFamily="34" charset="0"/>
                          <a:ea typeface="Calibri" pitchFamily="34" charset="-122"/>
                          <a:cs typeface="Calibri" pitchFamily="34" charset="-120"/>
                        </a:rPr>
                        <a:t>Automation</a:t>
                      </a:r>
                      <a:endParaRPr lang="en-US" sz="130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E2745"/>
                    </a:solidFill>
                  </a:tcPr>
                </a:tc>
                <a:tc>
                  <a:txBody>
                    <a:bodyPr/>
                    <a:lstStyle/>
                    <a:p>
                      <a:pPr algn="ctr" indent="0" marL="0">
                        <a:buNone/>
                      </a:pPr>
                      <a:r>
                        <a:rPr lang="en-US" sz="1300" b="1" dirty="0">
                          <a:solidFill>
                            <a:srgbClr val="8B7FD7"/>
                          </a:solidFill>
                          <a:latin typeface="Calibri" pitchFamily="34" charset="0"/>
                          <a:ea typeface="Calibri" pitchFamily="34" charset="-122"/>
                          <a:cs typeface="Calibri" pitchFamily="34" charset="-120"/>
                        </a:rPr>
                        <a:t>AI Workflow</a:t>
                      </a:r>
                      <a:endParaRPr lang="en-US" sz="130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E2745"/>
                    </a:solidFill>
                  </a:tcPr>
                </a:tc>
                <a:tc>
                  <a:txBody>
                    <a:bodyPr/>
                    <a:lstStyle/>
                    <a:p>
                      <a:pPr algn="ctr" indent="0" marL="0">
                        <a:buNone/>
                      </a:pPr>
                      <a:r>
                        <a:rPr lang="en-US" sz="1300" b="1" dirty="0">
                          <a:solidFill>
                            <a:srgbClr val="EA4B71"/>
                          </a:solidFill>
                          <a:latin typeface="Calibri" pitchFamily="34" charset="0"/>
                          <a:ea typeface="Calibri" pitchFamily="34" charset="-122"/>
                          <a:cs typeface="Calibri" pitchFamily="34" charset="-120"/>
                        </a:rPr>
                        <a:t>AI Agent</a:t>
                      </a:r>
                      <a:endParaRPr lang="en-US" sz="130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E2745"/>
                    </a:solidFill>
                  </a:tcPr>
                </a:tc>
              </a:tr>
              <a:tr h="502920">
                <a:tc>
                  <a:txBody>
                    <a:bodyPr/>
                    <a:lstStyle/>
                    <a:p>
                      <a:pPr algn="l" indent="0" marL="0">
                        <a:buNone/>
                      </a:pPr>
                      <a:r>
                        <a:rPr lang="en-US" sz="1250" b="1" dirty="0">
                          <a:solidFill>
                            <a:srgbClr val="A79DBF"/>
                          </a:solidFill>
                          <a:latin typeface="Calibri" pitchFamily="34" charset="0"/>
                          <a:ea typeface="Calibri" pitchFamily="34" charset="-122"/>
                          <a:cs typeface="Calibri" pitchFamily="34" charset="-120"/>
                        </a:rPr>
                        <a:t>  Who decides the steps?</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E2745"/>
                    </a:solidFill>
                  </a:tcPr>
                </a:tc>
                <a:tc>
                  <a:txBody>
                    <a:bodyPr/>
                    <a:lstStyle/>
                    <a:p>
                      <a:pPr algn="ctr" indent="0" marL="0">
                        <a:buNone/>
                      </a:pPr>
                      <a:r>
                        <a:rPr lang="en-US" sz="1250" dirty="0">
                          <a:solidFill>
                            <a:srgbClr val="34D399"/>
                          </a:solidFill>
                          <a:latin typeface="Calibri" pitchFamily="34" charset="0"/>
                          <a:ea typeface="Calibri" pitchFamily="34" charset="-122"/>
                          <a:cs typeface="Calibri" pitchFamily="34" charset="-120"/>
                        </a:rPr>
                        <a:t>You — fixed rules</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c>
                  <a:txBody>
                    <a:bodyPr/>
                    <a:lstStyle/>
                    <a:p>
                      <a:pPr algn="ctr" indent="0" marL="0">
                        <a:buNone/>
                      </a:pPr>
                      <a:r>
                        <a:rPr lang="en-US" sz="1250" dirty="0">
                          <a:solidFill>
                            <a:srgbClr val="8B7FD7"/>
                          </a:solidFill>
                          <a:latin typeface="Calibri" pitchFamily="34" charset="0"/>
                          <a:ea typeface="Calibri" pitchFamily="34" charset="-122"/>
                          <a:cs typeface="Calibri" pitchFamily="34" charset="-120"/>
                        </a:rPr>
                        <a:t>You — fixed path</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c>
                  <a:txBody>
                    <a:bodyPr/>
                    <a:lstStyle/>
                    <a:p>
                      <a:pPr algn="ctr" indent="0" marL="0">
                        <a:buNone/>
                      </a:pPr>
                      <a:r>
                        <a:rPr lang="en-US" sz="1250" dirty="0">
                          <a:solidFill>
                            <a:srgbClr val="EA4B71"/>
                          </a:solidFill>
                          <a:latin typeface="Calibri" pitchFamily="34" charset="0"/>
                          <a:ea typeface="Calibri" pitchFamily="34" charset="-122"/>
                          <a:cs typeface="Calibri" pitchFamily="34" charset="-120"/>
                        </a:rPr>
                        <a:t>The LLM</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r>
              <a:tr h="502920">
                <a:tc>
                  <a:txBody>
                    <a:bodyPr/>
                    <a:lstStyle/>
                    <a:p>
                      <a:pPr algn="l" indent="0" marL="0">
                        <a:buNone/>
                      </a:pPr>
                      <a:r>
                        <a:rPr lang="en-US" sz="1250" b="1" dirty="0">
                          <a:solidFill>
                            <a:srgbClr val="A79DBF"/>
                          </a:solidFill>
                          <a:latin typeface="Calibri" pitchFamily="34" charset="0"/>
                          <a:ea typeface="Calibri" pitchFamily="34" charset="-122"/>
                          <a:cs typeface="Calibri" pitchFamily="34" charset="-120"/>
                        </a:rPr>
                        <a:t>  AI involved?</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E2745"/>
                    </a:solidFill>
                  </a:tcPr>
                </a:tc>
                <a:tc>
                  <a:txBody>
                    <a:bodyPr/>
                    <a:lstStyle/>
                    <a:p>
                      <a:pPr algn="ctr" indent="0" marL="0">
                        <a:buNone/>
                      </a:pPr>
                      <a:r>
                        <a:rPr lang="en-US" sz="1250" dirty="0">
                          <a:solidFill>
                            <a:srgbClr val="F5F2FA"/>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c>
                  <a:txBody>
                    <a:bodyPr/>
                    <a:lstStyle/>
                    <a:p>
                      <a:pPr algn="ctr" indent="0" marL="0">
                        <a:buNone/>
                      </a:pPr>
                      <a:r>
                        <a:rPr lang="en-US" sz="1250" dirty="0">
                          <a:solidFill>
                            <a:srgbClr val="F5F2FA"/>
                          </a:solidFill>
                          <a:latin typeface="Calibri" pitchFamily="34" charset="0"/>
                          <a:ea typeface="Calibri" pitchFamily="34" charset="-122"/>
                          <a:cs typeface="Calibri" pitchFamily="34" charset="-120"/>
                        </a:rPr>
                        <a:t>Yes — in one or more steps</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c>
                  <a:txBody>
                    <a:bodyPr/>
                    <a:lstStyle/>
                    <a:p>
                      <a:pPr algn="ctr" indent="0" marL="0">
                        <a:buNone/>
                      </a:pPr>
                      <a:r>
                        <a:rPr lang="en-US" sz="1250" dirty="0">
                          <a:solidFill>
                            <a:srgbClr val="F5F2FA"/>
                          </a:solidFill>
                          <a:latin typeface="Calibri" pitchFamily="34" charset="0"/>
                          <a:ea typeface="Calibri" pitchFamily="34" charset="-122"/>
                          <a:cs typeface="Calibri" pitchFamily="34" charset="-120"/>
                        </a:rPr>
                        <a:t>Yes — drives everything</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r>
              <a:tr h="502920">
                <a:tc>
                  <a:txBody>
                    <a:bodyPr/>
                    <a:lstStyle/>
                    <a:p>
                      <a:pPr algn="l" indent="0" marL="0">
                        <a:buNone/>
                      </a:pPr>
                      <a:r>
                        <a:rPr lang="en-US" sz="1250" b="1" dirty="0">
                          <a:solidFill>
                            <a:srgbClr val="A79DBF"/>
                          </a:solidFill>
                          <a:latin typeface="Calibri" pitchFamily="34" charset="0"/>
                          <a:ea typeface="Calibri" pitchFamily="34" charset="-122"/>
                          <a:cs typeface="Calibri" pitchFamily="34" charset="-120"/>
                        </a:rPr>
                        <a:t>  Predictability</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E2745"/>
                    </a:solidFill>
                  </a:tcPr>
                </a:tc>
                <a:tc>
                  <a:txBody>
                    <a:bodyPr/>
                    <a:lstStyle/>
                    <a:p>
                      <a:pPr algn="ctr" indent="0" marL="0">
                        <a:buNone/>
                      </a:pPr>
                      <a:r>
                        <a:rPr lang="en-US" sz="1250" dirty="0">
                          <a:solidFill>
                            <a:srgbClr val="F5F2FA"/>
                          </a:solidFill>
                          <a:latin typeface="Calibri" pitchFamily="34" charset="0"/>
                          <a:ea typeface="Calibri" pitchFamily="34" charset="-122"/>
                          <a:cs typeface="Calibri" pitchFamily="34" charset="-120"/>
                        </a:rPr>
                        <a:t>Highest</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c>
                  <a:txBody>
                    <a:bodyPr/>
                    <a:lstStyle/>
                    <a:p>
                      <a:pPr algn="ctr" indent="0" marL="0">
                        <a:buNone/>
                      </a:pPr>
                      <a:r>
                        <a:rPr lang="en-US" sz="1250" dirty="0">
                          <a:solidFill>
                            <a:srgbClr val="F5F2FA"/>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c>
                  <a:txBody>
                    <a:bodyPr/>
                    <a:lstStyle/>
                    <a:p>
                      <a:pPr algn="ctr" indent="0" marL="0">
                        <a:buNone/>
                      </a:pPr>
                      <a:r>
                        <a:rPr lang="en-US" sz="1250" dirty="0">
                          <a:solidFill>
                            <a:srgbClr val="F5F2FA"/>
                          </a:solidFill>
                          <a:latin typeface="Calibri" pitchFamily="34" charset="0"/>
                          <a:ea typeface="Calibri" pitchFamily="34" charset="-122"/>
                          <a:cs typeface="Calibri" pitchFamily="34" charset="-120"/>
                        </a:rPr>
                        <a:t>Lower</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r>
              <a:tr h="502920">
                <a:tc>
                  <a:txBody>
                    <a:bodyPr/>
                    <a:lstStyle/>
                    <a:p>
                      <a:pPr algn="l" indent="0" marL="0">
                        <a:buNone/>
                      </a:pPr>
                      <a:r>
                        <a:rPr lang="en-US" sz="1250" b="1" dirty="0">
                          <a:solidFill>
                            <a:srgbClr val="A79DBF"/>
                          </a:solidFill>
                          <a:latin typeface="Calibri" pitchFamily="34" charset="0"/>
                          <a:ea typeface="Calibri" pitchFamily="34" charset="-122"/>
                          <a:cs typeface="Calibri" pitchFamily="34" charset="-120"/>
                        </a:rPr>
                        <a:t>  Cost &amp; latency</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E2745"/>
                    </a:solidFill>
                  </a:tcPr>
                </a:tc>
                <a:tc>
                  <a:txBody>
                    <a:bodyPr/>
                    <a:lstStyle/>
                    <a:p>
                      <a:pPr algn="ctr" indent="0" marL="0">
                        <a:buNone/>
                      </a:pPr>
                      <a:r>
                        <a:rPr lang="en-US" sz="1250" dirty="0">
                          <a:solidFill>
                            <a:srgbClr val="F5F2FA"/>
                          </a:solidFill>
                          <a:latin typeface="Calibri" pitchFamily="34" charset="0"/>
                          <a:ea typeface="Calibri" pitchFamily="34" charset="-122"/>
                          <a:cs typeface="Calibri" pitchFamily="34" charset="-120"/>
                        </a:rPr>
                        <a:t>Lowest</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c>
                  <a:txBody>
                    <a:bodyPr/>
                    <a:lstStyle/>
                    <a:p>
                      <a:pPr algn="ctr" indent="0" marL="0">
                        <a:buNone/>
                      </a:pPr>
                      <a:r>
                        <a:rPr lang="en-US" sz="1250" dirty="0">
                          <a:solidFill>
                            <a:srgbClr val="F5F2FA"/>
                          </a:solidFill>
                          <a:latin typeface="Calibri" pitchFamily="34" charset="0"/>
                          <a:ea typeface="Calibri" pitchFamily="34" charset="-122"/>
                          <a:cs typeface="Calibri" pitchFamily="34" charset="-120"/>
                        </a:rPr>
                        <a:t>Medium</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c>
                  <a:txBody>
                    <a:bodyPr/>
                    <a:lstStyle/>
                    <a:p>
                      <a:pPr algn="ctr" indent="0" marL="0">
                        <a:buNone/>
                      </a:pPr>
                      <a:r>
                        <a:rPr lang="en-US" sz="1250" dirty="0">
                          <a:solidFill>
                            <a:srgbClr val="F5F2FA"/>
                          </a:solidFill>
                          <a:latin typeface="Calibri" pitchFamily="34" charset="0"/>
                          <a:ea typeface="Calibri" pitchFamily="34" charset="-122"/>
                          <a:cs typeface="Calibri" pitchFamily="34" charset="-120"/>
                        </a:rPr>
                        <a:t>Highest</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r>
              <a:tr h="502920">
                <a:tc>
                  <a:txBody>
                    <a:bodyPr/>
                    <a:lstStyle/>
                    <a:p>
                      <a:pPr algn="l" indent="0" marL="0">
                        <a:buNone/>
                      </a:pPr>
                      <a:r>
                        <a:rPr lang="en-US" sz="1250" b="1" dirty="0">
                          <a:solidFill>
                            <a:srgbClr val="A79DBF"/>
                          </a:solidFill>
                          <a:latin typeface="Calibri" pitchFamily="34" charset="0"/>
                          <a:ea typeface="Calibri" pitchFamily="34" charset="-122"/>
                          <a:cs typeface="Calibri" pitchFamily="34" charset="-120"/>
                        </a:rPr>
                        <a:t>  Handles the unexpected?</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E2745"/>
                    </a:solidFill>
                  </a:tcPr>
                </a:tc>
                <a:tc>
                  <a:txBody>
                    <a:bodyPr/>
                    <a:lstStyle/>
                    <a:p>
                      <a:pPr algn="ctr" indent="0" marL="0">
                        <a:buNone/>
                      </a:pPr>
                      <a:r>
                        <a:rPr lang="en-US" sz="1250" dirty="0">
                          <a:solidFill>
                            <a:srgbClr val="F5F2FA"/>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c>
                  <a:txBody>
                    <a:bodyPr/>
                    <a:lstStyle/>
                    <a:p>
                      <a:pPr algn="ctr" indent="0" marL="0">
                        <a:buNone/>
                      </a:pPr>
                      <a:r>
                        <a:rPr lang="en-US" sz="1250" dirty="0">
                          <a:solidFill>
                            <a:srgbClr val="F5F2FA"/>
                          </a:solidFill>
                          <a:latin typeface="Calibri" pitchFamily="34" charset="0"/>
                          <a:ea typeface="Calibri" pitchFamily="34" charset="-122"/>
                          <a:cs typeface="Calibri" pitchFamily="34" charset="-120"/>
                        </a:rPr>
                        <a:t>A little</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c>
                  <a:txBody>
                    <a:bodyPr/>
                    <a:lstStyle/>
                    <a:p>
                      <a:pPr algn="ctr" indent="0" marL="0">
                        <a:buNone/>
                      </a:pPr>
                      <a:r>
                        <a:rPr lang="en-US" sz="1250" dirty="0">
                          <a:solidFill>
                            <a:srgbClr val="F5F2FA"/>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r>
              <a:tr h="502920">
                <a:tc>
                  <a:txBody>
                    <a:bodyPr/>
                    <a:lstStyle/>
                    <a:p>
                      <a:pPr algn="l" indent="0" marL="0">
                        <a:buNone/>
                      </a:pPr>
                      <a:r>
                        <a:rPr lang="en-US" sz="1250" b="1" dirty="0">
                          <a:solidFill>
                            <a:srgbClr val="A79DBF"/>
                          </a:solidFill>
                          <a:latin typeface="Calibri" pitchFamily="34" charset="0"/>
                          <a:ea typeface="Calibri" pitchFamily="34" charset="-122"/>
                          <a:cs typeface="Calibri" pitchFamily="34" charset="-120"/>
                        </a:rPr>
                        <a:t>  Best for</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E2745"/>
                    </a:solidFill>
                  </a:tcPr>
                </a:tc>
                <a:tc>
                  <a:txBody>
                    <a:bodyPr/>
                    <a:lstStyle/>
                    <a:p>
                      <a:pPr algn="ctr" indent="0" marL="0">
                        <a:buNone/>
                      </a:pPr>
                      <a:r>
                        <a:rPr lang="en-US" sz="1250" dirty="0">
                          <a:solidFill>
                            <a:srgbClr val="F5F2FA"/>
                          </a:solidFill>
                          <a:latin typeface="Calibri" pitchFamily="34" charset="0"/>
                          <a:ea typeface="Calibri" pitchFamily="34" charset="-122"/>
                          <a:cs typeface="Calibri" pitchFamily="34" charset="-120"/>
                        </a:rPr>
                        <a:t>Simple repetitive tasks</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c>
                  <a:txBody>
                    <a:bodyPr/>
                    <a:lstStyle/>
                    <a:p>
                      <a:pPr algn="ctr" indent="0" marL="0">
                        <a:buNone/>
                      </a:pPr>
                      <a:r>
                        <a:rPr lang="en-US" sz="1250" dirty="0">
                          <a:solidFill>
                            <a:srgbClr val="F5F2FA"/>
                          </a:solidFill>
                          <a:latin typeface="Calibri" pitchFamily="34" charset="0"/>
                          <a:ea typeface="Calibri" pitchFamily="34" charset="-122"/>
                          <a:cs typeface="Calibri" pitchFamily="34" charset="-120"/>
                        </a:rPr>
                        <a:t>Defined tasks, messy input</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c>
                  <a:txBody>
                    <a:bodyPr/>
                    <a:lstStyle/>
                    <a:p>
                      <a:pPr algn="ctr" indent="0" marL="0">
                        <a:buNone/>
                      </a:pPr>
                      <a:r>
                        <a:rPr lang="en-US" sz="1250" dirty="0">
                          <a:solidFill>
                            <a:srgbClr val="F5F2FA"/>
                          </a:solidFill>
                          <a:latin typeface="Calibri" pitchFamily="34" charset="0"/>
                          <a:ea typeface="Calibri" pitchFamily="34" charset="-122"/>
                          <a:cs typeface="Calibri" pitchFamily="34" charset="-120"/>
                        </a:rPr>
                        <a:t>Open-ended goals</a:t>
                      </a:r>
                      <a:endParaRPr lang="en-US" sz="1250" dirty="0">
                        <a:latin typeface="Calibri" charset="0"/>
                        <a:ea typeface="Calibri" charset="0"/>
                        <a:cs typeface="Calibri" charset="0"/>
                      </a:endParaRPr>
                    </a:p>
                  </a:txBody>
                  <a:tcPr marL="76200" marR="76200" marT="76200" marB="762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r>
            </a:tbl>
          </a:graphicData>
        </a:graphic>
      </p:graphicFrame>
      <p:sp>
        <p:nvSpPr>
          <p:cNvPr id="5" name="Text 2"/>
          <p:cNvSpPr/>
          <p:nvPr/>
        </p:nvSpPr>
        <p:spPr>
          <a:xfrm>
            <a:off x="640080" y="5532120"/>
            <a:ext cx="10908792" cy="365760"/>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One question separates all three: who decides the steps?</a:t>
            </a:r>
            <a:endParaRPr lang="en-US" sz="1400" dirty="0"/>
          </a:p>
        </p:txBody>
      </p:sp>
      <p:sp>
        <p:nvSpPr>
          <p:cNvPr id="6" name="Text 3"/>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7" name="Text 4"/>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THE DECISION GUIDE</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Which One Should You Build?</a:t>
            </a:r>
            <a:endParaRPr lang="en-US" sz="3400" dirty="0"/>
          </a:p>
        </p:txBody>
      </p:sp>
      <p:sp>
        <p:nvSpPr>
          <p:cNvPr id="4" name="Text 2"/>
          <p:cNvSpPr/>
          <p:nvPr/>
        </p:nvSpPr>
        <p:spPr>
          <a:xfrm>
            <a:off x="640080" y="1426464"/>
            <a:ext cx="10908792" cy="292608"/>
          </a:xfrm>
          <a:prstGeom prst="rect">
            <a:avLst/>
          </a:prstGeom>
          <a:noFill/>
          <a:ln/>
        </p:spPr>
        <p:txBody>
          <a:bodyPr wrap="square" lIns="0" tIns="0" rIns="0" bIns="0" rtlCol="0" anchor="ctr"/>
          <a:lstStyle/>
          <a:p>
            <a:pPr indent="0" marL="0">
              <a:buNone/>
            </a:pPr>
            <a:r>
              <a:rPr lang="en-US" sz="1350" dirty="0">
                <a:solidFill>
                  <a:srgbClr val="A79DBF"/>
                </a:solidFill>
                <a:latin typeface="Calibri" pitchFamily="34" charset="0"/>
                <a:ea typeface="Calibri" pitchFamily="34" charset="-122"/>
                <a:cs typeface="Calibri" pitchFamily="34" charset="-120"/>
              </a:rPr>
              <a:t>Ask these top to bottom. Stop at the first yes.</a:t>
            </a:r>
            <a:endParaRPr lang="en-US" sz="1350" dirty="0"/>
          </a:p>
        </p:txBody>
      </p:sp>
      <p:sp>
        <p:nvSpPr>
          <p:cNvPr id="5" name="Shape 3"/>
          <p:cNvSpPr/>
          <p:nvPr/>
        </p:nvSpPr>
        <p:spPr>
          <a:xfrm>
            <a:off x="640080" y="1920240"/>
            <a:ext cx="10908792" cy="1005840"/>
          </a:xfrm>
          <a:prstGeom prst="roundRect">
            <a:avLst>
              <a:gd name="adj" fmla="val 10909"/>
            </a:avLst>
          </a:prstGeom>
          <a:solidFill>
            <a:srgbClr val="262038"/>
          </a:solidFill>
          <a:ln/>
        </p:spPr>
      </p:sp>
      <p:sp>
        <p:nvSpPr>
          <p:cNvPr id="6" name="Shape 4"/>
          <p:cNvSpPr/>
          <p:nvPr/>
        </p:nvSpPr>
        <p:spPr>
          <a:xfrm>
            <a:off x="914400" y="2185416"/>
            <a:ext cx="475488" cy="475488"/>
          </a:xfrm>
          <a:prstGeom prst="ellipse">
            <a:avLst/>
          </a:prstGeom>
          <a:solidFill>
            <a:srgbClr val="34D399"/>
          </a:solidFill>
          <a:ln/>
        </p:spPr>
      </p:sp>
      <p:sp>
        <p:nvSpPr>
          <p:cNvPr id="7" name="Text 5"/>
          <p:cNvSpPr/>
          <p:nvPr/>
        </p:nvSpPr>
        <p:spPr>
          <a:xfrm>
            <a:off x="914400" y="2185416"/>
            <a:ext cx="475488" cy="475488"/>
          </a:xfrm>
          <a:prstGeom prst="rect">
            <a:avLst/>
          </a:prstGeom>
          <a:noFill/>
          <a:ln/>
        </p:spPr>
        <p:txBody>
          <a:bodyPr wrap="square" lIns="0" tIns="0" rIns="0" bIns="0" rtlCol="0" anchor="ctr"/>
          <a:lstStyle/>
          <a:p>
            <a:pPr algn="ctr" indent="0" marL="0">
              <a:buNone/>
            </a:pPr>
            <a:r>
              <a:rPr lang="en-US" sz="1700" b="1" dirty="0">
                <a:solidFill>
                  <a:srgbClr val="1B1526"/>
                </a:solidFill>
                <a:latin typeface="Arial" pitchFamily="34" charset="0"/>
                <a:ea typeface="Arial" pitchFamily="34" charset="-122"/>
                <a:cs typeface="Arial" pitchFamily="34" charset="-120"/>
              </a:rPr>
              <a:t>1</a:t>
            </a:r>
            <a:endParaRPr lang="en-US" sz="1700" dirty="0"/>
          </a:p>
        </p:txBody>
      </p:sp>
      <p:sp>
        <p:nvSpPr>
          <p:cNvPr id="8" name="Text 6"/>
          <p:cNvSpPr/>
          <p:nvPr/>
        </p:nvSpPr>
        <p:spPr>
          <a:xfrm>
            <a:off x="1463040" y="1920240"/>
            <a:ext cx="6217920" cy="1005840"/>
          </a:xfrm>
          <a:prstGeom prst="rect">
            <a:avLst/>
          </a:prstGeom>
          <a:noFill/>
          <a:ln/>
        </p:spPr>
        <p:txBody>
          <a:bodyPr wrap="square" lIns="0" tIns="0" rIns="0" bIns="0" rtlCol="0" anchor="ctr"/>
          <a:lstStyle/>
          <a:p>
            <a:pPr indent="0" marL="0">
              <a:buNone/>
            </a:pPr>
            <a:r>
              <a:rPr lang="en-US" sz="1450" dirty="0">
                <a:solidFill>
                  <a:srgbClr val="F5F2FA"/>
                </a:solidFill>
                <a:latin typeface="Calibri" pitchFamily="34" charset="0"/>
                <a:ea typeface="Calibri" pitchFamily="34" charset="-122"/>
                <a:cs typeface="Calibri" pitchFamily="34" charset="-120"/>
              </a:rPr>
              <a:t>Always the same steps, and no judgment needed anywhere?</a:t>
            </a:r>
            <a:endParaRPr lang="en-US" sz="1450" dirty="0"/>
          </a:p>
        </p:txBody>
      </p:sp>
      <p:sp>
        <p:nvSpPr>
          <p:cNvPr id="9" name="Text 7"/>
          <p:cNvSpPr/>
          <p:nvPr/>
        </p:nvSpPr>
        <p:spPr>
          <a:xfrm>
            <a:off x="7818120" y="2240280"/>
            <a:ext cx="365760" cy="365760"/>
          </a:xfrm>
          <a:prstGeom prst="rect">
            <a:avLst/>
          </a:prstGeom>
          <a:noFill/>
          <a:ln/>
        </p:spPr>
        <p:txBody>
          <a:bodyPr wrap="square" lIns="0" tIns="0" rIns="0" bIns="0" rtlCol="0" anchor="ctr"/>
          <a:lstStyle/>
          <a:p>
            <a:pPr algn="ctr" indent="0" marL="0">
              <a:buNone/>
            </a:pPr>
            <a:r>
              <a:rPr lang="en-US" sz="2000" dirty="0">
                <a:solidFill>
                  <a:srgbClr val="A79DBF"/>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8366760" y="2121408"/>
            <a:ext cx="2926080" cy="603504"/>
          </a:xfrm>
          <a:prstGeom prst="roundRect">
            <a:avLst>
              <a:gd name="adj" fmla="val 13636"/>
            </a:avLst>
          </a:prstGeom>
          <a:solidFill>
            <a:srgbClr val="1B1526"/>
          </a:solidFill>
          <a:ln w="16510">
            <a:solidFill>
              <a:srgbClr val="34D399"/>
            </a:solidFill>
            <a:prstDash val="solid"/>
          </a:ln>
        </p:spPr>
      </p:sp>
      <p:sp>
        <p:nvSpPr>
          <p:cNvPr id="11" name="Text 9"/>
          <p:cNvSpPr/>
          <p:nvPr/>
        </p:nvSpPr>
        <p:spPr>
          <a:xfrm>
            <a:off x="8366760" y="2121408"/>
            <a:ext cx="2926080" cy="603504"/>
          </a:xfrm>
          <a:prstGeom prst="rect">
            <a:avLst/>
          </a:prstGeom>
          <a:noFill/>
          <a:ln/>
        </p:spPr>
        <p:txBody>
          <a:bodyPr wrap="square" lIns="0" tIns="0" rIns="0" bIns="0" rtlCol="0" anchor="ctr"/>
          <a:lstStyle/>
          <a:p>
            <a:pPr algn="ctr" indent="0" marL="0">
              <a:buNone/>
            </a:pPr>
            <a:r>
              <a:rPr lang="en-US" sz="1300" b="1" spc="120" kern="0" dirty="0">
                <a:solidFill>
                  <a:srgbClr val="34D399"/>
                </a:solidFill>
                <a:latin typeface="Arial" pitchFamily="34" charset="0"/>
                <a:ea typeface="Arial" pitchFamily="34" charset="-122"/>
                <a:cs typeface="Arial" pitchFamily="34" charset="-120"/>
              </a:rPr>
              <a:t>AUTOMATION</a:t>
            </a:r>
            <a:endParaRPr lang="en-US" sz="1300" dirty="0"/>
          </a:p>
        </p:txBody>
      </p:sp>
      <p:sp>
        <p:nvSpPr>
          <p:cNvPr id="12" name="Shape 10"/>
          <p:cNvSpPr/>
          <p:nvPr/>
        </p:nvSpPr>
        <p:spPr>
          <a:xfrm>
            <a:off x="640080" y="3090672"/>
            <a:ext cx="10908792" cy="1005840"/>
          </a:xfrm>
          <a:prstGeom prst="roundRect">
            <a:avLst>
              <a:gd name="adj" fmla="val 10909"/>
            </a:avLst>
          </a:prstGeom>
          <a:solidFill>
            <a:srgbClr val="262038"/>
          </a:solidFill>
          <a:ln/>
        </p:spPr>
      </p:sp>
      <p:sp>
        <p:nvSpPr>
          <p:cNvPr id="13" name="Shape 11"/>
          <p:cNvSpPr/>
          <p:nvPr/>
        </p:nvSpPr>
        <p:spPr>
          <a:xfrm>
            <a:off x="914400" y="3355848"/>
            <a:ext cx="475488" cy="475488"/>
          </a:xfrm>
          <a:prstGeom prst="ellipse">
            <a:avLst/>
          </a:prstGeom>
          <a:solidFill>
            <a:srgbClr val="8B7FD7"/>
          </a:solidFill>
          <a:ln/>
        </p:spPr>
      </p:sp>
      <p:sp>
        <p:nvSpPr>
          <p:cNvPr id="14" name="Text 12"/>
          <p:cNvSpPr/>
          <p:nvPr/>
        </p:nvSpPr>
        <p:spPr>
          <a:xfrm>
            <a:off x="914400" y="3355848"/>
            <a:ext cx="475488" cy="475488"/>
          </a:xfrm>
          <a:prstGeom prst="rect">
            <a:avLst/>
          </a:prstGeom>
          <a:noFill/>
          <a:ln/>
        </p:spPr>
        <p:txBody>
          <a:bodyPr wrap="square" lIns="0" tIns="0" rIns="0" bIns="0" rtlCol="0" anchor="ctr"/>
          <a:lstStyle/>
          <a:p>
            <a:pPr algn="ctr" indent="0" marL="0">
              <a:buNone/>
            </a:pPr>
            <a:r>
              <a:rPr lang="en-US" sz="1700" b="1" dirty="0">
                <a:solidFill>
                  <a:srgbClr val="1B1526"/>
                </a:solidFill>
                <a:latin typeface="Arial" pitchFamily="34" charset="0"/>
                <a:ea typeface="Arial" pitchFamily="34" charset="-122"/>
                <a:cs typeface="Arial" pitchFamily="34" charset="-120"/>
              </a:rPr>
              <a:t>2</a:t>
            </a:r>
            <a:endParaRPr lang="en-US" sz="1700" dirty="0"/>
          </a:p>
        </p:txBody>
      </p:sp>
      <p:sp>
        <p:nvSpPr>
          <p:cNvPr id="15" name="Text 13"/>
          <p:cNvSpPr/>
          <p:nvPr/>
        </p:nvSpPr>
        <p:spPr>
          <a:xfrm>
            <a:off x="1463040" y="3090672"/>
            <a:ext cx="6217920" cy="1005840"/>
          </a:xfrm>
          <a:prstGeom prst="rect">
            <a:avLst/>
          </a:prstGeom>
          <a:noFill/>
          <a:ln/>
        </p:spPr>
        <p:txBody>
          <a:bodyPr wrap="square" lIns="0" tIns="0" rIns="0" bIns="0" rtlCol="0" anchor="ctr"/>
          <a:lstStyle/>
          <a:p>
            <a:pPr indent="0" marL="0">
              <a:buNone/>
            </a:pPr>
            <a:r>
              <a:rPr lang="en-US" sz="1450" dirty="0">
                <a:solidFill>
                  <a:srgbClr val="F5F2FA"/>
                </a:solidFill>
                <a:latin typeface="Calibri" pitchFamily="34" charset="0"/>
                <a:ea typeface="Calibri" pitchFamily="34" charset="-122"/>
                <a:cs typeface="Calibri" pitchFamily="34" charset="-120"/>
              </a:rPr>
              <a:t>Steps are fixed — but one part must understand messy, human language?</a:t>
            </a:r>
            <a:endParaRPr lang="en-US" sz="1450" dirty="0"/>
          </a:p>
        </p:txBody>
      </p:sp>
      <p:sp>
        <p:nvSpPr>
          <p:cNvPr id="16" name="Text 14"/>
          <p:cNvSpPr/>
          <p:nvPr/>
        </p:nvSpPr>
        <p:spPr>
          <a:xfrm>
            <a:off x="7818120" y="3410712"/>
            <a:ext cx="365760" cy="365760"/>
          </a:xfrm>
          <a:prstGeom prst="rect">
            <a:avLst/>
          </a:prstGeom>
          <a:noFill/>
          <a:ln/>
        </p:spPr>
        <p:txBody>
          <a:bodyPr wrap="square" lIns="0" tIns="0" rIns="0" bIns="0" rtlCol="0" anchor="ctr"/>
          <a:lstStyle/>
          <a:p>
            <a:pPr algn="ctr" indent="0" marL="0">
              <a:buNone/>
            </a:pPr>
            <a:r>
              <a:rPr lang="en-US" sz="2000" dirty="0">
                <a:solidFill>
                  <a:srgbClr val="A79DBF"/>
                </a:solidFill>
                <a:latin typeface="Arial" pitchFamily="34" charset="0"/>
                <a:ea typeface="Arial" pitchFamily="34" charset="-122"/>
                <a:cs typeface="Arial" pitchFamily="34" charset="-120"/>
              </a:rPr>
              <a:t>→</a:t>
            </a:r>
            <a:endParaRPr lang="en-US" sz="2000" dirty="0"/>
          </a:p>
        </p:txBody>
      </p:sp>
      <p:sp>
        <p:nvSpPr>
          <p:cNvPr id="17" name="Shape 15"/>
          <p:cNvSpPr/>
          <p:nvPr/>
        </p:nvSpPr>
        <p:spPr>
          <a:xfrm>
            <a:off x="8366760" y="3291840"/>
            <a:ext cx="2926080" cy="603504"/>
          </a:xfrm>
          <a:prstGeom prst="roundRect">
            <a:avLst>
              <a:gd name="adj" fmla="val 13636"/>
            </a:avLst>
          </a:prstGeom>
          <a:solidFill>
            <a:srgbClr val="1B1526"/>
          </a:solidFill>
          <a:ln w="16510">
            <a:solidFill>
              <a:srgbClr val="8B7FD7"/>
            </a:solidFill>
            <a:prstDash val="solid"/>
          </a:ln>
        </p:spPr>
      </p:sp>
      <p:sp>
        <p:nvSpPr>
          <p:cNvPr id="18" name="Text 16"/>
          <p:cNvSpPr/>
          <p:nvPr/>
        </p:nvSpPr>
        <p:spPr>
          <a:xfrm>
            <a:off x="8366760" y="3291840"/>
            <a:ext cx="2926080" cy="603504"/>
          </a:xfrm>
          <a:prstGeom prst="rect">
            <a:avLst/>
          </a:prstGeom>
          <a:noFill/>
          <a:ln/>
        </p:spPr>
        <p:txBody>
          <a:bodyPr wrap="square" lIns="0" tIns="0" rIns="0" bIns="0" rtlCol="0" anchor="ctr"/>
          <a:lstStyle/>
          <a:p>
            <a:pPr algn="ctr" indent="0" marL="0">
              <a:buNone/>
            </a:pPr>
            <a:r>
              <a:rPr lang="en-US" sz="1300" b="1" spc="120" kern="0" dirty="0">
                <a:solidFill>
                  <a:srgbClr val="8B7FD7"/>
                </a:solidFill>
                <a:latin typeface="Arial" pitchFamily="34" charset="0"/>
                <a:ea typeface="Arial" pitchFamily="34" charset="-122"/>
                <a:cs typeface="Arial" pitchFamily="34" charset="-120"/>
              </a:rPr>
              <a:t>AI WORKFLOW</a:t>
            </a:r>
            <a:endParaRPr lang="en-US" sz="1300" dirty="0"/>
          </a:p>
        </p:txBody>
      </p:sp>
      <p:sp>
        <p:nvSpPr>
          <p:cNvPr id="19" name="Shape 17"/>
          <p:cNvSpPr/>
          <p:nvPr/>
        </p:nvSpPr>
        <p:spPr>
          <a:xfrm>
            <a:off x="640080" y="4261104"/>
            <a:ext cx="10908792" cy="1005840"/>
          </a:xfrm>
          <a:prstGeom prst="roundRect">
            <a:avLst>
              <a:gd name="adj" fmla="val 10909"/>
            </a:avLst>
          </a:prstGeom>
          <a:solidFill>
            <a:srgbClr val="262038"/>
          </a:solidFill>
          <a:ln/>
        </p:spPr>
      </p:sp>
      <p:sp>
        <p:nvSpPr>
          <p:cNvPr id="20" name="Shape 18"/>
          <p:cNvSpPr/>
          <p:nvPr/>
        </p:nvSpPr>
        <p:spPr>
          <a:xfrm>
            <a:off x="914400" y="4526280"/>
            <a:ext cx="475488" cy="475488"/>
          </a:xfrm>
          <a:prstGeom prst="ellipse">
            <a:avLst/>
          </a:prstGeom>
          <a:solidFill>
            <a:srgbClr val="EA4B71"/>
          </a:solidFill>
          <a:ln/>
        </p:spPr>
      </p:sp>
      <p:sp>
        <p:nvSpPr>
          <p:cNvPr id="21" name="Text 19"/>
          <p:cNvSpPr/>
          <p:nvPr/>
        </p:nvSpPr>
        <p:spPr>
          <a:xfrm>
            <a:off x="914400" y="4526280"/>
            <a:ext cx="475488" cy="475488"/>
          </a:xfrm>
          <a:prstGeom prst="rect">
            <a:avLst/>
          </a:prstGeom>
          <a:noFill/>
          <a:ln/>
        </p:spPr>
        <p:txBody>
          <a:bodyPr wrap="square" lIns="0" tIns="0" rIns="0" bIns="0" rtlCol="0" anchor="ctr"/>
          <a:lstStyle/>
          <a:p>
            <a:pPr algn="ctr" indent="0" marL="0">
              <a:buNone/>
            </a:pPr>
            <a:r>
              <a:rPr lang="en-US" sz="1700" b="1" dirty="0">
                <a:solidFill>
                  <a:srgbClr val="1B1526"/>
                </a:solidFill>
                <a:latin typeface="Arial" pitchFamily="34" charset="0"/>
                <a:ea typeface="Arial" pitchFamily="34" charset="-122"/>
                <a:cs typeface="Arial" pitchFamily="34" charset="-120"/>
              </a:rPr>
              <a:t>3</a:t>
            </a:r>
            <a:endParaRPr lang="en-US" sz="1700" dirty="0"/>
          </a:p>
        </p:txBody>
      </p:sp>
      <p:sp>
        <p:nvSpPr>
          <p:cNvPr id="22" name="Text 20"/>
          <p:cNvSpPr/>
          <p:nvPr/>
        </p:nvSpPr>
        <p:spPr>
          <a:xfrm>
            <a:off x="1463040" y="4261104"/>
            <a:ext cx="6217920" cy="1005840"/>
          </a:xfrm>
          <a:prstGeom prst="rect">
            <a:avLst/>
          </a:prstGeom>
          <a:noFill/>
          <a:ln/>
        </p:spPr>
        <p:txBody>
          <a:bodyPr wrap="square" lIns="0" tIns="0" rIns="0" bIns="0" rtlCol="0" anchor="ctr"/>
          <a:lstStyle/>
          <a:p>
            <a:pPr indent="0" marL="0">
              <a:buNone/>
            </a:pPr>
            <a:r>
              <a:rPr lang="en-US" sz="1450" dirty="0">
                <a:solidFill>
                  <a:srgbClr val="F5F2FA"/>
                </a:solidFill>
                <a:latin typeface="Calibri" pitchFamily="34" charset="0"/>
                <a:ea typeface="Calibri" pitchFamily="34" charset="-122"/>
                <a:cs typeface="Calibri" pitchFamily="34" charset="-120"/>
              </a:rPr>
              <a:t>Do the steps genuinely change case by case, so the system must decide?</a:t>
            </a:r>
            <a:endParaRPr lang="en-US" sz="1450" dirty="0"/>
          </a:p>
        </p:txBody>
      </p:sp>
      <p:sp>
        <p:nvSpPr>
          <p:cNvPr id="23" name="Text 21"/>
          <p:cNvSpPr/>
          <p:nvPr/>
        </p:nvSpPr>
        <p:spPr>
          <a:xfrm>
            <a:off x="7818120" y="4581144"/>
            <a:ext cx="365760" cy="365760"/>
          </a:xfrm>
          <a:prstGeom prst="rect">
            <a:avLst/>
          </a:prstGeom>
          <a:noFill/>
          <a:ln/>
        </p:spPr>
        <p:txBody>
          <a:bodyPr wrap="square" lIns="0" tIns="0" rIns="0" bIns="0" rtlCol="0" anchor="ctr"/>
          <a:lstStyle/>
          <a:p>
            <a:pPr algn="ctr" indent="0" marL="0">
              <a:buNone/>
            </a:pPr>
            <a:r>
              <a:rPr lang="en-US" sz="2000" dirty="0">
                <a:solidFill>
                  <a:srgbClr val="A79DBF"/>
                </a:solidFill>
                <a:latin typeface="Arial" pitchFamily="34" charset="0"/>
                <a:ea typeface="Arial" pitchFamily="34" charset="-122"/>
                <a:cs typeface="Arial" pitchFamily="34" charset="-120"/>
              </a:rPr>
              <a:t>→</a:t>
            </a:r>
            <a:endParaRPr lang="en-US" sz="2000" dirty="0"/>
          </a:p>
        </p:txBody>
      </p:sp>
      <p:sp>
        <p:nvSpPr>
          <p:cNvPr id="24" name="Shape 22"/>
          <p:cNvSpPr/>
          <p:nvPr/>
        </p:nvSpPr>
        <p:spPr>
          <a:xfrm>
            <a:off x="8366760" y="4462272"/>
            <a:ext cx="2926080" cy="603504"/>
          </a:xfrm>
          <a:prstGeom prst="roundRect">
            <a:avLst>
              <a:gd name="adj" fmla="val 13636"/>
            </a:avLst>
          </a:prstGeom>
          <a:solidFill>
            <a:srgbClr val="1B1526"/>
          </a:solidFill>
          <a:ln w="16510">
            <a:solidFill>
              <a:srgbClr val="EA4B71"/>
            </a:solidFill>
            <a:prstDash val="solid"/>
          </a:ln>
        </p:spPr>
      </p:sp>
      <p:sp>
        <p:nvSpPr>
          <p:cNvPr id="25" name="Text 23"/>
          <p:cNvSpPr/>
          <p:nvPr/>
        </p:nvSpPr>
        <p:spPr>
          <a:xfrm>
            <a:off x="8366760" y="4462272"/>
            <a:ext cx="2926080" cy="603504"/>
          </a:xfrm>
          <a:prstGeom prst="rect">
            <a:avLst/>
          </a:prstGeom>
          <a:noFill/>
          <a:ln/>
        </p:spPr>
        <p:txBody>
          <a:bodyPr wrap="square" lIns="0" tIns="0" rIns="0" bIns="0" rtlCol="0" anchor="ctr"/>
          <a:lstStyle/>
          <a:p>
            <a:pPr algn="ctr" indent="0" marL="0">
              <a:buNone/>
            </a:pPr>
            <a:r>
              <a:rPr lang="en-US" sz="1300" b="1" spc="120" kern="0" dirty="0">
                <a:solidFill>
                  <a:srgbClr val="EA4B71"/>
                </a:solidFill>
                <a:latin typeface="Arial" pitchFamily="34" charset="0"/>
                <a:ea typeface="Arial" pitchFamily="34" charset="-122"/>
                <a:cs typeface="Arial" pitchFamily="34" charset="-120"/>
              </a:rPr>
              <a:t>AI AGENT</a:t>
            </a:r>
            <a:endParaRPr lang="en-US" sz="1300" dirty="0"/>
          </a:p>
        </p:txBody>
      </p:sp>
      <p:sp>
        <p:nvSpPr>
          <p:cNvPr id="26" name="Text 24"/>
          <p:cNvSpPr/>
          <p:nvPr/>
        </p:nvSpPr>
        <p:spPr>
          <a:xfrm>
            <a:off x="640080" y="5532120"/>
            <a:ext cx="10908792" cy="365760"/>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Use the lowest tier that solves the problem.</a:t>
            </a:r>
            <a:endParaRPr lang="en-US" sz="1400" dirty="0"/>
          </a:p>
        </p:txBody>
      </p:sp>
      <p:sp>
        <p:nvSpPr>
          <p:cNvPr id="27" name="Text 25"/>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28" name="Text 26"/>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THE GOLDEN RULE</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Start at the Bottom. Climb Only When Forced.</a:t>
            </a:r>
            <a:endParaRPr lang="en-US" sz="3400" dirty="0"/>
          </a:p>
        </p:txBody>
      </p:sp>
      <p:sp>
        <p:nvSpPr>
          <p:cNvPr id="4" name="Shape 2"/>
          <p:cNvSpPr/>
          <p:nvPr/>
        </p:nvSpPr>
        <p:spPr>
          <a:xfrm>
            <a:off x="640080" y="1783080"/>
            <a:ext cx="10908792" cy="1691640"/>
          </a:xfrm>
          <a:prstGeom prst="roundRect">
            <a:avLst>
              <a:gd name="adj" fmla="val 6486"/>
            </a:avLst>
          </a:prstGeom>
          <a:solidFill>
            <a:srgbClr val="262038"/>
          </a:solidFill>
          <a:ln/>
        </p:spPr>
      </p:sp>
      <p:sp>
        <p:nvSpPr>
          <p:cNvPr id="5" name="Shape 3"/>
          <p:cNvSpPr/>
          <p:nvPr/>
        </p:nvSpPr>
        <p:spPr>
          <a:xfrm>
            <a:off x="1005840" y="2240280"/>
            <a:ext cx="658368" cy="658368"/>
          </a:xfrm>
          <a:prstGeom prst="ellipse">
            <a:avLst/>
          </a:prstGeom>
          <a:solidFill>
            <a:srgbClr val="2E2745"/>
          </a:solidFill>
          <a:ln/>
        </p:spPr>
      </p:sp>
      <p:pic>
        <p:nvPicPr>
          <p:cNvPr id="6" name="Image 0" descr="preencoded.png">    </p:cNvPr>
          <p:cNvPicPr>
            <a:picLocks noChangeAspect="1"/>
          </p:cNvPicPr>
          <p:nvPr/>
        </p:nvPicPr>
        <p:blipFill>
          <a:blip r:embed="rId1"/>
          <a:stretch>
            <a:fillRect/>
          </a:stretch>
        </p:blipFill>
        <p:spPr>
          <a:xfrm>
            <a:off x="1170432" y="2404872"/>
            <a:ext cx="329184" cy="329184"/>
          </a:xfrm>
          <a:prstGeom prst="rect">
            <a:avLst/>
          </a:prstGeom>
        </p:spPr>
      </p:pic>
      <p:sp>
        <p:nvSpPr>
          <p:cNvPr id="7" name="Text 4"/>
          <p:cNvSpPr/>
          <p:nvPr/>
        </p:nvSpPr>
        <p:spPr>
          <a:xfrm>
            <a:off x="1874520" y="2011680"/>
            <a:ext cx="9262872" cy="960120"/>
          </a:xfrm>
          <a:prstGeom prst="rect">
            <a:avLst/>
          </a:prstGeom>
          <a:noFill/>
          <a:ln/>
        </p:spPr>
        <p:txBody>
          <a:bodyPr wrap="square" lIns="0" tIns="0" rIns="0" bIns="0" rtlCol="0" anchor="t"/>
          <a:lstStyle/>
          <a:p>
            <a:pPr indent="0" marL="0">
              <a:lnSpc>
                <a:spcPts val="2200"/>
              </a:lnSpc>
              <a:buNone/>
            </a:pPr>
            <a:r>
              <a:rPr lang="en-US" sz="1500" i="1" dirty="0">
                <a:solidFill>
                  <a:srgbClr val="F5F2FA"/>
                </a:solidFill>
                <a:latin typeface="Calibri" pitchFamily="34" charset="0"/>
                <a:ea typeface="Calibri" pitchFamily="34" charset="-122"/>
                <a:cs typeface="Calibri" pitchFamily="34" charset="-120"/>
              </a:rPr>
              <a:t>“Workflows offer predictability and consistency for well-defined tasks, whereas agents are the better option when flexibility and model-driven decision-making are needed at scale.”</a:t>
            </a:r>
            <a:endParaRPr lang="en-US" sz="1500" dirty="0"/>
          </a:p>
        </p:txBody>
      </p:sp>
      <p:sp>
        <p:nvSpPr>
          <p:cNvPr id="8" name="Text 5"/>
          <p:cNvSpPr/>
          <p:nvPr/>
        </p:nvSpPr>
        <p:spPr>
          <a:xfrm>
            <a:off x="1874520" y="3017520"/>
            <a:ext cx="9262872" cy="274320"/>
          </a:xfrm>
          <a:prstGeom prst="rect">
            <a:avLst/>
          </a:prstGeom>
          <a:noFill/>
          <a:ln/>
        </p:spPr>
        <p:txBody>
          <a:bodyPr wrap="square" lIns="0" tIns="0" rIns="0" bIns="0" rtlCol="0" anchor="ctr"/>
          <a:lstStyle/>
          <a:p>
            <a:pPr indent="0" marL="0">
              <a:buNone/>
            </a:pPr>
            <a:r>
              <a:rPr lang="en-US" sz="1200" dirty="0">
                <a:solidFill>
                  <a:srgbClr val="A79DBF"/>
                </a:solidFill>
                <a:latin typeface="Calibri" pitchFamily="34" charset="0"/>
                <a:ea typeface="Calibri" pitchFamily="34" charset="-122"/>
                <a:cs typeface="Calibri" pitchFamily="34" charset="-120"/>
              </a:rPr>
              <a:t>— Anthropic,  Building Effective Agents</a:t>
            </a:r>
            <a:endParaRPr lang="en-US" sz="1200" dirty="0"/>
          </a:p>
        </p:txBody>
      </p:sp>
      <p:sp>
        <p:nvSpPr>
          <p:cNvPr id="9" name="Shape 6"/>
          <p:cNvSpPr/>
          <p:nvPr/>
        </p:nvSpPr>
        <p:spPr>
          <a:xfrm>
            <a:off x="640080" y="3913632"/>
            <a:ext cx="3392424" cy="1005840"/>
          </a:xfrm>
          <a:prstGeom prst="roundRect">
            <a:avLst>
              <a:gd name="adj" fmla="val 10909"/>
            </a:avLst>
          </a:prstGeom>
          <a:solidFill>
            <a:srgbClr val="262038"/>
          </a:solidFill>
          <a:ln/>
        </p:spPr>
      </p:sp>
      <p:sp>
        <p:nvSpPr>
          <p:cNvPr id="10" name="Shape 7"/>
          <p:cNvSpPr/>
          <p:nvPr/>
        </p:nvSpPr>
        <p:spPr>
          <a:xfrm>
            <a:off x="914400" y="4160520"/>
            <a:ext cx="530352" cy="530352"/>
          </a:xfrm>
          <a:prstGeom prst="ellipse">
            <a:avLst/>
          </a:prstGeom>
          <a:solidFill>
            <a:srgbClr val="2E2745"/>
          </a:solidFill>
          <a:ln/>
        </p:spPr>
      </p:sp>
      <p:pic>
        <p:nvPicPr>
          <p:cNvPr id="11" name="Image 1" descr="preencoded.png">    </p:cNvPr>
          <p:cNvPicPr>
            <a:picLocks noChangeAspect="1"/>
          </p:cNvPicPr>
          <p:nvPr/>
        </p:nvPicPr>
        <p:blipFill>
          <a:blip r:embed="rId2"/>
          <a:stretch>
            <a:fillRect/>
          </a:stretch>
        </p:blipFill>
        <p:spPr>
          <a:xfrm>
            <a:off x="1046988" y="4293108"/>
            <a:ext cx="265176" cy="265176"/>
          </a:xfrm>
          <a:prstGeom prst="rect">
            <a:avLst/>
          </a:prstGeom>
        </p:spPr>
      </p:pic>
      <p:sp>
        <p:nvSpPr>
          <p:cNvPr id="12" name="Text 8"/>
          <p:cNvSpPr/>
          <p:nvPr/>
        </p:nvSpPr>
        <p:spPr>
          <a:xfrm>
            <a:off x="1572768" y="4105656"/>
            <a:ext cx="2203704" cy="274320"/>
          </a:xfrm>
          <a:prstGeom prst="rect">
            <a:avLst/>
          </a:prstGeom>
          <a:noFill/>
          <a:ln/>
        </p:spPr>
        <p:txBody>
          <a:bodyPr wrap="square" lIns="0" tIns="0" rIns="0" bIns="0" rtlCol="0" anchor="ctr"/>
          <a:lstStyle/>
          <a:p>
            <a:pPr indent="0" marL="0">
              <a:buNone/>
            </a:pPr>
            <a:r>
              <a:rPr lang="en-US" sz="1400" b="1" dirty="0">
                <a:solidFill>
                  <a:srgbClr val="F5F2FA"/>
                </a:solidFill>
                <a:latin typeface="Arial" pitchFamily="34" charset="0"/>
                <a:ea typeface="Arial" pitchFamily="34" charset="-122"/>
                <a:cs typeface="Arial" pitchFamily="34" charset="-120"/>
              </a:rPr>
              <a:t>More cost</a:t>
            </a:r>
            <a:endParaRPr lang="en-US" sz="1400" dirty="0"/>
          </a:p>
        </p:txBody>
      </p:sp>
      <p:sp>
        <p:nvSpPr>
          <p:cNvPr id="13" name="Text 9"/>
          <p:cNvSpPr/>
          <p:nvPr/>
        </p:nvSpPr>
        <p:spPr>
          <a:xfrm>
            <a:off x="1572768" y="4389120"/>
            <a:ext cx="2203704" cy="274320"/>
          </a:xfrm>
          <a:prstGeom prst="rect">
            <a:avLst/>
          </a:prstGeom>
          <a:noFill/>
          <a:ln/>
        </p:spPr>
        <p:txBody>
          <a:bodyPr wrap="square" lIns="0" tIns="0" rIns="0" bIns="0" rtlCol="0" anchor="ctr"/>
          <a:lstStyle/>
          <a:p>
            <a:pPr indent="0" marL="0">
              <a:buNone/>
            </a:pPr>
            <a:r>
              <a:rPr lang="en-US" sz="1150" dirty="0">
                <a:solidFill>
                  <a:srgbClr val="A79DBF"/>
                </a:solidFill>
                <a:latin typeface="Calibri" pitchFamily="34" charset="0"/>
                <a:ea typeface="Calibri" pitchFamily="34" charset="-122"/>
                <a:cs typeface="Calibri" pitchFamily="34" charset="-120"/>
              </a:rPr>
              <a:t>Every run pays for tokens</a:t>
            </a:r>
            <a:endParaRPr lang="en-US" sz="1150" dirty="0"/>
          </a:p>
        </p:txBody>
      </p:sp>
      <p:sp>
        <p:nvSpPr>
          <p:cNvPr id="14" name="Shape 10"/>
          <p:cNvSpPr/>
          <p:nvPr/>
        </p:nvSpPr>
        <p:spPr>
          <a:xfrm>
            <a:off x="4398264" y="3913632"/>
            <a:ext cx="3392424" cy="1005840"/>
          </a:xfrm>
          <a:prstGeom prst="roundRect">
            <a:avLst>
              <a:gd name="adj" fmla="val 10909"/>
            </a:avLst>
          </a:prstGeom>
          <a:solidFill>
            <a:srgbClr val="262038"/>
          </a:solidFill>
          <a:ln/>
        </p:spPr>
      </p:sp>
      <p:sp>
        <p:nvSpPr>
          <p:cNvPr id="15" name="Shape 11"/>
          <p:cNvSpPr/>
          <p:nvPr/>
        </p:nvSpPr>
        <p:spPr>
          <a:xfrm>
            <a:off x="4672584" y="4160520"/>
            <a:ext cx="530352" cy="530352"/>
          </a:xfrm>
          <a:prstGeom prst="ellipse">
            <a:avLst/>
          </a:prstGeom>
          <a:solidFill>
            <a:srgbClr val="2E2745"/>
          </a:solidFill>
          <a:ln/>
        </p:spPr>
      </p:sp>
      <p:pic>
        <p:nvPicPr>
          <p:cNvPr id="16" name="Image 2" descr="preencoded.png">    </p:cNvPr>
          <p:cNvPicPr>
            <a:picLocks noChangeAspect="1"/>
          </p:cNvPicPr>
          <p:nvPr/>
        </p:nvPicPr>
        <p:blipFill>
          <a:blip r:embed="rId3"/>
          <a:stretch>
            <a:fillRect/>
          </a:stretch>
        </p:blipFill>
        <p:spPr>
          <a:xfrm>
            <a:off x="4805172" y="4293108"/>
            <a:ext cx="265176" cy="265176"/>
          </a:xfrm>
          <a:prstGeom prst="rect">
            <a:avLst/>
          </a:prstGeom>
        </p:spPr>
      </p:pic>
      <p:sp>
        <p:nvSpPr>
          <p:cNvPr id="17" name="Text 12"/>
          <p:cNvSpPr/>
          <p:nvPr/>
        </p:nvSpPr>
        <p:spPr>
          <a:xfrm>
            <a:off x="5330952" y="4105656"/>
            <a:ext cx="2203704" cy="274320"/>
          </a:xfrm>
          <a:prstGeom prst="rect">
            <a:avLst/>
          </a:prstGeom>
          <a:noFill/>
          <a:ln/>
        </p:spPr>
        <p:txBody>
          <a:bodyPr wrap="square" lIns="0" tIns="0" rIns="0" bIns="0" rtlCol="0" anchor="ctr"/>
          <a:lstStyle/>
          <a:p>
            <a:pPr indent="0" marL="0">
              <a:buNone/>
            </a:pPr>
            <a:r>
              <a:rPr lang="en-US" sz="1400" b="1" dirty="0">
                <a:solidFill>
                  <a:srgbClr val="F5F2FA"/>
                </a:solidFill>
                <a:latin typeface="Arial" pitchFamily="34" charset="0"/>
                <a:ea typeface="Arial" pitchFamily="34" charset="-122"/>
                <a:cs typeface="Arial" pitchFamily="34" charset="-120"/>
              </a:rPr>
              <a:t>More latency</a:t>
            </a:r>
            <a:endParaRPr lang="en-US" sz="1400" dirty="0"/>
          </a:p>
        </p:txBody>
      </p:sp>
      <p:sp>
        <p:nvSpPr>
          <p:cNvPr id="18" name="Text 13"/>
          <p:cNvSpPr/>
          <p:nvPr/>
        </p:nvSpPr>
        <p:spPr>
          <a:xfrm>
            <a:off x="5330952" y="4389120"/>
            <a:ext cx="2203704" cy="274320"/>
          </a:xfrm>
          <a:prstGeom prst="rect">
            <a:avLst/>
          </a:prstGeom>
          <a:noFill/>
          <a:ln/>
        </p:spPr>
        <p:txBody>
          <a:bodyPr wrap="square" lIns="0" tIns="0" rIns="0" bIns="0" rtlCol="0" anchor="ctr"/>
          <a:lstStyle/>
          <a:p>
            <a:pPr indent="0" marL="0">
              <a:buNone/>
            </a:pPr>
            <a:r>
              <a:rPr lang="en-US" sz="1150" dirty="0">
                <a:solidFill>
                  <a:srgbClr val="A79DBF"/>
                </a:solidFill>
                <a:latin typeface="Calibri" pitchFamily="34" charset="0"/>
                <a:ea typeface="Calibri" pitchFamily="34" charset="-122"/>
                <a:cs typeface="Calibri" pitchFamily="34" charset="-120"/>
              </a:rPr>
              <a:t>Seconds, not milliseconds</a:t>
            </a:r>
            <a:endParaRPr lang="en-US" sz="1150" dirty="0"/>
          </a:p>
        </p:txBody>
      </p:sp>
      <p:sp>
        <p:nvSpPr>
          <p:cNvPr id="19" name="Shape 14"/>
          <p:cNvSpPr/>
          <p:nvPr/>
        </p:nvSpPr>
        <p:spPr>
          <a:xfrm>
            <a:off x="8156448" y="3913632"/>
            <a:ext cx="3392424" cy="1005840"/>
          </a:xfrm>
          <a:prstGeom prst="roundRect">
            <a:avLst>
              <a:gd name="adj" fmla="val 10909"/>
            </a:avLst>
          </a:prstGeom>
          <a:solidFill>
            <a:srgbClr val="262038"/>
          </a:solidFill>
          <a:ln/>
        </p:spPr>
      </p:sp>
      <p:sp>
        <p:nvSpPr>
          <p:cNvPr id="20" name="Shape 15"/>
          <p:cNvSpPr/>
          <p:nvPr/>
        </p:nvSpPr>
        <p:spPr>
          <a:xfrm>
            <a:off x="8430768" y="4160520"/>
            <a:ext cx="530352" cy="530352"/>
          </a:xfrm>
          <a:prstGeom prst="ellipse">
            <a:avLst/>
          </a:prstGeom>
          <a:solidFill>
            <a:srgbClr val="2E2745"/>
          </a:solidFill>
          <a:ln/>
        </p:spPr>
      </p:sp>
      <p:pic>
        <p:nvPicPr>
          <p:cNvPr id="21" name="Image 3" descr="preencoded.png">    </p:cNvPr>
          <p:cNvPicPr>
            <a:picLocks noChangeAspect="1"/>
          </p:cNvPicPr>
          <p:nvPr/>
        </p:nvPicPr>
        <p:blipFill>
          <a:blip r:embed="rId4"/>
          <a:stretch>
            <a:fillRect/>
          </a:stretch>
        </p:blipFill>
        <p:spPr>
          <a:xfrm>
            <a:off x="8563356" y="4293108"/>
            <a:ext cx="265176" cy="265176"/>
          </a:xfrm>
          <a:prstGeom prst="rect">
            <a:avLst/>
          </a:prstGeom>
        </p:spPr>
      </p:pic>
      <p:sp>
        <p:nvSpPr>
          <p:cNvPr id="22" name="Text 16"/>
          <p:cNvSpPr/>
          <p:nvPr/>
        </p:nvSpPr>
        <p:spPr>
          <a:xfrm>
            <a:off x="9089136" y="4105656"/>
            <a:ext cx="2203704" cy="274320"/>
          </a:xfrm>
          <a:prstGeom prst="rect">
            <a:avLst/>
          </a:prstGeom>
          <a:noFill/>
          <a:ln/>
        </p:spPr>
        <p:txBody>
          <a:bodyPr wrap="square" lIns="0" tIns="0" rIns="0" bIns="0" rtlCol="0" anchor="ctr"/>
          <a:lstStyle/>
          <a:p>
            <a:pPr indent="0" marL="0">
              <a:buNone/>
            </a:pPr>
            <a:r>
              <a:rPr lang="en-US" sz="1400" b="1" dirty="0">
                <a:solidFill>
                  <a:srgbClr val="F5F2FA"/>
                </a:solidFill>
                <a:latin typeface="Arial" pitchFamily="34" charset="0"/>
                <a:ea typeface="Arial" pitchFamily="34" charset="-122"/>
                <a:cs typeface="Arial" pitchFamily="34" charset="-120"/>
              </a:rPr>
              <a:t>Less predictable</a:t>
            </a:r>
            <a:endParaRPr lang="en-US" sz="1400" dirty="0"/>
          </a:p>
        </p:txBody>
      </p:sp>
      <p:sp>
        <p:nvSpPr>
          <p:cNvPr id="23" name="Text 17"/>
          <p:cNvSpPr/>
          <p:nvPr/>
        </p:nvSpPr>
        <p:spPr>
          <a:xfrm>
            <a:off x="9089136" y="4389120"/>
            <a:ext cx="2203704" cy="274320"/>
          </a:xfrm>
          <a:prstGeom prst="rect">
            <a:avLst/>
          </a:prstGeom>
          <a:noFill/>
          <a:ln/>
        </p:spPr>
        <p:txBody>
          <a:bodyPr wrap="square" lIns="0" tIns="0" rIns="0" bIns="0" rtlCol="0" anchor="ctr"/>
          <a:lstStyle/>
          <a:p>
            <a:pPr indent="0" marL="0">
              <a:buNone/>
            </a:pPr>
            <a:r>
              <a:rPr lang="en-US" sz="1150" dirty="0">
                <a:solidFill>
                  <a:srgbClr val="A79DBF"/>
                </a:solidFill>
                <a:latin typeface="Calibri" pitchFamily="34" charset="0"/>
                <a:ea typeface="Calibri" pitchFamily="34" charset="-122"/>
                <a:cs typeface="Calibri" pitchFamily="34" charset="-120"/>
              </a:rPr>
              <a:t>Same input, different output</a:t>
            </a:r>
            <a:endParaRPr lang="en-US" sz="1150" dirty="0"/>
          </a:p>
        </p:txBody>
      </p:sp>
      <p:sp>
        <p:nvSpPr>
          <p:cNvPr id="24" name="Text 18"/>
          <p:cNvSpPr/>
          <p:nvPr/>
        </p:nvSpPr>
        <p:spPr>
          <a:xfrm>
            <a:off x="640080" y="3593592"/>
            <a:ext cx="10908792" cy="274320"/>
          </a:xfrm>
          <a:prstGeom prst="rect">
            <a:avLst/>
          </a:prstGeom>
          <a:noFill/>
          <a:ln/>
        </p:spPr>
        <p:txBody>
          <a:bodyPr wrap="square" lIns="0" tIns="0" rIns="0" bIns="0" rtlCol="0" anchor="ctr"/>
          <a:lstStyle/>
          <a:p>
            <a:pPr indent="0" marL="0">
              <a:buNone/>
            </a:pPr>
            <a:r>
              <a:rPr lang="en-US" sz="1250" dirty="0">
                <a:solidFill>
                  <a:srgbClr val="A79DBF"/>
                </a:solidFill>
                <a:latin typeface="Calibri" pitchFamily="34" charset="0"/>
                <a:ea typeface="Calibri" pitchFamily="34" charset="-122"/>
                <a:cs typeface="Calibri" pitchFamily="34" charset="-120"/>
              </a:rPr>
              <a:t>Every tier up buys flexibility — and pays for it three ways.</a:t>
            </a:r>
            <a:endParaRPr lang="en-US" sz="1250" dirty="0"/>
          </a:p>
        </p:txBody>
      </p:sp>
      <p:sp>
        <p:nvSpPr>
          <p:cNvPr id="25" name="Shape 19"/>
          <p:cNvSpPr/>
          <p:nvPr/>
        </p:nvSpPr>
        <p:spPr>
          <a:xfrm>
            <a:off x="640080" y="4983480"/>
            <a:ext cx="10908792" cy="960120"/>
          </a:xfrm>
          <a:prstGeom prst="roundRect">
            <a:avLst>
              <a:gd name="adj" fmla="val 9524"/>
            </a:avLst>
          </a:prstGeom>
          <a:solidFill>
            <a:srgbClr val="262038"/>
          </a:solidFill>
          <a:ln w="15240">
            <a:solidFill>
              <a:srgbClr val="EA4B71"/>
            </a:solidFill>
            <a:prstDash val="solid"/>
          </a:ln>
        </p:spPr>
      </p:sp>
      <p:sp>
        <p:nvSpPr>
          <p:cNvPr id="26" name="Shape 20"/>
          <p:cNvSpPr/>
          <p:nvPr/>
        </p:nvSpPr>
        <p:spPr>
          <a:xfrm>
            <a:off x="932688" y="5148072"/>
            <a:ext cx="621792" cy="621792"/>
          </a:xfrm>
          <a:prstGeom prst="ellipse">
            <a:avLst/>
          </a:prstGeom>
          <a:solidFill>
            <a:srgbClr val="2E2745"/>
          </a:solidFill>
          <a:ln/>
        </p:spPr>
      </p:sp>
      <p:pic>
        <p:nvPicPr>
          <p:cNvPr id="27" name="Image 4" descr="preencoded.png">    </p:cNvPr>
          <p:cNvPicPr>
            <a:picLocks noChangeAspect="1"/>
          </p:cNvPicPr>
          <p:nvPr/>
        </p:nvPicPr>
        <p:blipFill>
          <a:blip r:embed="rId5"/>
          <a:stretch>
            <a:fillRect/>
          </a:stretch>
        </p:blipFill>
        <p:spPr>
          <a:xfrm>
            <a:off x="1088136" y="5303520"/>
            <a:ext cx="310896" cy="310896"/>
          </a:xfrm>
          <a:prstGeom prst="rect">
            <a:avLst/>
          </a:prstGeom>
        </p:spPr>
      </p:pic>
      <p:sp>
        <p:nvSpPr>
          <p:cNvPr id="28" name="Text 21"/>
          <p:cNvSpPr/>
          <p:nvPr/>
        </p:nvSpPr>
        <p:spPr>
          <a:xfrm>
            <a:off x="1737360" y="5166360"/>
            <a:ext cx="9445752" cy="594360"/>
          </a:xfrm>
          <a:prstGeom prst="rect">
            <a:avLst/>
          </a:prstGeom>
          <a:noFill/>
          <a:ln/>
        </p:spPr>
        <p:txBody>
          <a:bodyPr wrap="square" lIns="0" tIns="0" rIns="0" bIns="0" rtlCol="0" anchor="ctr"/>
          <a:lstStyle/>
          <a:p>
            <a:pPr indent="0" marL="0">
              <a:buNone/>
            </a:pPr>
            <a:r>
              <a:rPr lang="en-US" sz="1350" b="1" dirty="0">
                <a:solidFill>
                  <a:srgbClr val="F5F2FA"/>
                </a:solidFill>
                <a:latin typeface="Calibri" pitchFamily="34" charset="0"/>
                <a:ea typeface="Calibri" pitchFamily="34" charset="-122"/>
                <a:cs typeface="Calibri" pitchFamily="34" charset="-120"/>
              </a:rPr>
              <a:t>The most expensive mistake: building an agent for a job an AI workflow would do cheaply and reliably.</a:t>
            </a:r>
            <a:endParaRPr lang="en-US" sz="1350" dirty="0"/>
          </a:p>
        </p:txBody>
      </p:sp>
      <p:sp>
        <p:nvSpPr>
          <p:cNvPr id="29" name="Text 22"/>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30" name="Text 23"/>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THE REAL TEST</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One Message. Three Systems.</a:t>
            </a:r>
            <a:endParaRPr lang="en-US" sz="3400" dirty="0"/>
          </a:p>
        </p:txBody>
      </p:sp>
      <p:sp>
        <p:nvSpPr>
          <p:cNvPr id="4" name="Shape 2"/>
          <p:cNvSpPr/>
          <p:nvPr/>
        </p:nvSpPr>
        <p:spPr>
          <a:xfrm>
            <a:off x="640080" y="1600200"/>
            <a:ext cx="10908792" cy="1097280"/>
          </a:xfrm>
          <a:prstGeom prst="roundRect">
            <a:avLst>
              <a:gd name="adj" fmla="val 9167"/>
            </a:avLst>
          </a:prstGeom>
          <a:solidFill>
            <a:srgbClr val="262038"/>
          </a:solidFill>
          <a:ln w="16510">
            <a:solidFill>
              <a:srgbClr val="EA4B71"/>
            </a:solidFill>
            <a:prstDash val="solid"/>
          </a:ln>
        </p:spPr>
      </p:sp>
      <p:sp>
        <p:nvSpPr>
          <p:cNvPr id="5" name="Text 3"/>
          <p:cNvSpPr/>
          <p:nvPr/>
        </p:nvSpPr>
        <p:spPr>
          <a:xfrm>
            <a:off x="1005840" y="1709928"/>
            <a:ext cx="10177272" cy="219456"/>
          </a:xfrm>
          <a:prstGeom prst="rect">
            <a:avLst/>
          </a:prstGeom>
          <a:noFill/>
          <a:ln/>
        </p:spPr>
        <p:txBody>
          <a:bodyPr wrap="square" lIns="0" tIns="0" rIns="0" bIns="0" rtlCol="0" anchor="ctr"/>
          <a:lstStyle/>
          <a:p>
            <a:pPr indent="0" marL="0">
              <a:buNone/>
            </a:pPr>
            <a:r>
              <a:rPr lang="en-US" sz="1000" b="1" spc="150" kern="0" dirty="0">
                <a:solidFill>
                  <a:srgbClr val="EA4B71"/>
                </a:solidFill>
                <a:latin typeface="Arial" pitchFamily="34" charset="0"/>
                <a:ea typeface="Arial" pitchFamily="34" charset="-122"/>
                <a:cs typeface="Arial" pitchFamily="34" charset="-120"/>
              </a:rPr>
              <a:t>TWO QUESTIONS IN ONE MESSAGE</a:t>
            </a:r>
            <a:endParaRPr lang="en-US" sz="1000" dirty="0"/>
          </a:p>
        </p:txBody>
      </p:sp>
      <p:sp>
        <p:nvSpPr>
          <p:cNvPr id="6" name="Text 4"/>
          <p:cNvSpPr/>
          <p:nvPr/>
        </p:nvSpPr>
        <p:spPr>
          <a:xfrm>
            <a:off x="1005840" y="1993392"/>
            <a:ext cx="10177272" cy="548640"/>
          </a:xfrm>
          <a:prstGeom prst="rect">
            <a:avLst/>
          </a:prstGeom>
          <a:noFill/>
          <a:ln/>
        </p:spPr>
        <p:txBody>
          <a:bodyPr wrap="square" lIns="0" tIns="0" rIns="0" bIns="0" rtlCol="0" anchor="t"/>
          <a:lstStyle/>
          <a:p>
            <a:pPr indent="0" marL="0">
              <a:buNone/>
            </a:pPr>
            <a:r>
              <a:rPr lang="en-US" sz="1900" i="1" dirty="0">
                <a:solidFill>
                  <a:srgbClr val="F5F2FA"/>
                </a:solidFill>
                <a:latin typeface="Calibri" pitchFamily="34" charset="0"/>
                <a:ea typeface="Calibri" pitchFamily="34" charset="-122"/>
                <a:cs typeface="Calibri" pitchFamily="34" charset="-120"/>
              </a:rPr>
              <a:t>“Bhai order #123 kahan hai? Aur agar late hai to refund milega ya nahi?”</a:t>
            </a:r>
            <a:endParaRPr lang="en-US" sz="1900" dirty="0"/>
          </a:p>
        </p:txBody>
      </p:sp>
      <p:sp>
        <p:nvSpPr>
          <p:cNvPr id="7" name="Shape 5"/>
          <p:cNvSpPr/>
          <p:nvPr/>
        </p:nvSpPr>
        <p:spPr>
          <a:xfrm>
            <a:off x="640080" y="2926080"/>
            <a:ext cx="3392424" cy="2194560"/>
          </a:xfrm>
          <a:prstGeom prst="roundRect">
            <a:avLst>
              <a:gd name="adj" fmla="val 5000"/>
            </a:avLst>
          </a:prstGeom>
          <a:solidFill>
            <a:srgbClr val="262038"/>
          </a:solidFill>
          <a:ln/>
        </p:spPr>
      </p:sp>
      <p:sp>
        <p:nvSpPr>
          <p:cNvPr id="8" name="Text 6"/>
          <p:cNvSpPr/>
          <p:nvPr/>
        </p:nvSpPr>
        <p:spPr>
          <a:xfrm>
            <a:off x="960120" y="3127248"/>
            <a:ext cx="2752344" cy="237744"/>
          </a:xfrm>
          <a:prstGeom prst="rect">
            <a:avLst/>
          </a:prstGeom>
          <a:noFill/>
          <a:ln/>
        </p:spPr>
        <p:txBody>
          <a:bodyPr wrap="square" lIns="0" tIns="0" rIns="0" bIns="0" rtlCol="0" anchor="ctr"/>
          <a:lstStyle/>
          <a:p>
            <a:pPr indent="0" marL="0">
              <a:buNone/>
            </a:pPr>
            <a:r>
              <a:rPr lang="en-US" sz="1050" b="1" spc="140" kern="0" dirty="0">
                <a:solidFill>
                  <a:srgbClr val="34D399"/>
                </a:solidFill>
                <a:latin typeface="Arial" pitchFamily="34" charset="0"/>
                <a:ea typeface="Arial" pitchFamily="34" charset="-122"/>
                <a:cs typeface="Arial" pitchFamily="34" charset="-120"/>
              </a:rPr>
              <a:t>AUTOMATION</a:t>
            </a:r>
            <a:endParaRPr lang="en-US" sz="1050" dirty="0"/>
          </a:p>
        </p:txBody>
      </p:sp>
      <p:sp>
        <p:nvSpPr>
          <p:cNvPr id="9" name="Shape 7"/>
          <p:cNvSpPr/>
          <p:nvPr/>
        </p:nvSpPr>
        <p:spPr>
          <a:xfrm>
            <a:off x="941832" y="3456432"/>
            <a:ext cx="548640" cy="548640"/>
          </a:xfrm>
          <a:prstGeom prst="ellipse">
            <a:avLst/>
          </a:prstGeom>
          <a:solidFill>
            <a:srgbClr val="2E2745"/>
          </a:solidFill>
          <a:ln/>
        </p:spPr>
      </p:sp>
      <p:pic>
        <p:nvPicPr>
          <p:cNvPr id="10" name="Image 0" descr="preencoded.png">    </p:cNvPr>
          <p:cNvPicPr>
            <a:picLocks noChangeAspect="1"/>
          </p:cNvPicPr>
          <p:nvPr/>
        </p:nvPicPr>
        <p:blipFill>
          <a:blip r:embed="rId1"/>
          <a:stretch>
            <a:fillRect/>
          </a:stretch>
        </p:blipFill>
        <p:spPr>
          <a:xfrm>
            <a:off x="1078992" y="3593592"/>
            <a:ext cx="274320" cy="274320"/>
          </a:xfrm>
          <a:prstGeom prst="rect">
            <a:avLst/>
          </a:prstGeom>
        </p:spPr>
      </p:pic>
      <p:sp>
        <p:nvSpPr>
          <p:cNvPr id="11" name="Text 8"/>
          <p:cNvSpPr/>
          <p:nvPr/>
        </p:nvSpPr>
        <p:spPr>
          <a:xfrm>
            <a:off x="1600200" y="3520440"/>
            <a:ext cx="2157984" cy="310896"/>
          </a:xfrm>
          <a:prstGeom prst="rect">
            <a:avLst/>
          </a:prstGeom>
          <a:noFill/>
          <a:ln/>
        </p:spPr>
        <p:txBody>
          <a:bodyPr wrap="square" lIns="0" tIns="0" rIns="0" bIns="0" rtlCol="0" anchor="ctr"/>
          <a:lstStyle/>
          <a:p>
            <a:pPr indent="0" marL="0">
              <a:buNone/>
            </a:pPr>
            <a:r>
              <a:rPr lang="en-US" sz="1500" b="1" dirty="0">
                <a:solidFill>
                  <a:srgbClr val="F5F2FA"/>
                </a:solidFill>
                <a:latin typeface="Arial" pitchFamily="34" charset="0"/>
                <a:ea typeface="Arial" pitchFamily="34" charset="-122"/>
                <a:cs typeface="Arial" pitchFamily="34" charset="-120"/>
              </a:rPr>
              <a:t>Misses it completely</a:t>
            </a:r>
            <a:endParaRPr lang="en-US" sz="1500" dirty="0"/>
          </a:p>
        </p:txBody>
      </p:sp>
      <p:sp>
        <p:nvSpPr>
          <p:cNvPr id="12" name="Text 9"/>
          <p:cNvSpPr/>
          <p:nvPr/>
        </p:nvSpPr>
        <p:spPr>
          <a:xfrm>
            <a:off x="960120" y="4160520"/>
            <a:ext cx="2752344" cy="868680"/>
          </a:xfrm>
          <a:prstGeom prst="rect">
            <a:avLst/>
          </a:prstGeom>
          <a:noFill/>
          <a:ln/>
        </p:spPr>
        <p:txBody>
          <a:bodyPr wrap="square" lIns="0" tIns="0" rIns="0" bIns="0" rtlCol="0" anchor="t"/>
          <a:lstStyle/>
          <a:p>
            <a:pPr indent="0" marL="0">
              <a:lnSpc>
                <a:spcPts val="1800"/>
              </a:lnSpc>
              <a:buNone/>
            </a:pPr>
            <a:r>
              <a:rPr lang="en-US" sz="1250" dirty="0">
                <a:solidFill>
                  <a:srgbClr val="A79DBF"/>
                </a:solidFill>
                <a:latin typeface="Calibri" pitchFamily="34" charset="0"/>
                <a:ea typeface="Calibri" pitchFamily="34" charset="-122"/>
                <a:cs typeface="Calibri" pitchFamily="34" charset="-120"/>
              </a:rPr>
              <a:t>Sends the fixed confirmation template. It never read the question — there is nothing in it that can.</a:t>
            </a:r>
            <a:endParaRPr lang="en-US" sz="1250" dirty="0"/>
          </a:p>
        </p:txBody>
      </p:sp>
      <p:sp>
        <p:nvSpPr>
          <p:cNvPr id="13" name="Shape 10"/>
          <p:cNvSpPr/>
          <p:nvPr/>
        </p:nvSpPr>
        <p:spPr>
          <a:xfrm>
            <a:off x="4398264" y="2926080"/>
            <a:ext cx="3392424" cy="2194560"/>
          </a:xfrm>
          <a:prstGeom prst="roundRect">
            <a:avLst>
              <a:gd name="adj" fmla="val 5000"/>
            </a:avLst>
          </a:prstGeom>
          <a:solidFill>
            <a:srgbClr val="262038"/>
          </a:solidFill>
          <a:ln/>
        </p:spPr>
      </p:sp>
      <p:sp>
        <p:nvSpPr>
          <p:cNvPr id="14" name="Text 11"/>
          <p:cNvSpPr/>
          <p:nvPr/>
        </p:nvSpPr>
        <p:spPr>
          <a:xfrm>
            <a:off x="4718304" y="3127248"/>
            <a:ext cx="2752344" cy="237744"/>
          </a:xfrm>
          <a:prstGeom prst="rect">
            <a:avLst/>
          </a:prstGeom>
          <a:noFill/>
          <a:ln/>
        </p:spPr>
        <p:txBody>
          <a:bodyPr wrap="square" lIns="0" tIns="0" rIns="0" bIns="0" rtlCol="0" anchor="ctr"/>
          <a:lstStyle/>
          <a:p>
            <a:pPr indent="0" marL="0">
              <a:buNone/>
            </a:pPr>
            <a:r>
              <a:rPr lang="en-US" sz="1050" b="1" spc="140" kern="0" dirty="0">
                <a:solidFill>
                  <a:srgbClr val="8B7FD7"/>
                </a:solidFill>
                <a:latin typeface="Arial" pitchFamily="34" charset="0"/>
                <a:ea typeface="Arial" pitchFamily="34" charset="-122"/>
                <a:cs typeface="Arial" pitchFamily="34" charset="-120"/>
              </a:rPr>
              <a:t>AI WORKFLOW</a:t>
            </a:r>
            <a:endParaRPr lang="en-US" sz="1050" dirty="0"/>
          </a:p>
        </p:txBody>
      </p:sp>
      <p:sp>
        <p:nvSpPr>
          <p:cNvPr id="15" name="Shape 12"/>
          <p:cNvSpPr/>
          <p:nvPr/>
        </p:nvSpPr>
        <p:spPr>
          <a:xfrm>
            <a:off x="4700016" y="3456432"/>
            <a:ext cx="548640" cy="548640"/>
          </a:xfrm>
          <a:prstGeom prst="ellipse">
            <a:avLst/>
          </a:prstGeom>
          <a:solidFill>
            <a:srgbClr val="2E2745"/>
          </a:solidFill>
          <a:ln/>
        </p:spPr>
      </p:sp>
      <p:pic>
        <p:nvPicPr>
          <p:cNvPr id="16" name="Image 1" descr="preencoded.png">    </p:cNvPr>
          <p:cNvPicPr>
            <a:picLocks noChangeAspect="1"/>
          </p:cNvPicPr>
          <p:nvPr/>
        </p:nvPicPr>
        <p:blipFill>
          <a:blip r:embed="rId2"/>
          <a:stretch>
            <a:fillRect/>
          </a:stretch>
        </p:blipFill>
        <p:spPr>
          <a:xfrm>
            <a:off x="4837176" y="3593592"/>
            <a:ext cx="274320" cy="274320"/>
          </a:xfrm>
          <a:prstGeom prst="rect">
            <a:avLst/>
          </a:prstGeom>
        </p:spPr>
      </p:pic>
      <p:sp>
        <p:nvSpPr>
          <p:cNvPr id="17" name="Text 13"/>
          <p:cNvSpPr/>
          <p:nvPr/>
        </p:nvSpPr>
        <p:spPr>
          <a:xfrm>
            <a:off x="5358384" y="3520440"/>
            <a:ext cx="2157984" cy="310896"/>
          </a:xfrm>
          <a:prstGeom prst="rect">
            <a:avLst/>
          </a:prstGeom>
          <a:noFill/>
          <a:ln/>
        </p:spPr>
        <p:txBody>
          <a:bodyPr wrap="square" lIns="0" tIns="0" rIns="0" bIns="0" rtlCol="0" anchor="ctr"/>
          <a:lstStyle/>
          <a:p>
            <a:pPr indent="0" marL="0">
              <a:buNone/>
            </a:pPr>
            <a:r>
              <a:rPr lang="en-US" sz="1500" b="1" dirty="0">
                <a:solidFill>
                  <a:srgbClr val="F5F2FA"/>
                </a:solidFill>
                <a:latin typeface="Arial" pitchFamily="34" charset="0"/>
                <a:ea typeface="Arial" pitchFamily="34" charset="-122"/>
                <a:cs typeface="Arial" pitchFamily="34" charset="-120"/>
              </a:rPr>
              <a:t>Half an answer</a:t>
            </a:r>
            <a:endParaRPr lang="en-US" sz="1500" dirty="0"/>
          </a:p>
        </p:txBody>
      </p:sp>
      <p:sp>
        <p:nvSpPr>
          <p:cNvPr id="18" name="Text 14"/>
          <p:cNvSpPr/>
          <p:nvPr/>
        </p:nvSpPr>
        <p:spPr>
          <a:xfrm>
            <a:off x="4718304" y="4160520"/>
            <a:ext cx="2752344" cy="868680"/>
          </a:xfrm>
          <a:prstGeom prst="rect">
            <a:avLst/>
          </a:prstGeom>
          <a:noFill/>
          <a:ln/>
        </p:spPr>
        <p:txBody>
          <a:bodyPr wrap="square" lIns="0" tIns="0" rIns="0" bIns="0" rtlCol="0" anchor="t"/>
          <a:lstStyle/>
          <a:p>
            <a:pPr indent="0" marL="0">
              <a:lnSpc>
                <a:spcPts val="1800"/>
              </a:lnSpc>
              <a:buNone/>
            </a:pPr>
            <a:r>
              <a:rPr lang="en-US" sz="1250" dirty="0">
                <a:solidFill>
                  <a:srgbClr val="A79DBF"/>
                </a:solidFill>
                <a:latin typeface="Calibri" pitchFamily="34" charset="0"/>
                <a:ea typeface="Calibri" pitchFamily="34" charset="-122"/>
                <a:cs typeface="Calibri" pitchFamily="34" charset="-120"/>
              </a:rPr>
              <a:t>Understands the message, but must pick one bucket. Two questions arrive; only one branch runs.</a:t>
            </a:r>
            <a:endParaRPr lang="en-US" sz="1250" dirty="0"/>
          </a:p>
        </p:txBody>
      </p:sp>
      <p:sp>
        <p:nvSpPr>
          <p:cNvPr id="19" name="Shape 15"/>
          <p:cNvSpPr/>
          <p:nvPr/>
        </p:nvSpPr>
        <p:spPr>
          <a:xfrm>
            <a:off x="8156448" y="2926080"/>
            <a:ext cx="3392424" cy="2194560"/>
          </a:xfrm>
          <a:prstGeom prst="roundRect">
            <a:avLst>
              <a:gd name="adj" fmla="val 5000"/>
            </a:avLst>
          </a:prstGeom>
          <a:solidFill>
            <a:srgbClr val="262038"/>
          </a:solidFill>
          <a:ln/>
        </p:spPr>
      </p:sp>
      <p:sp>
        <p:nvSpPr>
          <p:cNvPr id="20" name="Text 16"/>
          <p:cNvSpPr/>
          <p:nvPr/>
        </p:nvSpPr>
        <p:spPr>
          <a:xfrm>
            <a:off x="8476488" y="3127248"/>
            <a:ext cx="2752344" cy="237744"/>
          </a:xfrm>
          <a:prstGeom prst="rect">
            <a:avLst/>
          </a:prstGeom>
          <a:noFill/>
          <a:ln/>
        </p:spPr>
        <p:txBody>
          <a:bodyPr wrap="square" lIns="0" tIns="0" rIns="0" bIns="0" rtlCol="0" anchor="ctr"/>
          <a:lstStyle/>
          <a:p>
            <a:pPr indent="0" marL="0">
              <a:buNone/>
            </a:pPr>
            <a:r>
              <a:rPr lang="en-US" sz="1050" b="1" spc="140" kern="0" dirty="0">
                <a:solidFill>
                  <a:srgbClr val="EA4B71"/>
                </a:solidFill>
                <a:latin typeface="Arial" pitchFamily="34" charset="0"/>
                <a:ea typeface="Arial" pitchFamily="34" charset="-122"/>
                <a:cs typeface="Arial" pitchFamily="34" charset="-120"/>
              </a:rPr>
              <a:t>AI AGENT</a:t>
            </a:r>
            <a:endParaRPr lang="en-US" sz="1050" dirty="0"/>
          </a:p>
        </p:txBody>
      </p:sp>
      <p:sp>
        <p:nvSpPr>
          <p:cNvPr id="21" name="Shape 17"/>
          <p:cNvSpPr/>
          <p:nvPr/>
        </p:nvSpPr>
        <p:spPr>
          <a:xfrm>
            <a:off x="8458200" y="3456432"/>
            <a:ext cx="548640" cy="548640"/>
          </a:xfrm>
          <a:prstGeom prst="ellipse">
            <a:avLst/>
          </a:prstGeom>
          <a:solidFill>
            <a:srgbClr val="2E2745"/>
          </a:solidFill>
          <a:ln/>
        </p:spPr>
      </p:sp>
      <p:pic>
        <p:nvPicPr>
          <p:cNvPr id="22" name="Image 2" descr="preencoded.png">    </p:cNvPr>
          <p:cNvPicPr>
            <a:picLocks noChangeAspect="1"/>
          </p:cNvPicPr>
          <p:nvPr/>
        </p:nvPicPr>
        <p:blipFill>
          <a:blip r:embed="rId3"/>
          <a:stretch>
            <a:fillRect/>
          </a:stretch>
        </p:blipFill>
        <p:spPr>
          <a:xfrm>
            <a:off x="8595360" y="3593592"/>
            <a:ext cx="274320" cy="274320"/>
          </a:xfrm>
          <a:prstGeom prst="rect">
            <a:avLst/>
          </a:prstGeom>
        </p:spPr>
      </p:pic>
      <p:sp>
        <p:nvSpPr>
          <p:cNvPr id="23" name="Text 18"/>
          <p:cNvSpPr/>
          <p:nvPr/>
        </p:nvSpPr>
        <p:spPr>
          <a:xfrm>
            <a:off x="9116568" y="3520440"/>
            <a:ext cx="2157984" cy="310896"/>
          </a:xfrm>
          <a:prstGeom prst="rect">
            <a:avLst/>
          </a:prstGeom>
          <a:noFill/>
          <a:ln/>
        </p:spPr>
        <p:txBody>
          <a:bodyPr wrap="square" lIns="0" tIns="0" rIns="0" bIns="0" rtlCol="0" anchor="ctr"/>
          <a:lstStyle/>
          <a:p>
            <a:pPr indent="0" marL="0">
              <a:buNone/>
            </a:pPr>
            <a:r>
              <a:rPr lang="en-US" sz="1500" b="1" dirty="0">
                <a:solidFill>
                  <a:srgbClr val="F5F2FA"/>
                </a:solidFill>
                <a:latin typeface="Arial" pitchFamily="34" charset="0"/>
                <a:ea typeface="Arial" pitchFamily="34" charset="-122"/>
                <a:cs typeface="Arial" pitchFamily="34" charset="-120"/>
              </a:rPr>
              <a:t>Answers both</a:t>
            </a:r>
            <a:endParaRPr lang="en-US" sz="1500" dirty="0"/>
          </a:p>
        </p:txBody>
      </p:sp>
      <p:sp>
        <p:nvSpPr>
          <p:cNvPr id="24" name="Text 19"/>
          <p:cNvSpPr/>
          <p:nvPr/>
        </p:nvSpPr>
        <p:spPr>
          <a:xfrm>
            <a:off x="8476488" y="4160520"/>
            <a:ext cx="2752344" cy="868680"/>
          </a:xfrm>
          <a:prstGeom prst="rect">
            <a:avLst/>
          </a:prstGeom>
          <a:noFill/>
          <a:ln/>
        </p:spPr>
        <p:txBody>
          <a:bodyPr wrap="square" lIns="0" tIns="0" rIns="0" bIns="0" rtlCol="0" anchor="t"/>
          <a:lstStyle/>
          <a:p>
            <a:pPr indent="0" marL="0">
              <a:lnSpc>
                <a:spcPts val="1800"/>
              </a:lnSpc>
              <a:buNone/>
            </a:pPr>
            <a:r>
              <a:rPr lang="en-US" sz="1250" dirty="0">
                <a:solidFill>
                  <a:srgbClr val="A79DBF"/>
                </a:solidFill>
                <a:latin typeface="Calibri" pitchFamily="34" charset="0"/>
                <a:ea typeface="Calibri" pitchFamily="34" charset="-122"/>
                <a:cs typeface="Calibri" pitchFamily="34" charset="-120"/>
              </a:rPr>
              <a:t>Looks up order #123, checks whether it is late, reads the refund policy — then replies to both parts.</a:t>
            </a:r>
            <a:endParaRPr lang="en-US" sz="1250" dirty="0"/>
          </a:p>
        </p:txBody>
      </p:sp>
      <p:sp>
        <p:nvSpPr>
          <p:cNvPr id="25" name="Text 20"/>
          <p:cNvSpPr/>
          <p:nvPr/>
        </p:nvSpPr>
        <p:spPr>
          <a:xfrm>
            <a:off x="640080" y="5349240"/>
            <a:ext cx="10908792" cy="365760"/>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The whole lesson, in one message.</a:t>
            </a:r>
            <a:endParaRPr lang="en-US" sz="1400" dirty="0"/>
          </a:p>
        </p:txBody>
      </p:sp>
      <p:sp>
        <p:nvSpPr>
          <p:cNvPr id="26" name="Text 21"/>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27" name="Text 22"/>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TWO QUESTIONS ON YOUR MIND</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Quick Answers</a:t>
            </a:r>
            <a:endParaRPr lang="en-US" sz="3400" dirty="0"/>
          </a:p>
        </p:txBody>
      </p:sp>
      <p:sp>
        <p:nvSpPr>
          <p:cNvPr id="4" name="Shape 2"/>
          <p:cNvSpPr/>
          <p:nvPr/>
        </p:nvSpPr>
        <p:spPr>
          <a:xfrm>
            <a:off x="640080" y="1737360"/>
            <a:ext cx="5225796" cy="3200400"/>
          </a:xfrm>
          <a:prstGeom prst="roundRect">
            <a:avLst>
              <a:gd name="adj" fmla="val 3429"/>
            </a:avLst>
          </a:prstGeom>
          <a:solidFill>
            <a:srgbClr val="262038"/>
          </a:solidFill>
          <a:ln/>
        </p:spPr>
      </p:sp>
      <p:sp>
        <p:nvSpPr>
          <p:cNvPr id="5" name="Shape 3"/>
          <p:cNvSpPr/>
          <p:nvPr/>
        </p:nvSpPr>
        <p:spPr>
          <a:xfrm>
            <a:off x="960120" y="1993392"/>
            <a:ext cx="640080" cy="640080"/>
          </a:xfrm>
          <a:prstGeom prst="ellipse">
            <a:avLst/>
          </a:prstGeom>
          <a:solidFill>
            <a:srgbClr val="2E2745"/>
          </a:solidFill>
          <a:ln/>
        </p:spPr>
      </p:sp>
      <p:pic>
        <p:nvPicPr>
          <p:cNvPr id="6" name="Image 0" descr="preencoded.png">    </p:cNvPr>
          <p:cNvPicPr>
            <a:picLocks noChangeAspect="1"/>
          </p:cNvPicPr>
          <p:nvPr/>
        </p:nvPicPr>
        <p:blipFill>
          <a:blip r:embed="rId1"/>
          <a:stretch>
            <a:fillRect/>
          </a:stretch>
        </p:blipFill>
        <p:spPr>
          <a:xfrm>
            <a:off x="1120140" y="2153412"/>
            <a:ext cx="320040" cy="320040"/>
          </a:xfrm>
          <a:prstGeom prst="rect">
            <a:avLst/>
          </a:prstGeom>
        </p:spPr>
      </p:pic>
      <p:sp>
        <p:nvSpPr>
          <p:cNvPr id="7" name="Text 4"/>
          <p:cNvSpPr/>
          <p:nvPr/>
        </p:nvSpPr>
        <p:spPr>
          <a:xfrm>
            <a:off x="1783080" y="2066544"/>
            <a:ext cx="3762756" cy="329184"/>
          </a:xfrm>
          <a:prstGeom prst="rect">
            <a:avLst/>
          </a:prstGeom>
          <a:noFill/>
          <a:ln/>
        </p:spPr>
        <p:txBody>
          <a:bodyPr wrap="square" lIns="0" tIns="0" rIns="0" bIns="0" rtlCol="0" anchor="ctr"/>
          <a:lstStyle/>
          <a:p>
            <a:pPr indent="0" marL="0">
              <a:buNone/>
            </a:pPr>
            <a:r>
              <a:rPr lang="en-US" sz="1700" b="1" dirty="0">
                <a:solidFill>
                  <a:srgbClr val="F5F2FA"/>
                </a:solidFill>
                <a:latin typeface="Arial" pitchFamily="34" charset="0"/>
                <a:ea typeface="Arial" pitchFamily="34" charset="-122"/>
                <a:cs typeface="Arial" pitchFamily="34" charset="-120"/>
              </a:rPr>
              <a:t>Is ChatGPT an AI Agent?</a:t>
            </a:r>
            <a:endParaRPr lang="en-US" sz="1700" dirty="0"/>
          </a:p>
        </p:txBody>
      </p:sp>
      <p:sp>
        <p:nvSpPr>
          <p:cNvPr id="8" name="Text 5"/>
          <p:cNvSpPr/>
          <p:nvPr/>
        </p:nvSpPr>
        <p:spPr>
          <a:xfrm>
            <a:off x="960120" y="2788920"/>
            <a:ext cx="4585716" cy="1371600"/>
          </a:xfrm>
          <a:prstGeom prst="rect">
            <a:avLst/>
          </a:prstGeom>
          <a:noFill/>
          <a:ln/>
        </p:spPr>
        <p:txBody>
          <a:bodyPr wrap="square" lIns="0" tIns="0" rIns="0" bIns="0" rtlCol="0" anchor="t"/>
          <a:lstStyle/>
          <a:p>
            <a:pPr indent="0" marL="0">
              <a:lnSpc>
                <a:spcPts val="1900"/>
              </a:lnSpc>
              <a:buNone/>
            </a:pPr>
            <a:r>
              <a:rPr lang="en-US" sz="1300" dirty="0">
                <a:solidFill>
                  <a:srgbClr val="A79DBF"/>
                </a:solidFill>
                <a:latin typeface="Calibri" pitchFamily="34" charset="0"/>
                <a:ea typeface="Calibri" pitchFamily="34" charset="-122"/>
                <a:cs typeface="Calibri" pitchFamily="34" charset="-120"/>
              </a:rPr>
              <a:t>When you only chat with it — no. It is an LLM answering text: no tool calling, no decisions.</a:t>
            </a:r>
            <a:endParaRPr lang="en-US" sz="1300" dirty="0"/>
          </a:p>
          <a:p>
            <a:pPr indent="0" marL="0">
              <a:lnSpc>
                <a:spcPts val="1900"/>
              </a:lnSpc>
              <a:buNone/>
            </a:pPr>
            <a:endParaRPr lang="en-US" sz="1300" dirty="0"/>
          </a:p>
          <a:p>
            <a:pPr indent="0" marL="0">
              <a:lnSpc>
                <a:spcPts val="1900"/>
              </a:lnSpc>
              <a:buNone/>
            </a:pPr>
            <a:r>
              <a:rPr lang="en-US" sz="1300" dirty="0">
                <a:solidFill>
                  <a:srgbClr val="A79DBF"/>
                </a:solidFill>
                <a:latin typeface="Calibri" pitchFamily="34" charset="0"/>
                <a:ea typeface="Calibri" pitchFamily="34" charset="-122"/>
                <a:cs typeface="Calibri" pitchFamily="34" charset="-120"/>
              </a:rPr>
              <a:t>But when it searches the web, runs code or reads your files — then it is behaving like an agent.</a:t>
            </a:r>
            <a:endParaRPr lang="en-US" sz="1300" dirty="0"/>
          </a:p>
        </p:txBody>
      </p:sp>
      <p:sp>
        <p:nvSpPr>
          <p:cNvPr id="9" name="Shape 6"/>
          <p:cNvSpPr/>
          <p:nvPr/>
        </p:nvSpPr>
        <p:spPr>
          <a:xfrm>
            <a:off x="960120" y="4224528"/>
            <a:ext cx="4585716" cy="530352"/>
          </a:xfrm>
          <a:prstGeom prst="roundRect">
            <a:avLst>
              <a:gd name="adj" fmla="val 13793"/>
            </a:avLst>
          </a:prstGeom>
          <a:solidFill>
            <a:srgbClr val="1B1526"/>
          </a:solidFill>
          <a:ln w="12700">
            <a:solidFill>
              <a:srgbClr val="8B7FD7"/>
            </a:solidFill>
            <a:prstDash val="solid"/>
          </a:ln>
        </p:spPr>
      </p:sp>
      <p:sp>
        <p:nvSpPr>
          <p:cNvPr id="10" name="Text 7"/>
          <p:cNvSpPr/>
          <p:nvPr/>
        </p:nvSpPr>
        <p:spPr>
          <a:xfrm>
            <a:off x="960120" y="4224528"/>
            <a:ext cx="4585716" cy="530352"/>
          </a:xfrm>
          <a:prstGeom prst="rect">
            <a:avLst/>
          </a:prstGeom>
          <a:noFill/>
          <a:ln/>
        </p:spPr>
        <p:txBody>
          <a:bodyPr wrap="square" lIns="0" tIns="0" rIns="0" bIns="0" rtlCol="0" anchor="ctr"/>
          <a:lstStyle/>
          <a:p>
            <a:pPr algn="ctr" indent="0" marL="0">
              <a:buNone/>
            </a:pPr>
            <a:r>
              <a:rPr lang="en-US" sz="1250" b="1" dirty="0">
                <a:solidFill>
                  <a:srgbClr val="8B7FD7"/>
                </a:solidFill>
                <a:latin typeface="Arial" pitchFamily="34" charset="0"/>
                <a:ea typeface="Arial" pitchFamily="34" charset="-122"/>
                <a:cs typeface="Arial" pitchFamily="34" charset="-120"/>
              </a:rPr>
              <a:t>Brain + Tools + Decisions  =  Agent</a:t>
            </a:r>
            <a:endParaRPr lang="en-US" sz="1250" dirty="0"/>
          </a:p>
        </p:txBody>
      </p:sp>
      <p:sp>
        <p:nvSpPr>
          <p:cNvPr id="11" name="Shape 8"/>
          <p:cNvSpPr/>
          <p:nvPr/>
        </p:nvSpPr>
        <p:spPr>
          <a:xfrm>
            <a:off x="6323076" y="1737360"/>
            <a:ext cx="5225796" cy="3200400"/>
          </a:xfrm>
          <a:prstGeom prst="roundRect">
            <a:avLst>
              <a:gd name="adj" fmla="val 3429"/>
            </a:avLst>
          </a:prstGeom>
          <a:solidFill>
            <a:srgbClr val="262038"/>
          </a:solidFill>
          <a:ln/>
        </p:spPr>
      </p:sp>
      <p:sp>
        <p:nvSpPr>
          <p:cNvPr id="12" name="Shape 9"/>
          <p:cNvSpPr/>
          <p:nvPr/>
        </p:nvSpPr>
        <p:spPr>
          <a:xfrm>
            <a:off x="6643116" y="1993392"/>
            <a:ext cx="640080" cy="640080"/>
          </a:xfrm>
          <a:prstGeom prst="ellipse">
            <a:avLst/>
          </a:prstGeom>
          <a:solidFill>
            <a:srgbClr val="2E2745"/>
          </a:solidFill>
          <a:ln/>
        </p:spPr>
      </p:sp>
      <p:pic>
        <p:nvPicPr>
          <p:cNvPr id="13" name="Image 1" descr="preencoded.png">    </p:cNvPr>
          <p:cNvPicPr>
            <a:picLocks noChangeAspect="1"/>
          </p:cNvPicPr>
          <p:nvPr/>
        </p:nvPicPr>
        <p:blipFill>
          <a:blip r:embed="rId2"/>
          <a:stretch>
            <a:fillRect/>
          </a:stretch>
        </p:blipFill>
        <p:spPr>
          <a:xfrm>
            <a:off x="6803136" y="2153412"/>
            <a:ext cx="320040" cy="320040"/>
          </a:xfrm>
          <a:prstGeom prst="rect">
            <a:avLst/>
          </a:prstGeom>
        </p:spPr>
      </p:pic>
      <p:sp>
        <p:nvSpPr>
          <p:cNvPr id="14" name="Text 10"/>
          <p:cNvSpPr/>
          <p:nvPr/>
        </p:nvSpPr>
        <p:spPr>
          <a:xfrm>
            <a:off x="7466076" y="2066544"/>
            <a:ext cx="3762756" cy="329184"/>
          </a:xfrm>
          <a:prstGeom prst="rect">
            <a:avLst/>
          </a:prstGeom>
          <a:noFill/>
          <a:ln/>
        </p:spPr>
        <p:txBody>
          <a:bodyPr wrap="square" lIns="0" tIns="0" rIns="0" bIns="0" rtlCol="0" anchor="ctr"/>
          <a:lstStyle/>
          <a:p>
            <a:pPr indent="0" marL="0">
              <a:buNone/>
            </a:pPr>
            <a:r>
              <a:rPr lang="en-US" sz="1700" b="1" dirty="0">
                <a:solidFill>
                  <a:srgbClr val="F5F2FA"/>
                </a:solidFill>
                <a:latin typeface="Arial" pitchFamily="34" charset="0"/>
                <a:ea typeface="Arial" pitchFamily="34" charset="-122"/>
                <a:cs typeface="Arial" pitchFamily="34" charset="-120"/>
              </a:rPr>
              <a:t>What is “Agentic AI”?</a:t>
            </a:r>
            <a:endParaRPr lang="en-US" sz="1700" dirty="0"/>
          </a:p>
        </p:txBody>
      </p:sp>
      <p:sp>
        <p:nvSpPr>
          <p:cNvPr id="15" name="Text 11"/>
          <p:cNvSpPr/>
          <p:nvPr/>
        </p:nvSpPr>
        <p:spPr>
          <a:xfrm>
            <a:off x="6643116" y="2788920"/>
            <a:ext cx="4585716" cy="1371600"/>
          </a:xfrm>
          <a:prstGeom prst="rect">
            <a:avLst/>
          </a:prstGeom>
          <a:noFill/>
          <a:ln/>
        </p:spPr>
        <p:txBody>
          <a:bodyPr wrap="square" lIns="0" tIns="0" rIns="0" bIns="0" rtlCol="0" anchor="t"/>
          <a:lstStyle/>
          <a:p>
            <a:pPr indent="0" marL="0">
              <a:lnSpc>
                <a:spcPts val="1900"/>
              </a:lnSpc>
              <a:buNone/>
            </a:pPr>
            <a:r>
              <a:rPr lang="en-US" sz="1300" dirty="0">
                <a:solidFill>
                  <a:srgbClr val="A79DBF"/>
                </a:solidFill>
                <a:latin typeface="Calibri" pitchFamily="34" charset="0"/>
                <a:ea typeface="Calibri" pitchFamily="34" charset="-122"/>
                <a:cs typeface="Calibri" pitchFamily="34" charset="-120"/>
              </a:rPr>
              <a:t>An industry label — not a new technology.</a:t>
            </a:r>
            <a:endParaRPr lang="en-US" sz="1300" dirty="0"/>
          </a:p>
          <a:p>
            <a:pPr indent="0" marL="0">
              <a:lnSpc>
                <a:spcPts val="1900"/>
              </a:lnSpc>
              <a:buNone/>
            </a:pPr>
            <a:endParaRPr lang="en-US" sz="1300" dirty="0"/>
          </a:p>
          <a:p>
            <a:pPr indent="0" marL="0">
              <a:lnSpc>
                <a:spcPts val="1900"/>
              </a:lnSpc>
              <a:buNone/>
            </a:pPr>
            <a:r>
              <a:rPr lang="en-US" sz="1300" dirty="0">
                <a:solidFill>
                  <a:srgbClr val="A79DBF"/>
                </a:solidFill>
                <a:latin typeface="Calibri" pitchFamily="34" charset="0"/>
                <a:ea typeface="Calibri" pitchFamily="34" charset="-122"/>
                <a:cs typeface="Calibri" pitchFamily="34" charset="-120"/>
              </a:rPr>
              <a:t>It simply means a system that has agent-style behaviour somewhere inside it: taking a goal and making its own decisions.</a:t>
            </a:r>
            <a:endParaRPr lang="en-US" sz="1300" dirty="0"/>
          </a:p>
        </p:txBody>
      </p:sp>
      <p:sp>
        <p:nvSpPr>
          <p:cNvPr id="16" name="Shape 12"/>
          <p:cNvSpPr/>
          <p:nvPr/>
        </p:nvSpPr>
        <p:spPr>
          <a:xfrm>
            <a:off x="6643116" y="4224528"/>
            <a:ext cx="4585716" cy="530352"/>
          </a:xfrm>
          <a:prstGeom prst="roundRect">
            <a:avLst>
              <a:gd name="adj" fmla="val 13793"/>
            </a:avLst>
          </a:prstGeom>
          <a:solidFill>
            <a:srgbClr val="1B1526"/>
          </a:solidFill>
          <a:ln w="12700">
            <a:solidFill>
              <a:srgbClr val="EA4B71"/>
            </a:solidFill>
            <a:prstDash val="solid"/>
          </a:ln>
        </p:spPr>
      </p:sp>
      <p:sp>
        <p:nvSpPr>
          <p:cNvPr id="17" name="Text 13"/>
          <p:cNvSpPr/>
          <p:nvPr/>
        </p:nvSpPr>
        <p:spPr>
          <a:xfrm>
            <a:off x="6643116" y="4224528"/>
            <a:ext cx="4585716" cy="530352"/>
          </a:xfrm>
          <a:prstGeom prst="rect">
            <a:avLst/>
          </a:prstGeom>
          <a:noFill/>
          <a:ln/>
        </p:spPr>
        <p:txBody>
          <a:bodyPr wrap="square" lIns="0" tIns="0" rIns="0" bIns="0" rtlCol="0" anchor="ctr"/>
          <a:lstStyle/>
          <a:p>
            <a:pPr algn="ctr" indent="0" marL="0">
              <a:buNone/>
            </a:pPr>
            <a:r>
              <a:rPr lang="en-US" sz="1250" b="1" dirty="0">
                <a:solidFill>
                  <a:srgbClr val="EA4B71"/>
                </a:solidFill>
                <a:latin typeface="Arial" pitchFamily="34" charset="0"/>
                <a:ea typeface="Arial" pitchFamily="34" charset="-122"/>
                <a:cs typeface="Arial" pitchFamily="34" charset="-120"/>
              </a:rPr>
              <a:t>Same Tier 3.  New sticker.</a:t>
            </a:r>
            <a:endParaRPr lang="en-US" sz="1250" dirty="0"/>
          </a:p>
        </p:txBody>
      </p:sp>
      <p:sp>
        <p:nvSpPr>
          <p:cNvPr id="18" name="Text 14"/>
          <p:cNvSpPr/>
          <p:nvPr/>
        </p:nvSpPr>
        <p:spPr>
          <a:xfrm>
            <a:off x="640080" y="5193792"/>
            <a:ext cx="10908792" cy="365760"/>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Nothing new is being invented. Only renamed.</a:t>
            </a:r>
            <a:endParaRPr lang="en-US" sz="1400" dirty="0"/>
          </a:p>
        </p:txBody>
      </p:sp>
      <p:sp>
        <p:nvSpPr>
          <p:cNvPr id="19" name="Text 15"/>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20" name="Text 16"/>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IN THE REAL WORLD</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What a Client Asks For</a:t>
            </a:r>
            <a:endParaRPr lang="en-US" sz="3400" dirty="0"/>
          </a:p>
        </p:txBody>
      </p:sp>
      <p:sp>
        <p:nvSpPr>
          <p:cNvPr id="4" name="Shape 2"/>
          <p:cNvSpPr/>
          <p:nvPr/>
        </p:nvSpPr>
        <p:spPr>
          <a:xfrm>
            <a:off x="640080" y="1737360"/>
            <a:ext cx="5225796" cy="2286000"/>
          </a:xfrm>
          <a:prstGeom prst="roundRect">
            <a:avLst>
              <a:gd name="adj" fmla="val 4800"/>
            </a:avLst>
          </a:prstGeom>
          <a:solidFill>
            <a:srgbClr val="262038"/>
          </a:solidFill>
          <a:ln/>
        </p:spPr>
      </p:sp>
      <p:sp>
        <p:nvSpPr>
          <p:cNvPr id="5" name="Shape 3"/>
          <p:cNvSpPr/>
          <p:nvPr/>
        </p:nvSpPr>
        <p:spPr>
          <a:xfrm>
            <a:off x="960120" y="1965960"/>
            <a:ext cx="621792" cy="621792"/>
          </a:xfrm>
          <a:prstGeom prst="ellipse">
            <a:avLst/>
          </a:prstGeom>
          <a:solidFill>
            <a:srgbClr val="2E2745"/>
          </a:solidFill>
          <a:ln/>
        </p:spPr>
      </p:sp>
      <p:pic>
        <p:nvPicPr>
          <p:cNvPr id="6" name="Image 0" descr="preencoded.png">    </p:cNvPr>
          <p:cNvPicPr>
            <a:picLocks noChangeAspect="1"/>
          </p:cNvPicPr>
          <p:nvPr/>
        </p:nvPicPr>
        <p:blipFill>
          <a:blip r:embed="rId1"/>
          <a:stretch>
            <a:fillRect/>
          </a:stretch>
        </p:blipFill>
        <p:spPr>
          <a:xfrm>
            <a:off x="1115568" y="2121408"/>
            <a:ext cx="310896" cy="310896"/>
          </a:xfrm>
          <a:prstGeom prst="rect">
            <a:avLst/>
          </a:prstGeom>
        </p:spPr>
      </p:pic>
      <p:sp>
        <p:nvSpPr>
          <p:cNvPr id="7" name="Text 4"/>
          <p:cNvSpPr/>
          <p:nvPr/>
        </p:nvSpPr>
        <p:spPr>
          <a:xfrm>
            <a:off x="1737360" y="2048256"/>
            <a:ext cx="3854196" cy="237744"/>
          </a:xfrm>
          <a:prstGeom prst="rect">
            <a:avLst/>
          </a:prstGeom>
          <a:noFill/>
          <a:ln/>
        </p:spPr>
        <p:txBody>
          <a:bodyPr wrap="square" lIns="0" tIns="0" rIns="0" bIns="0" rtlCol="0" anchor="ctr"/>
          <a:lstStyle/>
          <a:p>
            <a:pPr indent="0" marL="0">
              <a:buNone/>
            </a:pPr>
            <a:r>
              <a:rPr lang="en-US" sz="1000" b="1" spc="140" kern="0" dirty="0">
                <a:solidFill>
                  <a:srgbClr val="A79DBF"/>
                </a:solidFill>
                <a:latin typeface="Arial" pitchFamily="34" charset="0"/>
                <a:ea typeface="Arial" pitchFamily="34" charset="-122"/>
                <a:cs typeface="Arial" pitchFamily="34" charset="-120"/>
              </a:rPr>
              <a:t>THE CLIENT SAYS</a:t>
            </a:r>
            <a:endParaRPr lang="en-US" sz="1000" dirty="0"/>
          </a:p>
        </p:txBody>
      </p:sp>
      <p:sp>
        <p:nvSpPr>
          <p:cNvPr id="8" name="Text 5"/>
          <p:cNvSpPr/>
          <p:nvPr/>
        </p:nvSpPr>
        <p:spPr>
          <a:xfrm>
            <a:off x="960120" y="2697480"/>
            <a:ext cx="4585716" cy="1097280"/>
          </a:xfrm>
          <a:prstGeom prst="rect">
            <a:avLst/>
          </a:prstGeom>
          <a:noFill/>
          <a:ln/>
        </p:spPr>
        <p:txBody>
          <a:bodyPr wrap="square" lIns="0" tIns="0" rIns="0" bIns="0" rtlCol="0" anchor="t"/>
          <a:lstStyle/>
          <a:p>
            <a:pPr indent="0" marL="0">
              <a:lnSpc>
                <a:spcPts val="2300"/>
              </a:lnSpc>
              <a:buNone/>
            </a:pPr>
            <a:r>
              <a:rPr lang="en-US" sz="1600" i="1" dirty="0">
                <a:solidFill>
                  <a:srgbClr val="F5F2FA"/>
                </a:solidFill>
                <a:latin typeface="Calibri" pitchFamily="34" charset="0"/>
                <a:ea typeface="Calibri" pitchFamily="34" charset="-122"/>
                <a:cs typeface="Calibri" pitchFamily="34" charset="-120"/>
              </a:rPr>
              <a:t>“I need an AI Agent that sends a WhatsApp confirmation on every order.”</a:t>
            </a:r>
            <a:endParaRPr lang="en-US" sz="1600" dirty="0"/>
          </a:p>
        </p:txBody>
      </p:sp>
      <p:sp>
        <p:nvSpPr>
          <p:cNvPr id="9" name="Shape 6"/>
          <p:cNvSpPr/>
          <p:nvPr/>
        </p:nvSpPr>
        <p:spPr>
          <a:xfrm>
            <a:off x="6323076" y="1737360"/>
            <a:ext cx="5225796" cy="2286000"/>
          </a:xfrm>
          <a:prstGeom prst="roundRect">
            <a:avLst>
              <a:gd name="adj" fmla="val 4800"/>
            </a:avLst>
          </a:prstGeom>
          <a:solidFill>
            <a:srgbClr val="262038"/>
          </a:solidFill>
          <a:ln w="15240">
            <a:solidFill>
              <a:srgbClr val="34D399"/>
            </a:solidFill>
            <a:prstDash val="solid"/>
          </a:ln>
        </p:spPr>
      </p:sp>
      <p:sp>
        <p:nvSpPr>
          <p:cNvPr id="10" name="Shape 7"/>
          <p:cNvSpPr/>
          <p:nvPr/>
        </p:nvSpPr>
        <p:spPr>
          <a:xfrm>
            <a:off x="6643116" y="1965960"/>
            <a:ext cx="621792" cy="621792"/>
          </a:xfrm>
          <a:prstGeom prst="ellipse">
            <a:avLst/>
          </a:prstGeom>
          <a:solidFill>
            <a:srgbClr val="2E2745"/>
          </a:solidFill>
          <a:ln/>
        </p:spPr>
      </p:sp>
      <p:pic>
        <p:nvPicPr>
          <p:cNvPr id="11" name="Image 1" descr="preencoded.png">    </p:cNvPr>
          <p:cNvPicPr>
            <a:picLocks noChangeAspect="1"/>
          </p:cNvPicPr>
          <p:nvPr/>
        </p:nvPicPr>
        <p:blipFill>
          <a:blip r:embed="rId2"/>
          <a:stretch>
            <a:fillRect/>
          </a:stretch>
        </p:blipFill>
        <p:spPr>
          <a:xfrm>
            <a:off x="6798564" y="2121408"/>
            <a:ext cx="310896" cy="310896"/>
          </a:xfrm>
          <a:prstGeom prst="rect">
            <a:avLst/>
          </a:prstGeom>
        </p:spPr>
      </p:pic>
      <p:sp>
        <p:nvSpPr>
          <p:cNvPr id="12" name="Text 8"/>
          <p:cNvSpPr/>
          <p:nvPr/>
        </p:nvSpPr>
        <p:spPr>
          <a:xfrm>
            <a:off x="7420356" y="2048256"/>
            <a:ext cx="3854196" cy="237744"/>
          </a:xfrm>
          <a:prstGeom prst="rect">
            <a:avLst/>
          </a:prstGeom>
          <a:noFill/>
          <a:ln/>
        </p:spPr>
        <p:txBody>
          <a:bodyPr wrap="square" lIns="0" tIns="0" rIns="0" bIns="0" rtlCol="0" anchor="ctr"/>
          <a:lstStyle/>
          <a:p>
            <a:pPr indent="0" marL="0">
              <a:buNone/>
            </a:pPr>
            <a:r>
              <a:rPr lang="en-US" sz="1000" b="1" spc="140" kern="0" dirty="0">
                <a:solidFill>
                  <a:srgbClr val="34D399"/>
                </a:solidFill>
                <a:latin typeface="Arial" pitchFamily="34" charset="0"/>
                <a:ea typeface="Arial" pitchFamily="34" charset="-122"/>
                <a:cs typeface="Arial" pitchFamily="34" charset="-120"/>
              </a:rPr>
              <a:t>YOU SAY</a:t>
            </a:r>
            <a:endParaRPr lang="en-US" sz="1000" dirty="0"/>
          </a:p>
        </p:txBody>
      </p:sp>
      <p:sp>
        <p:nvSpPr>
          <p:cNvPr id="13" name="Text 9"/>
          <p:cNvSpPr/>
          <p:nvPr/>
        </p:nvSpPr>
        <p:spPr>
          <a:xfrm>
            <a:off x="6643116" y="2697480"/>
            <a:ext cx="4585716" cy="1188720"/>
          </a:xfrm>
          <a:prstGeom prst="rect">
            <a:avLst/>
          </a:prstGeom>
          <a:noFill/>
          <a:ln/>
        </p:spPr>
        <p:txBody>
          <a:bodyPr wrap="square" lIns="0" tIns="0" rIns="0" bIns="0" rtlCol="0" anchor="t"/>
          <a:lstStyle/>
          <a:p>
            <a:pPr indent="0" marL="0">
              <a:lnSpc>
                <a:spcPts val="2000"/>
              </a:lnSpc>
              <a:buNone/>
            </a:pPr>
            <a:r>
              <a:rPr lang="en-US" sz="1400" i="1" dirty="0">
                <a:solidFill>
                  <a:srgbClr val="F5F2FA"/>
                </a:solidFill>
                <a:latin typeface="Calibri" pitchFamily="34" charset="0"/>
                <a:ea typeface="Calibri" pitchFamily="34" charset="-122"/>
                <a:cs typeface="Calibri" pitchFamily="34" charset="-120"/>
              </a:rPr>
              <a:t>“You don’t need an agent for this. I’ll build a simple automation — cheaper and more reliable. We’ll use an agent where customers ask open-ended questions.”</a:t>
            </a:r>
            <a:endParaRPr lang="en-US" sz="1400" dirty="0"/>
          </a:p>
        </p:txBody>
      </p:sp>
      <p:sp>
        <p:nvSpPr>
          <p:cNvPr id="14" name="Text 10"/>
          <p:cNvSpPr/>
          <p:nvPr/>
        </p:nvSpPr>
        <p:spPr>
          <a:xfrm>
            <a:off x="640080" y="4206240"/>
            <a:ext cx="10908792" cy="256032"/>
          </a:xfrm>
          <a:prstGeom prst="rect">
            <a:avLst/>
          </a:prstGeom>
          <a:noFill/>
          <a:ln/>
        </p:spPr>
        <p:txBody>
          <a:bodyPr wrap="square" lIns="0" tIns="0" rIns="0" bIns="0" rtlCol="0" anchor="ctr"/>
          <a:lstStyle/>
          <a:p>
            <a:pPr indent="0" marL="0">
              <a:buNone/>
            </a:pPr>
            <a:r>
              <a:rPr lang="en-US" sz="1250" dirty="0">
                <a:solidFill>
                  <a:srgbClr val="A79DBF"/>
                </a:solidFill>
                <a:latin typeface="Calibri" pitchFamily="34" charset="0"/>
                <a:ea typeface="Calibri" pitchFamily="34" charset="-122"/>
                <a:cs typeface="Calibri" pitchFamily="34" charset="-120"/>
              </a:rPr>
              <a:t>What building it as an agent would have cost:</a:t>
            </a:r>
            <a:endParaRPr lang="en-US" sz="1250" dirty="0"/>
          </a:p>
        </p:txBody>
      </p:sp>
      <p:sp>
        <p:nvSpPr>
          <p:cNvPr id="15" name="Shape 11"/>
          <p:cNvSpPr/>
          <p:nvPr/>
        </p:nvSpPr>
        <p:spPr>
          <a:xfrm>
            <a:off x="640080" y="4526280"/>
            <a:ext cx="3392424" cy="914400"/>
          </a:xfrm>
          <a:prstGeom prst="roundRect">
            <a:avLst>
              <a:gd name="adj" fmla="val 12000"/>
            </a:avLst>
          </a:prstGeom>
          <a:solidFill>
            <a:srgbClr val="262038"/>
          </a:solidFill>
          <a:ln/>
        </p:spPr>
      </p:sp>
      <p:sp>
        <p:nvSpPr>
          <p:cNvPr id="16" name="Shape 12"/>
          <p:cNvSpPr/>
          <p:nvPr/>
        </p:nvSpPr>
        <p:spPr>
          <a:xfrm>
            <a:off x="896112" y="4718304"/>
            <a:ext cx="512064" cy="512064"/>
          </a:xfrm>
          <a:prstGeom prst="ellipse">
            <a:avLst/>
          </a:prstGeom>
          <a:solidFill>
            <a:srgbClr val="2E2745"/>
          </a:solidFill>
          <a:ln/>
        </p:spPr>
      </p:sp>
      <p:pic>
        <p:nvPicPr>
          <p:cNvPr id="17" name="Image 2" descr="preencoded.png">    </p:cNvPr>
          <p:cNvPicPr>
            <a:picLocks noChangeAspect="1"/>
          </p:cNvPicPr>
          <p:nvPr/>
        </p:nvPicPr>
        <p:blipFill>
          <a:blip r:embed="rId3"/>
          <a:stretch>
            <a:fillRect/>
          </a:stretch>
        </p:blipFill>
        <p:spPr>
          <a:xfrm>
            <a:off x="1024128" y="4846320"/>
            <a:ext cx="256032" cy="256032"/>
          </a:xfrm>
          <a:prstGeom prst="rect">
            <a:avLst/>
          </a:prstGeom>
        </p:spPr>
      </p:pic>
      <p:sp>
        <p:nvSpPr>
          <p:cNvPr id="18" name="Text 13"/>
          <p:cNvSpPr/>
          <p:nvPr/>
        </p:nvSpPr>
        <p:spPr>
          <a:xfrm>
            <a:off x="1536192" y="4663440"/>
            <a:ext cx="2249424" cy="256032"/>
          </a:xfrm>
          <a:prstGeom prst="rect">
            <a:avLst/>
          </a:prstGeom>
          <a:noFill/>
          <a:ln/>
        </p:spPr>
        <p:txBody>
          <a:bodyPr wrap="square" lIns="0" tIns="0" rIns="0" bIns="0" rtlCol="0" anchor="ctr"/>
          <a:lstStyle/>
          <a:p>
            <a:pPr indent="0" marL="0">
              <a:buNone/>
            </a:pPr>
            <a:r>
              <a:rPr lang="en-US" sz="1350" b="1" dirty="0">
                <a:solidFill>
                  <a:srgbClr val="F5F2FA"/>
                </a:solidFill>
                <a:latin typeface="Arial" pitchFamily="34" charset="0"/>
                <a:ea typeface="Arial" pitchFamily="34" charset="-122"/>
                <a:cs typeface="Arial" pitchFamily="34" charset="-120"/>
              </a:rPr>
              <a:t>Higher cost</a:t>
            </a:r>
            <a:endParaRPr lang="en-US" sz="1350" dirty="0"/>
          </a:p>
        </p:txBody>
      </p:sp>
      <p:sp>
        <p:nvSpPr>
          <p:cNvPr id="19" name="Text 14"/>
          <p:cNvSpPr/>
          <p:nvPr/>
        </p:nvSpPr>
        <p:spPr>
          <a:xfrm>
            <a:off x="1536192" y="4937760"/>
            <a:ext cx="2249424" cy="256032"/>
          </a:xfrm>
          <a:prstGeom prst="rect">
            <a:avLst/>
          </a:prstGeom>
          <a:noFill/>
          <a:ln/>
        </p:spPr>
        <p:txBody>
          <a:bodyPr wrap="square" lIns="0" tIns="0" rIns="0" bIns="0" rtlCol="0" anchor="ctr"/>
          <a:lstStyle/>
          <a:p>
            <a:pPr indent="0" marL="0">
              <a:buNone/>
            </a:pPr>
            <a:r>
              <a:rPr lang="en-US" sz="1100" dirty="0">
                <a:solidFill>
                  <a:srgbClr val="A79DBF"/>
                </a:solidFill>
                <a:latin typeface="Calibri" pitchFamily="34" charset="0"/>
                <a:ea typeface="Calibri" pitchFamily="34" charset="-122"/>
                <a:cs typeface="Calibri" pitchFamily="34" charset="-120"/>
              </a:rPr>
              <a:t>Tokens on every single run</a:t>
            </a:r>
            <a:endParaRPr lang="en-US" sz="1100" dirty="0"/>
          </a:p>
        </p:txBody>
      </p:sp>
      <p:sp>
        <p:nvSpPr>
          <p:cNvPr id="20" name="Shape 15"/>
          <p:cNvSpPr/>
          <p:nvPr/>
        </p:nvSpPr>
        <p:spPr>
          <a:xfrm>
            <a:off x="4398264" y="4526280"/>
            <a:ext cx="3392424" cy="914400"/>
          </a:xfrm>
          <a:prstGeom prst="roundRect">
            <a:avLst>
              <a:gd name="adj" fmla="val 12000"/>
            </a:avLst>
          </a:prstGeom>
          <a:solidFill>
            <a:srgbClr val="262038"/>
          </a:solidFill>
          <a:ln/>
        </p:spPr>
      </p:sp>
      <p:sp>
        <p:nvSpPr>
          <p:cNvPr id="21" name="Shape 16"/>
          <p:cNvSpPr/>
          <p:nvPr/>
        </p:nvSpPr>
        <p:spPr>
          <a:xfrm>
            <a:off x="4654296" y="4718304"/>
            <a:ext cx="512064" cy="512064"/>
          </a:xfrm>
          <a:prstGeom prst="ellipse">
            <a:avLst/>
          </a:prstGeom>
          <a:solidFill>
            <a:srgbClr val="2E2745"/>
          </a:solidFill>
          <a:ln/>
        </p:spPr>
      </p:sp>
      <p:pic>
        <p:nvPicPr>
          <p:cNvPr id="22" name="Image 3" descr="preencoded.png">    </p:cNvPr>
          <p:cNvPicPr>
            <a:picLocks noChangeAspect="1"/>
          </p:cNvPicPr>
          <p:nvPr/>
        </p:nvPicPr>
        <p:blipFill>
          <a:blip r:embed="rId4"/>
          <a:stretch>
            <a:fillRect/>
          </a:stretch>
        </p:blipFill>
        <p:spPr>
          <a:xfrm>
            <a:off x="4782312" y="4846320"/>
            <a:ext cx="256032" cy="256032"/>
          </a:xfrm>
          <a:prstGeom prst="rect">
            <a:avLst/>
          </a:prstGeom>
        </p:spPr>
      </p:pic>
      <p:sp>
        <p:nvSpPr>
          <p:cNvPr id="23" name="Text 17"/>
          <p:cNvSpPr/>
          <p:nvPr/>
        </p:nvSpPr>
        <p:spPr>
          <a:xfrm>
            <a:off x="5294376" y="4663440"/>
            <a:ext cx="2249424" cy="256032"/>
          </a:xfrm>
          <a:prstGeom prst="rect">
            <a:avLst/>
          </a:prstGeom>
          <a:noFill/>
          <a:ln/>
        </p:spPr>
        <p:txBody>
          <a:bodyPr wrap="square" lIns="0" tIns="0" rIns="0" bIns="0" rtlCol="0" anchor="ctr"/>
          <a:lstStyle/>
          <a:p>
            <a:pPr indent="0" marL="0">
              <a:buNone/>
            </a:pPr>
            <a:r>
              <a:rPr lang="en-US" sz="1350" b="1" dirty="0">
                <a:solidFill>
                  <a:srgbClr val="F5F2FA"/>
                </a:solidFill>
                <a:latin typeface="Arial" pitchFamily="34" charset="0"/>
                <a:ea typeface="Arial" pitchFamily="34" charset="-122"/>
                <a:cs typeface="Arial" pitchFamily="34" charset="-120"/>
              </a:rPr>
              <a:t>Slower</a:t>
            </a:r>
            <a:endParaRPr lang="en-US" sz="1350" dirty="0"/>
          </a:p>
        </p:txBody>
      </p:sp>
      <p:sp>
        <p:nvSpPr>
          <p:cNvPr id="24" name="Text 18"/>
          <p:cNvSpPr/>
          <p:nvPr/>
        </p:nvSpPr>
        <p:spPr>
          <a:xfrm>
            <a:off x="5294376" y="4937760"/>
            <a:ext cx="2249424" cy="256032"/>
          </a:xfrm>
          <a:prstGeom prst="rect">
            <a:avLst/>
          </a:prstGeom>
          <a:noFill/>
          <a:ln/>
        </p:spPr>
        <p:txBody>
          <a:bodyPr wrap="square" lIns="0" tIns="0" rIns="0" bIns="0" rtlCol="0" anchor="ctr"/>
          <a:lstStyle/>
          <a:p>
            <a:pPr indent="0" marL="0">
              <a:buNone/>
            </a:pPr>
            <a:r>
              <a:rPr lang="en-US" sz="1100" dirty="0">
                <a:solidFill>
                  <a:srgbClr val="A79DBF"/>
                </a:solidFill>
                <a:latin typeface="Calibri" pitchFamily="34" charset="0"/>
                <a:ea typeface="Calibri" pitchFamily="34" charset="-122"/>
                <a:cs typeface="Calibri" pitchFamily="34" charset="-120"/>
              </a:rPr>
              <a:t>Seconds instead of instant</a:t>
            </a:r>
            <a:endParaRPr lang="en-US" sz="1100" dirty="0"/>
          </a:p>
        </p:txBody>
      </p:sp>
      <p:sp>
        <p:nvSpPr>
          <p:cNvPr id="25" name="Shape 19"/>
          <p:cNvSpPr/>
          <p:nvPr/>
        </p:nvSpPr>
        <p:spPr>
          <a:xfrm>
            <a:off x="8156448" y="4526280"/>
            <a:ext cx="3392424" cy="914400"/>
          </a:xfrm>
          <a:prstGeom prst="roundRect">
            <a:avLst>
              <a:gd name="adj" fmla="val 12000"/>
            </a:avLst>
          </a:prstGeom>
          <a:solidFill>
            <a:srgbClr val="262038"/>
          </a:solidFill>
          <a:ln/>
        </p:spPr>
      </p:sp>
      <p:sp>
        <p:nvSpPr>
          <p:cNvPr id="26" name="Shape 20"/>
          <p:cNvSpPr/>
          <p:nvPr/>
        </p:nvSpPr>
        <p:spPr>
          <a:xfrm>
            <a:off x="8412480" y="4718304"/>
            <a:ext cx="512064" cy="512064"/>
          </a:xfrm>
          <a:prstGeom prst="ellipse">
            <a:avLst/>
          </a:prstGeom>
          <a:solidFill>
            <a:srgbClr val="2E2745"/>
          </a:solidFill>
          <a:ln/>
        </p:spPr>
      </p:sp>
      <p:pic>
        <p:nvPicPr>
          <p:cNvPr id="27" name="Image 4" descr="preencoded.png">    </p:cNvPr>
          <p:cNvPicPr>
            <a:picLocks noChangeAspect="1"/>
          </p:cNvPicPr>
          <p:nvPr/>
        </p:nvPicPr>
        <p:blipFill>
          <a:blip r:embed="rId5"/>
          <a:stretch>
            <a:fillRect/>
          </a:stretch>
        </p:blipFill>
        <p:spPr>
          <a:xfrm>
            <a:off x="8540496" y="4846320"/>
            <a:ext cx="256032" cy="256032"/>
          </a:xfrm>
          <a:prstGeom prst="rect">
            <a:avLst/>
          </a:prstGeom>
        </p:spPr>
      </p:pic>
      <p:sp>
        <p:nvSpPr>
          <p:cNvPr id="28" name="Text 21"/>
          <p:cNvSpPr/>
          <p:nvPr/>
        </p:nvSpPr>
        <p:spPr>
          <a:xfrm>
            <a:off x="9052560" y="4663440"/>
            <a:ext cx="2249424" cy="256032"/>
          </a:xfrm>
          <a:prstGeom prst="rect">
            <a:avLst/>
          </a:prstGeom>
          <a:noFill/>
          <a:ln/>
        </p:spPr>
        <p:txBody>
          <a:bodyPr wrap="square" lIns="0" tIns="0" rIns="0" bIns="0" rtlCol="0" anchor="ctr"/>
          <a:lstStyle/>
          <a:p>
            <a:pPr indent="0" marL="0">
              <a:buNone/>
            </a:pPr>
            <a:r>
              <a:rPr lang="en-US" sz="1350" b="1" dirty="0">
                <a:solidFill>
                  <a:srgbClr val="F5F2FA"/>
                </a:solidFill>
                <a:latin typeface="Arial" pitchFamily="34" charset="0"/>
                <a:ea typeface="Arial" pitchFamily="34" charset="-122"/>
                <a:cs typeface="Arial" pitchFamily="34" charset="-120"/>
              </a:rPr>
              <a:t>Less reliable</a:t>
            </a:r>
            <a:endParaRPr lang="en-US" sz="1350" dirty="0"/>
          </a:p>
        </p:txBody>
      </p:sp>
      <p:sp>
        <p:nvSpPr>
          <p:cNvPr id="29" name="Text 22"/>
          <p:cNvSpPr/>
          <p:nvPr/>
        </p:nvSpPr>
        <p:spPr>
          <a:xfrm>
            <a:off x="9052560" y="4937760"/>
            <a:ext cx="2249424" cy="256032"/>
          </a:xfrm>
          <a:prstGeom prst="rect">
            <a:avLst/>
          </a:prstGeom>
          <a:noFill/>
          <a:ln/>
        </p:spPr>
        <p:txBody>
          <a:bodyPr wrap="square" lIns="0" tIns="0" rIns="0" bIns="0" rtlCol="0" anchor="ctr"/>
          <a:lstStyle/>
          <a:p>
            <a:pPr indent="0" marL="0">
              <a:buNone/>
            </a:pPr>
            <a:r>
              <a:rPr lang="en-US" sz="1100" dirty="0">
                <a:solidFill>
                  <a:srgbClr val="A79DBF"/>
                </a:solidFill>
                <a:latin typeface="Calibri" pitchFamily="34" charset="0"/>
                <a:ea typeface="Calibri" pitchFamily="34" charset="-122"/>
                <a:cs typeface="Calibri" pitchFamily="34" charset="-120"/>
              </a:rPr>
              <a:t>An LLM can get creative</a:t>
            </a:r>
            <a:endParaRPr lang="en-US" sz="1100" dirty="0"/>
          </a:p>
        </p:txBody>
      </p:sp>
      <p:sp>
        <p:nvSpPr>
          <p:cNvPr id="30" name="Text 23"/>
          <p:cNvSpPr/>
          <p:nvPr/>
        </p:nvSpPr>
        <p:spPr>
          <a:xfrm>
            <a:off x="640080" y="5623560"/>
            <a:ext cx="10908792" cy="329184"/>
          </a:xfrm>
          <a:prstGeom prst="rect">
            <a:avLst/>
          </a:prstGeom>
          <a:noFill/>
          <a:ln/>
        </p:spPr>
        <p:txBody>
          <a:bodyPr wrap="square" lIns="0" tIns="0" rIns="0" bIns="0" rtlCol="0" anchor="ctr"/>
          <a:lstStyle/>
          <a:p>
            <a:pPr indent="0" marL="0">
              <a:buNone/>
            </a:pPr>
            <a:r>
              <a:rPr lang="en-US" sz="1350" b="1" dirty="0">
                <a:solidFill>
                  <a:srgbClr val="34D399"/>
                </a:solidFill>
                <a:latin typeface="Calibri" pitchFamily="34" charset="0"/>
                <a:ea typeface="Calibri" pitchFamily="34" charset="-122"/>
                <a:cs typeface="Calibri" pitchFamily="34" charset="-120"/>
              </a:rPr>
              <a:t>This one sentence separates you from the “AI expert” who sells an agent for everything.</a:t>
            </a:r>
            <a:endParaRPr lang="en-US" sz="1350" dirty="0"/>
          </a:p>
        </p:txBody>
      </p:sp>
      <p:sp>
        <p:nvSpPr>
          <p:cNvPr id="31" name="Text 24"/>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32" name="Text 25"/>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AVOID THESE</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Common Beginner Mistakes</a:t>
            </a:r>
            <a:endParaRPr lang="en-US" sz="3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5454396"/>
                <a:gridCol w="5454396"/>
              </a:tblGrid>
              <a:tr h="566928">
                <a:tc>
                  <a:txBody>
                    <a:bodyPr/>
                    <a:lstStyle/>
                    <a:p>
                      <a:pPr algn="l" indent="0" marL="0">
                        <a:buNone/>
                      </a:pPr>
                      <a:r>
                        <a:rPr lang="en-US" sz="1300" b="1" dirty="0">
                          <a:solidFill>
                            <a:srgbClr val="EA4B71"/>
                          </a:solidFill>
                          <a:latin typeface="Calibri" pitchFamily="34" charset="0"/>
                          <a:ea typeface="Calibri" pitchFamily="34" charset="-122"/>
                          <a:cs typeface="Calibri" pitchFamily="34" charset="-120"/>
                        </a:rPr>
                        <a:t>  The Mistake</a:t>
                      </a:r>
                      <a:endParaRPr lang="en-US" sz="1300" dirty="0">
                        <a:latin typeface="Calibri" charset="0"/>
                        <a:ea typeface="Calibri" charset="0"/>
                        <a:cs typeface="Calibri" charset="0"/>
                      </a:endParaRPr>
                    </a:p>
                  </a:txBody>
                  <a:tcPr marL="101600" marR="101600" marT="101600" marB="1016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E2745"/>
                    </a:solidFill>
                  </a:tcPr>
                </a:tc>
                <a:tc>
                  <a:txBody>
                    <a:bodyPr/>
                    <a:lstStyle/>
                    <a:p>
                      <a:pPr algn="l" indent="0" marL="0">
                        <a:buNone/>
                      </a:pPr>
                      <a:r>
                        <a:rPr lang="en-US" sz="1300" b="1" dirty="0">
                          <a:solidFill>
                            <a:srgbClr val="34D399"/>
                          </a:solidFill>
                          <a:latin typeface="Calibri" pitchFamily="34" charset="0"/>
                          <a:ea typeface="Calibri" pitchFamily="34" charset="-122"/>
                          <a:cs typeface="Calibri" pitchFamily="34" charset="-120"/>
                        </a:rPr>
                        <a:t>  The Right Approach</a:t>
                      </a:r>
                      <a:endParaRPr lang="en-US" sz="1300" dirty="0">
                        <a:latin typeface="Calibri" charset="0"/>
                        <a:ea typeface="Calibri" charset="0"/>
                        <a:cs typeface="Calibri" charset="0"/>
                      </a:endParaRPr>
                    </a:p>
                  </a:txBody>
                  <a:tcPr marL="101600" marR="101600" marT="101600" marB="1016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E2745"/>
                    </a:solidFill>
                  </a:tcPr>
                </a:tc>
              </a:tr>
              <a:tr h="566928">
                <a:tc>
                  <a:txBody>
                    <a:bodyPr/>
                    <a:lstStyle/>
                    <a:p>
                      <a:pPr algn="l" indent="0" marL="0">
                        <a:buNone/>
                      </a:pPr>
                      <a:r>
                        <a:rPr lang="en-US" sz="1250" dirty="0">
                          <a:solidFill>
                            <a:srgbClr val="F5F2FA"/>
                          </a:solidFill>
                          <a:latin typeface="Calibri" pitchFamily="34" charset="0"/>
                          <a:ea typeface="Calibri" pitchFamily="34" charset="-122"/>
                          <a:cs typeface="Calibri" pitchFamily="34" charset="-120"/>
                        </a:rPr>
                        <a:t>  Calling everything an “AI agent”</a:t>
                      </a:r>
                      <a:endParaRPr lang="en-US" sz="1250" dirty="0">
                        <a:latin typeface="Calibri" charset="0"/>
                        <a:ea typeface="Calibri" charset="0"/>
                        <a:cs typeface="Calibri" charset="0"/>
                      </a:endParaRPr>
                    </a:p>
                  </a:txBody>
                  <a:tcPr marL="101600" marR="101600" marT="101600" marB="1016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c>
                  <a:txBody>
                    <a:bodyPr/>
                    <a:lstStyle/>
                    <a:p>
                      <a:pPr algn="l" indent="0" marL="0">
                        <a:buNone/>
                      </a:pPr>
                      <a:r>
                        <a:rPr lang="en-US" sz="1250" dirty="0">
                          <a:solidFill>
                            <a:srgbClr val="A79DBF"/>
                          </a:solidFill>
                          <a:latin typeface="Calibri" pitchFamily="34" charset="0"/>
                          <a:ea typeface="Calibri" pitchFamily="34" charset="-122"/>
                          <a:cs typeface="Calibri" pitchFamily="34" charset="-120"/>
                        </a:rPr>
                        <a:t>  Three different things, three different prices</a:t>
                      </a:r>
                      <a:endParaRPr lang="en-US" sz="1250" dirty="0">
                        <a:latin typeface="Calibri" charset="0"/>
                        <a:ea typeface="Calibri" charset="0"/>
                        <a:cs typeface="Calibri" charset="0"/>
                      </a:endParaRPr>
                    </a:p>
                  </a:txBody>
                  <a:tcPr marL="101600" marR="101600" marT="101600" marB="1016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r>
              <a:tr h="566928">
                <a:tc>
                  <a:txBody>
                    <a:bodyPr/>
                    <a:lstStyle/>
                    <a:p>
                      <a:pPr algn="l" indent="0" marL="0">
                        <a:buNone/>
                      </a:pPr>
                      <a:r>
                        <a:rPr lang="en-US" sz="1250" dirty="0">
                          <a:solidFill>
                            <a:srgbClr val="F5F2FA"/>
                          </a:solidFill>
                          <a:latin typeface="Calibri" pitchFamily="34" charset="0"/>
                          <a:ea typeface="Calibri" pitchFamily="34" charset="-122"/>
                          <a:cs typeface="Calibri" pitchFamily="34" charset="-120"/>
                        </a:rPr>
                        <a:t>  Building an agent for rule-based work</a:t>
                      </a:r>
                      <a:endParaRPr lang="en-US" sz="1250" dirty="0">
                        <a:latin typeface="Calibri" charset="0"/>
                        <a:ea typeface="Calibri" charset="0"/>
                        <a:cs typeface="Calibri" charset="0"/>
                      </a:endParaRPr>
                    </a:p>
                  </a:txBody>
                  <a:tcPr marL="101600" marR="101600" marT="101600" marB="1016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c>
                  <a:txBody>
                    <a:bodyPr/>
                    <a:lstStyle/>
                    <a:p>
                      <a:pPr algn="l" indent="0" marL="0">
                        <a:buNone/>
                      </a:pPr>
                      <a:r>
                        <a:rPr lang="en-US" sz="1250" dirty="0">
                          <a:solidFill>
                            <a:srgbClr val="A79DBF"/>
                          </a:solidFill>
                          <a:latin typeface="Calibri" pitchFamily="34" charset="0"/>
                          <a:ea typeface="Calibri" pitchFamily="34" charset="-122"/>
                          <a:cs typeface="Calibri" pitchFamily="34" charset="-120"/>
                        </a:rPr>
                        <a:t>  Lowest tier that works. Agent = last resort</a:t>
                      </a:r>
                      <a:endParaRPr lang="en-US" sz="1250" dirty="0">
                        <a:latin typeface="Calibri" charset="0"/>
                        <a:ea typeface="Calibri" charset="0"/>
                        <a:cs typeface="Calibri" charset="0"/>
                      </a:endParaRPr>
                    </a:p>
                  </a:txBody>
                  <a:tcPr marL="101600" marR="101600" marT="101600" marB="1016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r>
              <a:tr h="566928">
                <a:tc>
                  <a:txBody>
                    <a:bodyPr/>
                    <a:lstStyle/>
                    <a:p>
                      <a:pPr algn="l" indent="0" marL="0">
                        <a:buNone/>
                      </a:pPr>
                      <a:r>
                        <a:rPr lang="en-US" sz="1250" dirty="0">
                          <a:solidFill>
                            <a:srgbClr val="F5F2FA"/>
                          </a:solidFill>
                          <a:latin typeface="Calibri" pitchFamily="34" charset="0"/>
                          <a:ea typeface="Calibri" pitchFamily="34" charset="-122"/>
                          <a:cs typeface="Calibri" pitchFamily="34" charset="-120"/>
                        </a:rPr>
                        <a:t>  Treating an agent as set-and-forget</a:t>
                      </a:r>
                      <a:endParaRPr lang="en-US" sz="1250" dirty="0">
                        <a:latin typeface="Calibri" charset="0"/>
                        <a:ea typeface="Calibri" charset="0"/>
                        <a:cs typeface="Calibri" charset="0"/>
                      </a:endParaRPr>
                    </a:p>
                  </a:txBody>
                  <a:tcPr marL="101600" marR="101600" marT="101600" marB="1016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c>
                  <a:txBody>
                    <a:bodyPr/>
                    <a:lstStyle/>
                    <a:p>
                      <a:pPr algn="l" indent="0" marL="0">
                        <a:buNone/>
                      </a:pPr>
                      <a:r>
                        <a:rPr lang="en-US" sz="1250" dirty="0">
                          <a:solidFill>
                            <a:srgbClr val="A79DBF"/>
                          </a:solidFill>
                          <a:latin typeface="Calibri" pitchFamily="34" charset="0"/>
                          <a:ea typeface="Calibri" pitchFamily="34" charset="-122"/>
                          <a:cs typeface="Calibri" pitchFamily="34" charset="-120"/>
                        </a:rPr>
                        <a:t>  Agents need guardrails and monitoring</a:t>
                      </a:r>
                      <a:endParaRPr lang="en-US" sz="1250" dirty="0">
                        <a:latin typeface="Calibri" charset="0"/>
                        <a:ea typeface="Calibri" charset="0"/>
                        <a:cs typeface="Calibri" charset="0"/>
                      </a:endParaRPr>
                    </a:p>
                  </a:txBody>
                  <a:tcPr marL="101600" marR="101600" marT="101600" marB="1016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r>
              <a:tr h="566928">
                <a:tc>
                  <a:txBody>
                    <a:bodyPr/>
                    <a:lstStyle/>
                    <a:p>
                      <a:pPr algn="l" indent="0" marL="0">
                        <a:buNone/>
                      </a:pPr>
                      <a:r>
                        <a:rPr lang="en-US" sz="1250" dirty="0">
                          <a:solidFill>
                            <a:srgbClr val="F5F2FA"/>
                          </a:solidFill>
                          <a:latin typeface="Calibri" pitchFamily="34" charset="0"/>
                          <a:ea typeface="Calibri" pitchFamily="34" charset="-122"/>
                          <a:cs typeface="Calibri" pitchFamily="34" charset="-120"/>
                        </a:rPr>
                        <a:t>  Skipping automation as old and boring</a:t>
                      </a:r>
                      <a:endParaRPr lang="en-US" sz="1250" dirty="0">
                        <a:latin typeface="Calibri" charset="0"/>
                        <a:ea typeface="Calibri" charset="0"/>
                        <a:cs typeface="Calibri" charset="0"/>
                      </a:endParaRPr>
                    </a:p>
                  </a:txBody>
                  <a:tcPr marL="101600" marR="101600" marT="101600" marB="1016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c>
                  <a:txBody>
                    <a:bodyPr/>
                    <a:lstStyle/>
                    <a:p>
                      <a:pPr algn="l" indent="0" marL="0">
                        <a:buNone/>
                      </a:pPr>
                      <a:r>
                        <a:rPr lang="en-US" sz="1250" dirty="0">
                          <a:solidFill>
                            <a:srgbClr val="A79DBF"/>
                          </a:solidFill>
                          <a:latin typeface="Calibri" pitchFamily="34" charset="0"/>
                          <a:ea typeface="Calibri" pitchFamily="34" charset="-122"/>
                          <a:cs typeface="Calibri" pitchFamily="34" charset="-120"/>
                        </a:rPr>
                        <a:t>  Reliable is billable — clients pay for what just works</a:t>
                      </a:r>
                      <a:endParaRPr lang="en-US" sz="1250" dirty="0">
                        <a:latin typeface="Calibri" charset="0"/>
                        <a:ea typeface="Calibri" charset="0"/>
                        <a:cs typeface="Calibri" charset="0"/>
                      </a:endParaRPr>
                    </a:p>
                  </a:txBody>
                  <a:tcPr marL="101600" marR="101600" marT="101600" marB="1016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r>
              <a:tr h="566928">
                <a:tc>
                  <a:txBody>
                    <a:bodyPr/>
                    <a:lstStyle/>
                    <a:p>
                      <a:pPr algn="l" indent="0" marL="0">
                        <a:buNone/>
                      </a:pPr>
                      <a:r>
                        <a:rPr lang="en-US" sz="1250" dirty="0">
                          <a:solidFill>
                            <a:srgbClr val="F5F2FA"/>
                          </a:solidFill>
                          <a:latin typeface="Calibri" pitchFamily="34" charset="0"/>
                          <a:ea typeface="Calibri" pitchFamily="34" charset="-122"/>
                          <a:cs typeface="Calibri" pitchFamily="34" charset="-120"/>
                        </a:rPr>
                        <a:t>  Forgetting the AI Workflow tier exists</a:t>
                      </a:r>
                      <a:endParaRPr lang="en-US" sz="1250" dirty="0">
                        <a:latin typeface="Calibri" charset="0"/>
                        <a:ea typeface="Calibri" charset="0"/>
                        <a:cs typeface="Calibri" charset="0"/>
                      </a:endParaRPr>
                    </a:p>
                  </a:txBody>
                  <a:tcPr marL="101600" marR="101600" marT="101600" marB="1016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c>
                  <a:txBody>
                    <a:bodyPr/>
                    <a:lstStyle/>
                    <a:p>
                      <a:pPr algn="l" indent="0" marL="0">
                        <a:buNone/>
                      </a:pPr>
                      <a:r>
                        <a:rPr lang="en-US" sz="1250" dirty="0">
                          <a:solidFill>
                            <a:srgbClr val="A79DBF"/>
                          </a:solidFill>
                          <a:latin typeface="Calibri" pitchFamily="34" charset="0"/>
                          <a:ea typeface="Calibri" pitchFamily="34" charset="-122"/>
                          <a:cs typeface="Calibri" pitchFamily="34" charset="-120"/>
                        </a:rPr>
                        <a:t>  The sweet spot: messy input, predictable output</a:t>
                      </a:r>
                      <a:endParaRPr lang="en-US" sz="1250" dirty="0">
                        <a:latin typeface="Calibri" charset="0"/>
                        <a:ea typeface="Calibri" charset="0"/>
                        <a:cs typeface="Calibri" charset="0"/>
                      </a:endParaRPr>
                    </a:p>
                  </a:txBody>
                  <a:tcPr marL="101600" marR="101600" marT="101600" marB="101600" anchor="ctr">
                    <a:lnL w="19050" cap="flat" cmpd="sng" algn="ctr">
                      <a:solidFill>
                        <a:srgbClr val="1B1526"/>
                      </a:solidFill>
                      <a:prstDash val="solid"/>
                      <a:round/>
                      <a:headEnd type="none" w="med" len="med"/>
                      <a:tailEnd type="none" w="med" len="med"/>
                    </a:lnL>
                    <a:lnR w="19050" cap="flat" cmpd="sng" algn="ctr">
                      <a:solidFill>
                        <a:srgbClr val="1B1526"/>
                      </a:solidFill>
                      <a:prstDash val="solid"/>
                      <a:round/>
                      <a:headEnd type="none" w="med" len="med"/>
                      <a:tailEnd type="none" w="med" len="med"/>
                    </a:lnR>
                    <a:lnT w="19050" cap="flat" cmpd="sng" algn="ctr">
                      <a:solidFill>
                        <a:srgbClr val="1B1526"/>
                      </a:solidFill>
                      <a:prstDash val="solid"/>
                      <a:round/>
                      <a:headEnd type="none" w="med" len="med"/>
                      <a:tailEnd type="none" w="med" len="med"/>
                    </a:lnT>
                    <a:lnB w="19050" cap="flat" cmpd="sng" algn="ctr">
                      <a:solidFill>
                        <a:srgbClr val="1B1526"/>
                      </a:solidFill>
                      <a:prstDash val="solid"/>
                      <a:round/>
                      <a:headEnd type="none" w="med" len="med"/>
                      <a:tailEnd type="none" w="med" len="med"/>
                    </a:lnB>
                    <a:solidFill>
                      <a:srgbClr val="262038"/>
                    </a:solidFill>
                  </a:tcPr>
                </a:tc>
              </a:tr>
            </a:tbl>
          </a:graphicData>
        </a:graphic>
      </p:graphicFrame>
      <p:sp>
        <p:nvSpPr>
          <p:cNvPr id="5" name="Text 2"/>
          <p:cNvSpPr/>
          <p:nvPr/>
        </p:nvSpPr>
        <p:spPr>
          <a:xfrm>
            <a:off x="640080" y="5394960"/>
            <a:ext cx="10908792" cy="365760"/>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The last row is the one that costs people the most work.</a:t>
            </a:r>
            <a:endParaRPr lang="en-US" sz="1400" dirty="0"/>
          </a:p>
        </p:txBody>
      </p:sp>
      <p:sp>
        <p:nvSpPr>
          <p:cNvPr id="6" name="Text 3"/>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7" name="Text 4"/>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IN SUMMARY</a:t>
            </a:r>
            <a:endParaRPr lang="en-US" sz="1300" dirty="0"/>
          </a:p>
        </p:txBody>
      </p:sp>
      <p:sp>
        <p:nvSpPr>
          <p:cNvPr id="3" name="Text 1"/>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Five Things to Remember</a:t>
            </a:r>
            <a:endParaRPr lang="en-US" sz="3400" dirty="0"/>
          </a:p>
        </p:txBody>
      </p:sp>
      <p:sp>
        <p:nvSpPr>
          <p:cNvPr id="4" name="Shape 2"/>
          <p:cNvSpPr/>
          <p:nvPr/>
        </p:nvSpPr>
        <p:spPr>
          <a:xfrm>
            <a:off x="640080" y="1783080"/>
            <a:ext cx="10908792" cy="676656"/>
          </a:xfrm>
          <a:prstGeom prst="roundRect">
            <a:avLst>
              <a:gd name="adj" fmla="val 16216"/>
            </a:avLst>
          </a:prstGeom>
          <a:solidFill>
            <a:srgbClr val="262038"/>
          </a:solidFill>
          <a:ln/>
        </p:spPr>
      </p:sp>
      <p:sp>
        <p:nvSpPr>
          <p:cNvPr id="5" name="Shape 3"/>
          <p:cNvSpPr/>
          <p:nvPr/>
        </p:nvSpPr>
        <p:spPr>
          <a:xfrm>
            <a:off x="896112" y="1929384"/>
            <a:ext cx="384048" cy="384048"/>
          </a:xfrm>
          <a:prstGeom prst="ellipse">
            <a:avLst/>
          </a:prstGeom>
          <a:solidFill>
            <a:srgbClr val="34D399"/>
          </a:solidFill>
          <a:ln/>
        </p:spPr>
      </p:sp>
      <p:sp>
        <p:nvSpPr>
          <p:cNvPr id="6" name="Text 4"/>
          <p:cNvSpPr/>
          <p:nvPr/>
        </p:nvSpPr>
        <p:spPr>
          <a:xfrm>
            <a:off x="896112" y="1929384"/>
            <a:ext cx="384048" cy="384048"/>
          </a:xfrm>
          <a:prstGeom prst="rect">
            <a:avLst/>
          </a:prstGeom>
          <a:noFill/>
          <a:ln/>
        </p:spPr>
        <p:txBody>
          <a:bodyPr wrap="square" lIns="0" tIns="0" rIns="0" bIns="0" rtlCol="0" anchor="ctr"/>
          <a:lstStyle/>
          <a:p>
            <a:pPr algn="ctr" indent="0" marL="0">
              <a:buNone/>
            </a:pPr>
            <a:r>
              <a:rPr lang="en-US" sz="1400" b="1" dirty="0">
                <a:solidFill>
                  <a:srgbClr val="1B1526"/>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508760" y="1783080"/>
            <a:ext cx="9720072" cy="676656"/>
          </a:xfrm>
          <a:prstGeom prst="rect">
            <a:avLst/>
          </a:prstGeom>
          <a:noFill/>
          <a:ln/>
        </p:spPr>
        <p:txBody>
          <a:bodyPr wrap="square" lIns="0" tIns="0" rIns="0" bIns="0" rtlCol="0" anchor="ctr"/>
          <a:lstStyle/>
          <a:p>
            <a:pPr indent="0" marL="0">
              <a:buNone/>
            </a:pPr>
            <a:r>
              <a:rPr lang="en-US" sz="1350" dirty="0">
                <a:solidFill>
                  <a:srgbClr val="F5F2FA"/>
                </a:solidFill>
                <a:latin typeface="Calibri" pitchFamily="34" charset="0"/>
                <a:ea typeface="Calibri" pitchFamily="34" charset="-122"/>
                <a:cs typeface="Calibri" pitchFamily="34" charset="-120"/>
              </a:rPr>
              <a:t>Three different tools — not synonyms. The test is always: who decides the steps?</a:t>
            </a:r>
            <a:endParaRPr lang="en-US" sz="1350" dirty="0"/>
          </a:p>
        </p:txBody>
      </p:sp>
      <p:sp>
        <p:nvSpPr>
          <p:cNvPr id="8" name="Shape 6"/>
          <p:cNvSpPr/>
          <p:nvPr/>
        </p:nvSpPr>
        <p:spPr>
          <a:xfrm>
            <a:off x="640080" y="2578608"/>
            <a:ext cx="10908792" cy="676656"/>
          </a:xfrm>
          <a:prstGeom prst="roundRect">
            <a:avLst>
              <a:gd name="adj" fmla="val 16216"/>
            </a:avLst>
          </a:prstGeom>
          <a:solidFill>
            <a:srgbClr val="262038"/>
          </a:solidFill>
          <a:ln/>
        </p:spPr>
      </p:sp>
      <p:sp>
        <p:nvSpPr>
          <p:cNvPr id="9" name="Shape 7"/>
          <p:cNvSpPr/>
          <p:nvPr/>
        </p:nvSpPr>
        <p:spPr>
          <a:xfrm>
            <a:off x="896112" y="2724912"/>
            <a:ext cx="384048" cy="384048"/>
          </a:xfrm>
          <a:prstGeom prst="ellipse">
            <a:avLst/>
          </a:prstGeom>
          <a:solidFill>
            <a:srgbClr val="8B7FD7"/>
          </a:solidFill>
          <a:ln/>
        </p:spPr>
      </p:sp>
      <p:sp>
        <p:nvSpPr>
          <p:cNvPr id="10" name="Text 8"/>
          <p:cNvSpPr/>
          <p:nvPr/>
        </p:nvSpPr>
        <p:spPr>
          <a:xfrm>
            <a:off x="896112" y="2724912"/>
            <a:ext cx="384048" cy="384048"/>
          </a:xfrm>
          <a:prstGeom prst="rect">
            <a:avLst/>
          </a:prstGeom>
          <a:noFill/>
          <a:ln/>
        </p:spPr>
        <p:txBody>
          <a:bodyPr wrap="square" lIns="0" tIns="0" rIns="0" bIns="0" rtlCol="0" anchor="ctr"/>
          <a:lstStyle/>
          <a:p>
            <a:pPr algn="ctr" indent="0" marL="0">
              <a:buNone/>
            </a:pPr>
            <a:r>
              <a:rPr lang="en-US" sz="1400" b="1" dirty="0">
                <a:solidFill>
                  <a:srgbClr val="1B1526"/>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508760" y="2578608"/>
            <a:ext cx="9720072" cy="676656"/>
          </a:xfrm>
          <a:prstGeom prst="rect">
            <a:avLst/>
          </a:prstGeom>
          <a:noFill/>
          <a:ln/>
        </p:spPr>
        <p:txBody>
          <a:bodyPr wrap="square" lIns="0" tIns="0" rIns="0" bIns="0" rtlCol="0" anchor="ctr"/>
          <a:lstStyle/>
          <a:p>
            <a:pPr indent="0" marL="0">
              <a:buNone/>
            </a:pPr>
            <a:r>
              <a:rPr lang="en-US" sz="1350" dirty="0">
                <a:solidFill>
                  <a:srgbClr val="F5F2FA"/>
                </a:solidFill>
                <a:latin typeface="Calibri" pitchFamily="34" charset="0"/>
                <a:ea typeface="Calibri" pitchFamily="34" charset="-122"/>
                <a:cs typeface="Calibri" pitchFamily="34" charset="-120"/>
              </a:rPr>
              <a:t>Automation = fixed rules  ·  AI Workflow = fixed path, AI in some steps  ·  AI Agent = the LLM decides the path</a:t>
            </a:r>
            <a:endParaRPr lang="en-US" sz="1350" dirty="0"/>
          </a:p>
        </p:txBody>
      </p:sp>
      <p:sp>
        <p:nvSpPr>
          <p:cNvPr id="12" name="Shape 10"/>
          <p:cNvSpPr/>
          <p:nvPr/>
        </p:nvSpPr>
        <p:spPr>
          <a:xfrm>
            <a:off x="640080" y="3374136"/>
            <a:ext cx="10908792" cy="676656"/>
          </a:xfrm>
          <a:prstGeom prst="roundRect">
            <a:avLst>
              <a:gd name="adj" fmla="val 16216"/>
            </a:avLst>
          </a:prstGeom>
          <a:solidFill>
            <a:srgbClr val="262038"/>
          </a:solidFill>
          <a:ln/>
        </p:spPr>
      </p:sp>
      <p:sp>
        <p:nvSpPr>
          <p:cNvPr id="13" name="Shape 11"/>
          <p:cNvSpPr/>
          <p:nvPr/>
        </p:nvSpPr>
        <p:spPr>
          <a:xfrm>
            <a:off x="896112" y="3520440"/>
            <a:ext cx="384048" cy="384048"/>
          </a:xfrm>
          <a:prstGeom prst="ellipse">
            <a:avLst/>
          </a:prstGeom>
          <a:solidFill>
            <a:srgbClr val="EA4B71"/>
          </a:solidFill>
          <a:ln/>
        </p:spPr>
      </p:sp>
      <p:sp>
        <p:nvSpPr>
          <p:cNvPr id="14" name="Text 12"/>
          <p:cNvSpPr/>
          <p:nvPr/>
        </p:nvSpPr>
        <p:spPr>
          <a:xfrm>
            <a:off x="896112" y="3520440"/>
            <a:ext cx="384048" cy="384048"/>
          </a:xfrm>
          <a:prstGeom prst="rect">
            <a:avLst/>
          </a:prstGeom>
          <a:noFill/>
          <a:ln/>
        </p:spPr>
        <p:txBody>
          <a:bodyPr wrap="square" lIns="0" tIns="0" rIns="0" bIns="0" rtlCol="0" anchor="ctr"/>
          <a:lstStyle/>
          <a:p>
            <a:pPr algn="ctr" indent="0" marL="0">
              <a:buNone/>
            </a:pPr>
            <a:r>
              <a:rPr lang="en-US" sz="1400" b="1" dirty="0">
                <a:solidFill>
                  <a:srgbClr val="1B1526"/>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508760" y="3374136"/>
            <a:ext cx="9720072" cy="676656"/>
          </a:xfrm>
          <a:prstGeom prst="rect">
            <a:avLst/>
          </a:prstGeom>
          <a:noFill/>
          <a:ln/>
        </p:spPr>
        <p:txBody>
          <a:bodyPr wrap="square" lIns="0" tIns="0" rIns="0" bIns="0" rtlCol="0" anchor="ctr"/>
          <a:lstStyle/>
          <a:p>
            <a:pPr indent="0" marL="0">
              <a:buNone/>
            </a:pPr>
            <a:r>
              <a:rPr lang="en-US" sz="1350" dirty="0">
                <a:solidFill>
                  <a:srgbClr val="F5F2FA"/>
                </a:solidFill>
                <a:latin typeface="Calibri" pitchFamily="34" charset="0"/>
                <a:ea typeface="Calibri" pitchFamily="34" charset="-122"/>
                <a:cs typeface="Calibri" pitchFamily="34" charset="-120"/>
              </a:rPr>
              <a:t>Start at the lowest tier that solves the problem. Every tier up trades reliability and cost for flexibility.</a:t>
            </a:r>
            <a:endParaRPr lang="en-US" sz="1350" dirty="0"/>
          </a:p>
        </p:txBody>
      </p:sp>
      <p:sp>
        <p:nvSpPr>
          <p:cNvPr id="16" name="Shape 14"/>
          <p:cNvSpPr/>
          <p:nvPr/>
        </p:nvSpPr>
        <p:spPr>
          <a:xfrm>
            <a:off x="640080" y="4169664"/>
            <a:ext cx="10908792" cy="676656"/>
          </a:xfrm>
          <a:prstGeom prst="roundRect">
            <a:avLst>
              <a:gd name="adj" fmla="val 16216"/>
            </a:avLst>
          </a:prstGeom>
          <a:solidFill>
            <a:srgbClr val="262038"/>
          </a:solidFill>
          <a:ln/>
        </p:spPr>
      </p:sp>
      <p:sp>
        <p:nvSpPr>
          <p:cNvPr id="17" name="Shape 15"/>
          <p:cNvSpPr/>
          <p:nvPr/>
        </p:nvSpPr>
        <p:spPr>
          <a:xfrm>
            <a:off x="896112" y="4315968"/>
            <a:ext cx="384048" cy="384048"/>
          </a:xfrm>
          <a:prstGeom prst="ellipse">
            <a:avLst/>
          </a:prstGeom>
          <a:solidFill>
            <a:srgbClr val="34D399"/>
          </a:solidFill>
          <a:ln/>
        </p:spPr>
      </p:sp>
      <p:sp>
        <p:nvSpPr>
          <p:cNvPr id="18" name="Text 16"/>
          <p:cNvSpPr/>
          <p:nvPr/>
        </p:nvSpPr>
        <p:spPr>
          <a:xfrm>
            <a:off x="896112" y="4315968"/>
            <a:ext cx="384048" cy="384048"/>
          </a:xfrm>
          <a:prstGeom prst="rect">
            <a:avLst/>
          </a:prstGeom>
          <a:noFill/>
          <a:ln/>
        </p:spPr>
        <p:txBody>
          <a:bodyPr wrap="square" lIns="0" tIns="0" rIns="0" bIns="0" rtlCol="0" anchor="ctr"/>
          <a:lstStyle/>
          <a:p>
            <a:pPr algn="ctr" indent="0" marL="0">
              <a:buNone/>
            </a:pPr>
            <a:r>
              <a:rPr lang="en-US" sz="1400" b="1" dirty="0">
                <a:solidFill>
                  <a:srgbClr val="1B1526"/>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1508760" y="4169664"/>
            <a:ext cx="9720072" cy="676656"/>
          </a:xfrm>
          <a:prstGeom prst="rect">
            <a:avLst/>
          </a:prstGeom>
          <a:noFill/>
          <a:ln/>
        </p:spPr>
        <p:txBody>
          <a:bodyPr wrap="square" lIns="0" tIns="0" rIns="0" bIns="0" rtlCol="0" anchor="ctr"/>
          <a:lstStyle/>
          <a:p>
            <a:pPr indent="0" marL="0">
              <a:buNone/>
            </a:pPr>
            <a:r>
              <a:rPr lang="en-US" sz="1350" dirty="0">
                <a:solidFill>
                  <a:srgbClr val="F5F2FA"/>
                </a:solidFill>
                <a:latin typeface="Calibri" pitchFamily="34" charset="0"/>
                <a:ea typeface="Calibri" pitchFamily="34" charset="-122"/>
                <a:cs typeface="Calibri" pitchFamily="34" charset="-120"/>
              </a:rPr>
              <a:t>In n8n all three are built in the same editor — one skill, three products you can sell.</a:t>
            </a:r>
            <a:endParaRPr lang="en-US" sz="1350" dirty="0"/>
          </a:p>
        </p:txBody>
      </p:sp>
      <p:sp>
        <p:nvSpPr>
          <p:cNvPr id="20" name="Shape 18"/>
          <p:cNvSpPr/>
          <p:nvPr/>
        </p:nvSpPr>
        <p:spPr>
          <a:xfrm>
            <a:off x="640080" y="4965192"/>
            <a:ext cx="10908792" cy="676656"/>
          </a:xfrm>
          <a:prstGeom prst="roundRect">
            <a:avLst>
              <a:gd name="adj" fmla="val 16216"/>
            </a:avLst>
          </a:prstGeom>
          <a:solidFill>
            <a:srgbClr val="262038"/>
          </a:solidFill>
          <a:ln/>
        </p:spPr>
      </p:sp>
      <p:sp>
        <p:nvSpPr>
          <p:cNvPr id="21" name="Shape 19"/>
          <p:cNvSpPr/>
          <p:nvPr/>
        </p:nvSpPr>
        <p:spPr>
          <a:xfrm>
            <a:off x="896112" y="5111496"/>
            <a:ext cx="384048" cy="384048"/>
          </a:xfrm>
          <a:prstGeom prst="ellipse">
            <a:avLst/>
          </a:prstGeom>
          <a:solidFill>
            <a:srgbClr val="8B7FD7"/>
          </a:solidFill>
          <a:ln/>
        </p:spPr>
      </p:sp>
      <p:sp>
        <p:nvSpPr>
          <p:cNvPr id="22" name="Text 20"/>
          <p:cNvSpPr/>
          <p:nvPr/>
        </p:nvSpPr>
        <p:spPr>
          <a:xfrm>
            <a:off x="896112" y="5111496"/>
            <a:ext cx="384048" cy="384048"/>
          </a:xfrm>
          <a:prstGeom prst="rect">
            <a:avLst/>
          </a:prstGeom>
          <a:noFill/>
          <a:ln/>
        </p:spPr>
        <p:txBody>
          <a:bodyPr wrap="square" lIns="0" tIns="0" rIns="0" bIns="0" rtlCol="0" anchor="ctr"/>
          <a:lstStyle/>
          <a:p>
            <a:pPr algn="ctr" indent="0" marL="0">
              <a:buNone/>
            </a:pPr>
            <a:r>
              <a:rPr lang="en-US" sz="1400" b="1" dirty="0">
                <a:solidFill>
                  <a:srgbClr val="1B1526"/>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1508760" y="4965192"/>
            <a:ext cx="9720072" cy="676656"/>
          </a:xfrm>
          <a:prstGeom prst="rect">
            <a:avLst/>
          </a:prstGeom>
          <a:noFill/>
          <a:ln/>
        </p:spPr>
        <p:txBody>
          <a:bodyPr wrap="square" lIns="0" tIns="0" rIns="0" bIns="0" rtlCol="0" anchor="ctr"/>
          <a:lstStyle/>
          <a:p>
            <a:pPr indent="0" marL="0">
              <a:buNone/>
            </a:pPr>
            <a:r>
              <a:rPr lang="en-US" sz="1350" dirty="0">
                <a:solidFill>
                  <a:srgbClr val="F5F2FA"/>
                </a:solidFill>
                <a:latin typeface="Calibri" pitchFamily="34" charset="0"/>
                <a:ea typeface="Calibri" pitchFamily="34" charset="-122"/>
                <a:cs typeface="Calibri" pitchFamily="34" charset="-120"/>
              </a:rPr>
              <a:t>“AI Automation” is the umbrella term for the field — not a fourth tier to compare against.</a:t>
            </a:r>
            <a:endParaRPr lang="en-US" sz="1350" dirty="0"/>
          </a:p>
        </p:txBody>
      </p:sp>
      <p:sp>
        <p:nvSpPr>
          <p:cNvPr id="24" name="Text 22"/>
          <p:cNvSpPr/>
          <p:nvPr/>
        </p:nvSpPr>
        <p:spPr>
          <a:xfrm>
            <a:off x="640080" y="6382512"/>
            <a:ext cx="4572000" cy="256032"/>
          </a:xfrm>
          <a:prstGeom prst="rect">
            <a:avLst/>
          </a:prstGeom>
          <a:noFill/>
          <a:ln/>
        </p:spPr>
        <p:txBody>
          <a:bodyPr wrap="square" lIns="0" tIns="0" rIns="0" bIns="0" rtlCol="0" anchor="ctr"/>
          <a:lstStyle/>
          <a:p>
            <a:pPr algn="l" indent="0" marL="0">
              <a:buNone/>
            </a:pPr>
            <a:r>
              <a:rPr lang="en-US" sz="1000" dirty="0">
                <a:solidFill>
                  <a:srgbClr val="A79DBF"/>
                </a:solidFill>
                <a:latin typeface="Calibri" pitchFamily="34" charset="0"/>
                <a:ea typeface="Calibri" pitchFamily="34" charset="-122"/>
                <a:cs typeface="Calibri" pitchFamily="34" charset="-120"/>
              </a:rPr>
              <a:t>Agentive Solutions</a:t>
            </a:r>
            <a:endParaRPr lang="en-US" sz="1000" dirty="0"/>
          </a:p>
        </p:txBody>
      </p:sp>
      <p:sp>
        <p:nvSpPr>
          <p:cNvPr id="25" name="Text 23"/>
          <p:cNvSpPr/>
          <p:nvPr/>
        </p:nvSpPr>
        <p:spPr>
          <a:xfrm>
            <a:off x="6976872" y="6382512"/>
            <a:ext cx="4572000" cy="256032"/>
          </a:xfrm>
          <a:prstGeom prst="rect">
            <a:avLst/>
          </a:prstGeom>
          <a:noFill/>
          <a:ln/>
        </p:spPr>
        <p:txBody>
          <a:bodyPr wrap="square" lIns="0" tIns="0" rIns="0" bIns="0" rtlCol="0" anchor="ctr"/>
          <a:lstStyle/>
          <a:p>
            <a:pPr algn="r" indent="0" marL="0">
              <a:buNone/>
            </a:pPr>
            <a:r>
              <a:rPr lang="en-US" sz="1000" dirty="0">
                <a:solidFill>
                  <a:srgbClr val="A79DBF"/>
                </a:solidFill>
                <a:latin typeface="Calibri" pitchFamily="34" charset="0"/>
                <a:ea typeface="Calibri" pitchFamily="34" charset="-122"/>
                <a:cs typeface="Calibri" pitchFamily="34" charset="-120"/>
              </a:rPr>
              <a:t>n8n Mastery · Standalone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9326880" y="-1097280"/>
            <a:ext cx="4389120" cy="4389120"/>
          </a:xfrm>
          <a:prstGeom prst="ellipse">
            <a:avLst/>
          </a:prstGeom>
          <a:solidFill>
            <a:srgbClr val="EA4B71">
              <a:alpha val="10000"/>
            </a:srgbClr>
          </a:solidFill>
          <a:ln/>
        </p:spPr>
      </p:sp>
      <p:sp>
        <p:nvSpPr>
          <p:cNvPr id="3" name="Shape 1"/>
          <p:cNvSpPr/>
          <p:nvPr/>
        </p:nvSpPr>
        <p:spPr>
          <a:xfrm>
            <a:off x="-1097280" y="4023360"/>
            <a:ext cx="3474720" cy="3474720"/>
          </a:xfrm>
          <a:prstGeom prst="ellipse">
            <a:avLst/>
          </a:prstGeom>
          <a:solidFill>
            <a:srgbClr val="34D399">
              <a:alpha val="7000"/>
            </a:srgbClr>
          </a:solidFill>
          <a:ln/>
        </p:spPr>
      </p:sp>
      <p:sp>
        <p:nvSpPr>
          <p:cNvPr id="4" name="Text 2"/>
          <p:cNvSpPr/>
          <p:nvPr/>
        </p:nvSpPr>
        <p:spPr>
          <a:xfrm>
            <a:off x="640080" y="502920"/>
            <a:ext cx="10908792" cy="256032"/>
          </a:xfrm>
          <a:prstGeom prst="rect">
            <a:avLst/>
          </a:prstGeom>
          <a:noFill/>
          <a:ln/>
        </p:spPr>
        <p:txBody>
          <a:bodyPr wrap="square" lIns="0" tIns="0" rIns="0" bIns="0" rtlCol="0" anchor="ctr"/>
          <a:lstStyle/>
          <a:p>
            <a:pPr algn="l" indent="0" marL="0">
              <a:buNone/>
            </a:pPr>
            <a:r>
              <a:rPr lang="en-US" sz="1300" b="1" spc="220" kern="0" dirty="0">
                <a:solidFill>
                  <a:srgbClr val="EA4B71"/>
                </a:solidFill>
                <a:latin typeface="Arial" pitchFamily="34" charset="0"/>
                <a:ea typeface="Arial" pitchFamily="34" charset="-122"/>
                <a:cs typeface="Arial" pitchFamily="34" charset="-120"/>
              </a:rPr>
              <a:t>YOUR TURN</a:t>
            </a:r>
            <a:endParaRPr lang="en-US" sz="1300" dirty="0"/>
          </a:p>
        </p:txBody>
      </p:sp>
      <p:sp>
        <p:nvSpPr>
          <p:cNvPr id="5" name="Text 3"/>
          <p:cNvSpPr/>
          <p:nvPr/>
        </p:nvSpPr>
        <p:spPr>
          <a:xfrm>
            <a:off x="640080" y="822960"/>
            <a:ext cx="10908792" cy="566928"/>
          </a:xfrm>
          <a:prstGeom prst="rect">
            <a:avLst/>
          </a:prstGeom>
          <a:noFill/>
          <a:ln/>
        </p:spPr>
        <p:txBody>
          <a:bodyPr wrap="square" lIns="0" tIns="0" rIns="0" bIns="0" rtlCol="0" anchor="ctr"/>
          <a:lstStyle/>
          <a:p>
            <a:pPr algn="l" indent="0" marL="0">
              <a:buNone/>
            </a:pPr>
            <a:r>
              <a:rPr lang="en-US" sz="3400" b="1" dirty="0">
                <a:solidFill>
                  <a:srgbClr val="F5F2FA"/>
                </a:solidFill>
                <a:latin typeface="Arial" pitchFamily="34" charset="0"/>
                <a:ea typeface="Arial" pitchFamily="34" charset="-122"/>
                <a:cs typeface="Arial" pitchFamily="34" charset="-120"/>
              </a:rPr>
              <a:t>Label These Six</a:t>
            </a:r>
            <a:endParaRPr lang="en-US" sz="3400" dirty="0"/>
          </a:p>
        </p:txBody>
      </p:sp>
      <p:sp>
        <p:nvSpPr>
          <p:cNvPr id="6" name="Shape 4"/>
          <p:cNvSpPr/>
          <p:nvPr/>
        </p:nvSpPr>
        <p:spPr>
          <a:xfrm>
            <a:off x="640080" y="1737360"/>
            <a:ext cx="5225796" cy="3017520"/>
          </a:xfrm>
          <a:prstGeom prst="roundRect">
            <a:avLst>
              <a:gd name="adj" fmla="val 3636"/>
            </a:avLst>
          </a:prstGeom>
          <a:solidFill>
            <a:srgbClr val="262038"/>
          </a:solidFill>
          <a:ln/>
        </p:spPr>
      </p:sp>
      <p:sp>
        <p:nvSpPr>
          <p:cNvPr id="7" name="Shape 5"/>
          <p:cNvSpPr/>
          <p:nvPr/>
        </p:nvSpPr>
        <p:spPr>
          <a:xfrm>
            <a:off x="960120" y="1993392"/>
            <a:ext cx="640080" cy="640080"/>
          </a:xfrm>
          <a:prstGeom prst="ellipse">
            <a:avLst/>
          </a:prstGeom>
          <a:solidFill>
            <a:srgbClr val="2E2745"/>
          </a:solidFill>
          <a:ln/>
        </p:spPr>
      </p:sp>
      <p:pic>
        <p:nvPicPr>
          <p:cNvPr id="8" name="Image 0" descr="preencoded.png">    </p:cNvPr>
          <p:cNvPicPr>
            <a:picLocks noChangeAspect="1"/>
          </p:cNvPicPr>
          <p:nvPr/>
        </p:nvPicPr>
        <p:blipFill>
          <a:blip r:embed="rId1"/>
          <a:stretch>
            <a:fillRect/>
          </a:stretch>
        </p:blipFill>
        <p:spPr>
          <a:xfrm>
            <a:off x="1120140" y="2153412"/>
            <a:ext cx="320040" cy="320040"/>
          </a:xfrm>
          <a:prstGeom prst="rect">
            <a:avLst/>
          </a:prstGeom>
        </p:spPr>
      </p:pic>
      <p:sp>
        <p:nvSpPr>
          <p:cNvPr id="9" name="Text 6"/>
          <p:cNvSpPr/>
          <p:nvPr/>
        </p:nvSpPr>
        <p:spPr>
          <a:xfrm>
            <a:off x="1783080" y="2066544"/>
            <a:ext cx="3762756" cy="329184"/>
          </a:xfrm>
          <a:prstGeom prst="rect">
            <a:avLst/>
          </a:prstGeom>
          <a:noFill/>
          <a:ln/>
        </p:spPr>
        <p:txBody>
          <a:bodyPr wrap="square" lIns="0" tIns="0" rIns="0" bIns="0" rtlCol="0" anchor="ctr"/>
          <a:lstStyle/>
          <a:p>
            <a:pPr indent="0" marL="0">
              <a:buNone/>
            </a:pPr>
            <a:r>
              <a:rPr lang="en-US" sz="1700" b="1" dirty="0">
                <a:solidFill>
                  <a:srgbClr val="F5F2FA"/>
                </a:solidFill>
                <a:latin typeface="Arial" pitchFamily="34" charset="0"/>
                <a:ea typeface="Arial" pitchFamily="34" charset="-122"/>
                <a:cs typeface="Arial" pitchFamily="34" charset="-120"/>
              </a:rPr>
              <a:t>Classification Drill</a:t>
            </a:r>
            <a:endParaRPr lang="en-US" sz="1700" dirty="0"/>
          </a:p>
        </p:txBody>
      </p:sp>
      <p:sp>
        <p:nvSpPr>
          <p:cNvPr id="10" name="Text 7"/>
          <p:cNvSpPr/>
          <p:nvPr/>
        </p:nvSpPr>
        <p:spPr>
          <a:xfrm>
            <a:off x="960120" y="2788920"/>
            <a:ext cx="4585716" cy="1828800"/>
          </a:xfrm>
          <a:prstGeom prst="rect">
            <a:avLst/>
          </a:prstGeom>
          <a:noFill/>
          <a:ln/>
        </p:spPr>
        <p:txBody>
          <a:bodyPr wrap="square" lIns="0" tIns="0" rIns="0" bIns="0" rtlCol="0" anchor="t"/>
          <a:lstStyle/>
          <a:p>
            <a:pPr indent="0" marL="0">
              <a:lnSpc>
                <a:spcPts val="2000"/>
              </a:lnSpc>
              <a:buNone/>
            </a:pPr>
            <a:r>
              <a:rPr lang="en-US" sz="1350" dirty="0">
                <a:solidFill>
                  <a:srgbClr val="A79DBF"/>
                </a:solidFill>
                <a:latin typeface="Calibri" pitchFamily="34" charset="0"/>
                <a:ea typeface="Calibri" pitchFamily="34" charset="-122"/>
                <a:cs typeface="Calibri" pitchFamily="34" charset="-120"/>
              </a:rPr>
              <a:t>Six real scenarios are waiting in the GitHub notes.</a:t>
            </a:r>
            <a:endParaRPr lang="en-US" sz="1350" dirty="0"/>
          </a:p>
          <a:p>
            <a:pPr indent="0" marL="0">
              <a:lnSpc>
                <a:spcPts val="2000"/>
              </a:lnSpc>
              <a:buNone/>
            </a:pPr>
            <a:endParaRPr lang="en-US" sz="1350" dirty="0"/>
          </a:p>
          <a:p>
            <a:pPr indent="0" marL="0">
              <a:lnSpc>
                <a:spcPts val="2000"/>
              </a:lnSpc>
              <a:buNone/>
            </a:pPr>
            <a:r>
              <a:rPr lang="en-US" sz="1350" dirty="0">
                <a:solidFill>
                  <a:srgbClr val="A79DBF"/>
                </a:solidFill>
                <a:latin typeface="Calibri" pitchFamily="34" charset="0"/>
                <a:ea typeface="Calibri" pitchFamily="34" charset="-122"/>
                <a:cs typeface="Calibri" pitchFamily="34" charset="-120"/>
              </a:rPr>
              <a:t>Label each one — Automation, AI Workflow or AI Agent — and say why. Use the one test question.</a:t>
            </a:r>
            <a:endParaRPr lang="en-US" sz="1350" dirty="0"/>
          </a:p>
          <a:p>
            <a:pPr indent="0" marL="0">
              <a:lnSpc>
                <a:spcPts val="2000"/>
              </a:lnSpc>
              <a:buNone/>
            </a:pPr>
            <a:endParaRPr lang="en-US" sz="1350" dirty="0"/>
          </a:p>
          <a:p>
            <a:pPr indent="0" marL="0">
              <a:lnSpc>
                <a:spcPts val="2000"/>
              </a:lnSpc>
              <a:buNone/>
            </a:pPr>
            <a:r>
              <a:rPr lang="en-US" sz="1350" dirty="0">
                <a:solidFill>
                  <a:srgbClr val="A79DBF"/>
                </a:solidFill>
                <a:latin typeface="Calibri" pitchFamily="34" charset="0"/>
                <a:ea typeface="Calibri" pitchFamily="34" charset="-122"/>
                <a:cs typeface="Calibri" pitchFamily="34" charset="-120"/>
              </a:rPr>
              <a:t>Post your answers in the comments.</a:t>
            </a:r>
            <a:endParaRPr lang="en-US" sz="1350" dirty="0"/>
          </a:p>
        </p:txBody>
      </p:sp>
      <p:sp>
        <p:nvSpPr>
          <p:cNvPr id="11" name="Shape 8"/>
          <p:cNvSpPr/>
          <p:nvPr/>
        </p:nvSpPr>
        <p:spPr>
          <a:xfrm>
            <a:off x="6323076" y="1737360"/>
            <a:ext cx="5225796" cy="3017520"/>
          </a:xfrm>
          <a:prstGeom prst="roundRect">
            <a:avLst>
              <a:gd name="adj" fmla="val 3636"/>
            </a:avLst>
          </a:prstGeom>
          <a:solidFill>
            <a:srgbClr val="262038"/>
          </a:solidFill>
          <a:ln w="15240">
            <a:solidFill>
              <a:srgbClr val="EA4B71"/>
            </a:solidFill>
            <a:prstDash val="solid"/>
          </a:ln>
        </p:spPr>
      </p:sp>
      <p:sp>
        <p:nvSpPr>
          <p:cNvPr id="12" name="Shape 9"/>
          <p:cNvSpPr/>
          <p:nvPr/>
        </p:nvSpPr>
        <p:spPr>
          <a:xfrm>
            <a:off x="6643116" y="1993392"/>
            <a:ext cx="640080" cy="640080"/>
          </a:xfrm>
          <a:prstGeom prst="ellipse">
            <a:avLst/>
          </a:prstGeom>
          <a:solidFill>
            <a:srgbClr val="2E2745"/>
          </a:solidFill>
          <a:ln/>
        </p:spPr>
      </p:sp>
      <p:pic>
        <p:nvPicPr>
          <p:cNvPr id="13" name="Image 1" descr="preencoded.png">    </p:cNvPr>
          <p:cNvPicPr>
            <a:picLocks noChangeAspect="1"/>
          </p:cNvPicPr>
          <p:nvPr/>
        </p:nvPicPr>
        <p:blipFill>
          <a:blip r:embed="rId2"/>
          <a:stretch>
            <a:fillRect/>
          </a:stretch>
        </p:blipFill>
        <p:spPr>
          <a:xfrm>
            <a:off x="6803136" y="2153412"/>
            <a:ext cx="320040" cy="320040"/>
          </a:xfrm>
          <a:prstGeom prst="rect">
            <a:avLst/>
          </a:prstGeom>
        </p:spPr>
      </p:pic>
      <p:sp>
        <p:nvSpPr>
          <p:cNvPr id="14" name="Text 10"/>
          <p:cNvSpPr/>
          <p:nvPr/>
        </p:nvSpPr>
        <p:spPr>
          <a:xfrm>
            <a:off x="7466076" y="2066544"/>
            <a:ext cx="3762756" cy="329184"/>
          </a:xfrm>
          <a:prstGeom prst="rect">
            <a:avLst/>
          </a:prstGeom>
          <a:noFill/>
          <a:ln/>
        </p:spPr>
        <p:txBody>
          <a:bodyPr wrap="square" lIns="0" tIns="0" rIns="0" bIns="0" rtlCol="0" anchor="ctr"/>
          <a:lstStyle/>
          <a:p>
            <a:pPr indent="0" marL="0">
              <a:buNone/>
            </a:pPr>
            <a:r>
              <a:rPr lang="en-US" sz="1700" b="1" dirty="0">
                <a:solidFill>
                  <a:srgbClr val="F5F2FA"/>
                </a:solidFill>
                <a:latin typeface="Arial" pitchFamily="34" charset="0"/>
                <a:ea typeface="Arial" pitchFamily="34" charset="-122"/>
                <a:cs typeface="Arial" pitchFamily="34" charset="-120"/>
              </a:rPr>
              <a:t>SolutionsWithShahzain</a:t>
            </a:r>
            <a:endParaRPr lang="en-US" sz="1700" dirty="0"/>
          </a:p>
        </p:txBody>
      </p:sp>
      <p:sp>
        <p:nvSpPr>
          <p:cNvPr id="15" name="Text 11"/>
          <p:cNvSpPr/>
          <p:nvPr/>
        </p:nvSpPr>
        <p:spPr>
          <a:xfrm>
            <a:off x="6643116" y="2788920"/>
            <a:ext cx="4585716" cy="1234440"/>
          </a:xfrm>
          <a:prstGeom prst="rect">
            <a:avLst/>
          </a:prstGeom>
          <a:noFill/>
          <a:ln/>
        </p:spPr>
        <p:txBody>
          <a:bodyPr wrap="square" lIns="0" tIns="0" rIns="0" bIns="0" rtlCol="0" anchor="t"/>
          <a:lstStyle/>
          <a:p>
            <a:pPr indent="0" marL="0">
              <a:lnSpc>
                <a:spcPts val="2000"/>
              </a:lnSpc>
              <a:buNone/>
            </a:pPr>
            <a:r>
              <a:rPr lang="en-US" sz="1350" dirty="0">
                <a:solidFill>
                  <a:srgbClr val="A79DBF"/>
                </a:solidFill>
                <a:latin typeface="Calibri" pitchFamily="34" charset="0"/>
                <a:ea typeface="Calibri" pitchFamily="34" charset="-122"/>
                <a:cs typeface="Calibri" pitchFamily="34" charset="-120"/>
              </a:rPr>
              <a:t>Want to learn this properly, end to end?</a:t>
            </a:r>
            <a:endParaRPr lang="en-US" sz="1350" dirty="0"/>
          </a:p>
          <a:p>
            <a:pPr indent="0" marL="0">
              <a:lnSpc>
                <a:spcPts val="2000"/>
              </a:lnSpc>
              <a:buNone/>
            </a:pPr>
            <a:endParaRPr lang="en-US" sz="1350" dirty="0"/>
          </a:p>
          <a:p>
            <a:pPr indent="0" marL="0">
              <a:lnSpc>
                <a:spcPts val="2000"/>
              </a:lnSpc>
              <a:buNone/>
            </a:pPr>
            <a:r>
              <a:rPr lang="en-US" sz="1350" dirty="0">
                <a:solidFill>
                  <a:srgbClr val="A79DBF"/>
                </a:solidFill>
                <a:latin typeface="Calibri" pitchFamily="34" charset="0"/>
                <a:ea typeface="Calibri" pitchFamily="34" charset="-122"/>
                <a:cs typeface="Calibri" pitchFamily="34" charset="-120"/>
              </a:rPr>
              <a:t>The full structured n8n course — 42 lessons, zero to AI automation — is coming soon to this channel.</a:t>
            </a:r>
            <a:endParaRPr lang="en-US" sz="1350" dirty="0"/>
          </a:p>
        </p:txBody>
      </p:sp>
      <p:sp>
        <p:nvSpPr>
          <p:cNvPr id="16" name="Shape 12"/>
          <p:cNvSpPr/>
          <p:nvPr/>
        </p:nvSpPr>
        <p:spPr>
          <a:xfrm>
            <a:off x="6643116" y="4114800"/>
            <a:ext cx="2286000" cy="457200"/>
          </a:xfrm>
          <a:prstGeom prst="roundRect">
            <a:avLst>
              <a:gd name="adj" fmla="val 20000"/>
            </a:avLst>
          </a:prstGeom>
          <a:solidFill>
            <a:srgbClr val="2E2745"/>
          </a:solidFill>
          <a:ln/>
        </p:spPr>
      </p:sp>
      <p:sp>
        <p:nvSpPr>
          <p:cNvPr id="17" name="Text 13"/>
          <p:cNvSpPr/>
          <p:nvPr/>
        </p:nvSpPr>
        <p:spPr>
          <a:xfrm>
            <a:off x="6643116" y="4114800"/>
            <a:ext cx="2286000" cy="457200"/>
          </a:xfrm>
          <a:prstGeom prst="rect">
            <a:avLst/>
          </a:prstGeom>
          <a:noFill/>
          <a:ln/>
        </p:spPr>
        <p:txBody>
          <a:bodyPr wrap="square" lIns="0" tIns="0" rIns="0" bIns="0" rtlCol="0" anchor="ctr"/>
          <a:lstStyle/>
          <a:p>
            <a:pPr algn="ctr" indent="0" marL="0">
              <a:buNone/>
            </a:pPr>
            <a:r>
              <a:rPr lang="en-US" sz="1200" dirty="0">
                <a:solidFill>
                  <a:srgbClr val="F5F2FA"/>
                </a:solidFill>
                <a:latin typeface="Calibri" pitchFamily="34" charset="0"/>
                <a:ea typeface="Calibri" pitchFamily="34" charset="-122"/>
                <a:cs typeface="Calibri" pitchFamily="34" charset="-120"/>
              </a:rPr>
              <a:t>Subscribe</a:t>
            </a:r>
            <a:endParaRPr lang="en-US" sz="1200" dirty="0"/>
          </a:p>
        </p:txBody>
      </p:sp>
      <p:sp>
        <p:nvSpPr>
          <p:cNvPr id="18" name="Shape 14"/>
          <p:cNvSpPr/>
          <p:nvPr/>
        </p:nvSpPr>
        <p:spPr>
          <a:xfrm>
            <a:off x="9066276" y="4114800"/>
            <a:ext cx="2286000" cy="457200"/>
          </a:xfrm>
          <a:prstGeom prst="roundRect">
            <a:avLst>
              <a:gd name="adj" fmla="val 20000"/>
            </a:avLst>
          </a:prstGeom>
          <a:solidFill>
            <a:srgbClr val="2E2745"/>
          </a:solidFill>
          <a:ln/>
        </p:spPr>
      </p:sp>
      <p:sp>
        <p:nvSpPr>
          <p:cNvPr id="19" name="Text 15"/>
          <p:cNvSpPr/>
          <p:nvPr/>
        </p:nvSpPr>
        <p:spPr>
          <a:xfrm>
            <a:off x="9066276" y="4114800"/>
            <a:ext cx="2286000" cy="457200"/>
          </a:xfrm>
          <a:prstGeom prst="rect">
            <a:avLst/>
          </a:prstGeom>
          <a:noFill/>
          <a:ln/>
        </p:spPr>
        <p:txBody>
          <a:bodyPr wrap="square" lIns="0" tIns="0" rIns="0" bIns="0" rtlCol="0" anchor="ctr"/>
          <a:lstStyle/>
          <a:p>
            <a:pPr algn="ctr" indent="0" marL="0">
              <a:buNone/>
            </a:pPr>
            <a:r>
              <a:rPr lang="en-US" sz="1100" dirty="0">
                <a:solidFill>
                  <a:srgbClr val="A79DBF"/>
                </a:solidFill>
                <a:latin typeface="Calibri" pitchFamily="34" charset="0"/>
                <a:ea typeface="Calibri" pitchFamily="34" charset="-122"/>
                <a:cs typeface="Calibri" pitchFamily="34" charset="-120"/>
              </a:rPr>
              <a:t>Course — coming soon</a:t>
            </a:r>
            <a:endParaRPr lang="en-US" sz="1100" dirty="0"/>
          </a:p>
        </p:txBody>
      </p:sp>
      <p:sp>
        <p:nvSpPr>
          <p:cNvPr id="20" name="Text 16"/>
          <p:cNvSpPr/>
          <p:nvPr/>
        </p:nvSpPr>
        <p:spPr>
          <a:xfrm>
            <a:off x="640080" y="5029200"/>
            <a:ext cx="10908792" cy="292608"/>
          </a:xfrm>
          <a:prstGeom prst="rect">
            <a:avLst/>
          </a:prstGeom>
          <a:noFill/>
          <a:ln/>
        </p:spPr>
        <p:txBody>
          <a:bodyPr wrap="square" lIns="0" tIns="0" rIns="0" bIns="0" rtlCol="0" anchor="ctr"/>
          <a:lstStyle/>
          <a:p>
            <a:pPr indent="0" marL="0">
              <a:buNone/>
            </a:pPr>
            <a:r>
              <a:rPr lang="en-US" sz="1250" dirty="0">
                <a:solidFill>
                  <a:srgbClr val="A79DBF"/>
                </a:solidFill>
                <a:latin typeface="Calibri" pitchFamily="34" charset="0"/>
                <a:ea typeface="Calibri" pitchFamily="34" charset="-122"/>
                <a:cs typeface="Calibri" pitchFamily="34" charset="-120"/>
              </a:rPr>
              <a:t>Written guide:   </a:t>
            </a:r>
            <a:pPr indent="0" marL="0">
              <a:buNone/>
            </a:pPr>
            <a:r>
              <a:rPr lang="en-US" sz="1250" dirty="0">
                <a:solidFill>
                  <a:srgbClr val="F5F2FA"/>
                </a:solidFill>
                <a:latin typeface="Calibri" pitchFamily="34" charset="0"/>
                <a:ea typeface="Calibri" pitchFamily="34" charset="-122"/>
                <a:cs typeface="Calibri" pitchFamily="34" charset="-120"/>
              </a:rPr>
              <a:t>github.com/Shahzain-Ali/n8n-mastery/</a:t>
            </a:r>
            <a:pPr indent="0" marL="0">
              <a:buNone/>
            </a:pPr>
            <a:r>
              <a:rPr lang="en-US" sz="1250" b="1" dirty="0">
                <a:solidFill>
                  <a:srgbClr val="EA4B71"/>
                </a:solidFill>
                <a:latin typeface="Calibri" pitchFamily="34" charset="0"/>
                <a:ea typeface="Calibri" pitchFamily="34" charset="-122"/>
                <a:cs typeface="Calibri" pitchFamily="34" charset="-120"/>
              </a:rPr>
              <a:t>[ book folder — fill in before publishing ]</a:t>
            </a:r>
            <a:endParaRPr lang="en-US" sz="1250" dirty="0"/>
          </a:p>
        </p:txBody>
      </p:sp>
      <p:sp>
        <p:nvSpPr>
          <p:cNvPr id="21" name="Text 17"/>
          <p:cNvSpPr/>
          <p:nvPr/>
        </p:nvSpPr>
        <p:spPr>
          <a:xfrm>
            <a:off x="640080" y="5358384"/>
            <a:ext cx="10908792" cy="292608"/>
          </a:xfrm>
          <a:prstGeom prst="rect">
            <a:avLst/>
          </a:prstGeom>
          <a:noFill/>
          <a:ln/>
        </p:spPr>
        <p:txBody>
          <a:bodyPr wrap="square" lIns="0" tIns="0" rIns="0" bIns="0" rtlCol="0" anchor="ctr"/>
          <a:lstStyle/>
          <a:p>
            <a:pPr indent="0" marL="0">
              <a:buNone/>
            </a:pPr>
            <a:r>
              <a:rPr lang="en-US" sz="1150" dirty="0">
                <a:solidFill>
                  <a:srgbClr val="A79DBF"/>
                </a:solidFill>
                <a:latin typeface="Calibri" pitchFamily="34" charset="0"/>
                <a:ea typeface="Calibri" pitchFamily="34" charset="-122"/>
                <a:cs typeface="Calibri" pitchFamily="34" charset="-120"/>
              </a:rPr>
              <a:t>linkedin.com/in/shahzain-ali1     ·     instagram.com/shahzainalibangash1     ·     facebook.com/shahzainalibangash1</a:t>
            </a:r>
            <a:endParaRPr lang="en-US" sz="1150" dirty="0"/>
          </a:p>
        </p:txBody>
      </p:sp>
      <p:sp>
        <p:nvSpPr>
          <p:cNvPr id="22" name="Text 18"/>
          <p:cNvSpPr/>
          <p:nvPr/>
        </p:nvSpPr>
        <p:spPr>
          <a:xfrm>
            <a:off x="640080" y="5669280"/>
            <a:ext cx="10908792" cy="274320"/>
          </a:xfrm>
          <a:prstGeom prst="rect">
            <a:avLst/>
          </a:prstGeom>
          <a:noFill/>
          <a:ln/>
        </p:spPr>
        <p:txBody>
          <a:bodyPr wrap="square" lIns="0" tIns="0" rIns="0" bIns="0" rtlCol="0" anchor="ctr"/>
          <a:lstStyle/>
          <a:p>
            <a:pPr indent="0" marL="0">
              <a:buNone/>
            </a:pPr>
            <a:r>
              <a:rPr lang="en-US" sz="1150" dirty="0">
                <a:solidFill>
                  <a:srgbClr val="A79DBF"/>
                </a:solidFill>
                <a:latin typeface="Calibri" pitchFamily="34" charset="0"/>
                <a:ea typeface="Calibri" pitchFamily="34" charset="-122"/>
                <a:cs typeface="Calibri" pitchFamily="34" charset="-120"/>
              </a:rPr>
              <a:t>Agentive Solutions   ·   SolutionsWithShahzain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Agentive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Automation vs AI Workflow vs AI Agent</dc:title>
  <dc:subject>n8n Mastery — Standalone Guide #00</dc:subject>
  <dc:creator>Agentive Solutions</dc:creator>
  <cp:lastModifiedBy>Agentive Solutions</cp:lastModifiedBy>
  <cp:revision>1</cp:revision>
  <dcterms:created xsi:type="dcterms:W3CDTF">2026-07-27T16:35:33Z</dcterms:created>
  <dcterms:modified xsi:type="dcterms:W3CDTF">2026-07-27T16:35:33Z</dcterms:modified>
</cp:coreProperties>
</file>